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1 - Phân tích và đánh giá" id="{12A06141-E7D3-4474-9D05-80EA79056189}">
          <p14:sldIdLst>
            <p14:sldId id="256"/>
            <p14:sldId id="258"/>
            <p14:sldId id="259"/>
            <p14:sldId id="260"/>
          </p14:sldIdLst>
        </p14:section>
        <p14:section name="Module 2 - Vùng và mặt nạ" id="{5E5B28B4-5E7C-464F-A609-5988E5EDBA41}">
          <p14:sldIdLst>
            <p14:sldId id="261"/>
            <p14:sldId id="262"/>
            <p14:sldId id="263"/>
            <p14:sldId id="264"/>
          </p14:sldIdLst>
        </p14:section>
        <p14:section name="Module 3 - Xử lý điểm ảnh cổ điển" id="{1BAC8DD8-A708-4BA1-A754-F2973201A05C}">
          <p14:sldIdLst>
            <p14:sldId id="265"/>
            <p14:sldId id="266"/>
            <p14:sldId id="267"/>
            <p14:sldId id="268"/>
            <p14:sldId id="269"/>
          </p14:sldIdLst>
        </p14:section>
        <p14:section name="Module 4 - Điều phối và ứng dụng" id="{B3AD7DEE-BD5E-49D5-BB51-DF85B1F0BFD7}">
          <p14:sldIdLst>
            <p14:sldId id="270"/>
            <p14:sldId id="271"/>
            <p14:sldId id="272"/>
            <p14:sldId id="273"/>
            <p14:sldId id="274"/>
            <p14:sldId id="2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5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Trước</c:v>
          </c:tx>
          <c:spPr>
            <a:solidFill>
              <a:srgbClr val="AEBAC7"/>
            </a:solidFill>
          </c:spPr>
          <c:invertIfNegative val="0"/>
          <c:dLbls>
            <c:numFmt formatCode="0.00" sourceLinked="0"/>
            <c:spPr>
              <a:noFill/>
              <a:ln>
                <a:noFill/>
              </a:ln>
              <a:effectLst/>
            </c:spPr>
            <c:txPr>
              <a:bodyPr anchorCtr="1"/>
              <a:lstStyle/>
              <a:p>
                <a:pPr>
                  <a:defRPr sz="1350">
                    <a:solidFill>
                      <a:srgbClr val="192F4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Khử nhiễu</c:v>
                </c:pt>
                <c:pt idx="1">
                  <c:v>Gamma</c:v>
                </c:pt>
                <c:pt idx="2">
                  <c:v>CLAHE</c:v>
                </c:pt>
                <c:pt idx="3">
                  <c:v>Unsharp</c:v>
                </c:pt>
              </c:strCache>
            </c:strRef>
          </c:cat>
          <c:val>
            <c:numRef>
              <c:f>'Chart Data'!$B$2:$B$5</c:f>
              <c:numCache>
                <c:formatCode>General</c:formatCode>
                <c:ptCount val="4"/>
                <c:pt idx="0">
                  <c:v>28.31</c:v>
                </c:pt>
                <c:pt idx="1">
                  <c:v>14.61</c:v>
                </c:pt>
                <c:pt idx="2">
                  <c:v>15.42</c:v>
                </c:pt>
                <c:pt idx="3">
                  <c:v>29.59</c:v>
                </c:pt>
              </c:numCache>
            </c:numRef>
          </c:val>
          <c:extLst>
            <c:ext xmlns:c16="http://schemas.microsoft.com/office/drawing/2014/chart" uri="{C3380CC4-5D6E-409C-BE32-E72D297353CC}">
              <c16:uniqueId val="{00000000-5306-4C43-8DE9-DB63DA8419B1}"/>
            </c:ext>
          </c:extLst>
        </c:ser>
        <c:ser>
          <c:idx val="1"/>
          <c:order val="1"/>
          <c:tx>
            <c:v>Sau</c:v>
          </c:tx>
          <c:spPr>
            <a:solidFill>
              <a:srgbClr val="267C83"/>
            </a:solidFill>
          </c:spPr>
          <c:invertIfNegative val="0"/>
          <c:dLbls>
            <c:numFmt formatCode="0.00" sourceLinked="0"/>
            <c:spPr>
              <a:noFill/>
              <a:ln>
                <a:noFill/>
              </a:ln>
              <a:effectLst/>
            </c:spPr>
            <c:txPr>
              <a:bodyPr anchorCtr="1"/>
              <a:lstStyle/>
              <a:p>
                <a:pPr>
                  <a:defRPr sz="1350">
                    <a:solidFill>
                      <a:srgbClr val="192F4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Khử nhiễu</c:v>
                </c:pt>
                <c:pt idx="1">
                  <c:v>Gamma</c:v>
                </c:pt>
                <c:pt idx="2">
                  <c:v>CLAHE</c:v>
                </c:pt>
                <c:pt idx="3">
                  <c:v>Unsharp</c:v>
                </c:pt>
              </c:strCache>
            </c:strRef>
          </c:cat>
          <c:val>
            <c:numRef>
              <c:f>'Chart Data'!$D$2:$D$5</c:f>
              <c:numCache>
                <c:formatCode>General</c:formatCode>
                <c:ptCount val="4"/>
                <c:pt idx="0">
                  <c:v>34.409999999999997</c:v>
                </c:pt>
                <c:pt idx="1">
                  <c:v>44.69</c:v>
                </c:pt>
                <c:pt idx="2">
                  <c:v>16.32</c:v>
                </c:pt>
                <c:pt idx="3">
                  <c:v>30.5</c:v>
                </c:pt>
              </c:numCache>
            </c:numRef>
          </c:val>
          <c:extLst>
            <c:ext xmlns:c16="http://schemas.microsoft.com/office/drawing/2014/chart" uri="{C3380CC4-5D6E-409C-BE32-E72D297353CC}">
              <c16:uniqueId val="{00000001-5306-4C43-8DE9-DB63DA8419B1}"/>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EBAC7"/>
            </a:solidFill>
          </a:ln>
        </c:spPr>
        <c:txPr>
          <a:bodyPr anchorCtr="1"/>
          <a:lstStyle/>
          <a:p>
            <a:pPr>
              <a:defRPr sz="165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0"/>
        </c:scaling>
        <c:delete val="0"/>
        <c:axPos val="l"/>
        <c:majorGridlines>
          <c:spPr>
            <a:ln w="9525">
              <a:solidFill>
                <a:srgbClr val="E4E9EC"/>
              </a:solidFill>
            </a:ln>
          </c:spPr>
        </c:majorGridlines>
        <c:title>
          <c:tx>
            <c:rich>
              <a:bodyPr/>
              <a:lstStyle/>
              <a:p>
                <a:r>
                  <a:rPr sz="1575">
                    <a:latin typeface="Arial"/>
                    <a:ea typeface="Arial"/>
                    <a:cs typeface="Arial"/>
                  </a:rPr>
                  <a:t>PSNR (dB)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Arial"/>
                <a:ea typeface="Arial"/>
                <a:cs typeface="Arial"/>
              </a:defRPr>
            </a:pPr>
            <a:endParaRPr lang="en-US"/>
          </a:p>
        </c:txPr>
        <c:crossAx val="48650112"/>
        <c:crosses val="autoZero"/>
        <c:crossBetween val="between"/>
        <c:majorUnit val="10"/>
      </c:valAx>
    </c:plotArea>
    <c:legend>
      <c:legendPos val="t"/>
      <c:overlay val="0"/>
      <c:txPr>
        <a:bodyPr anchorCtr="1"/>
        <a:lstStyle/>
        <a:p>
          <a:pPr>
            <a:defRPr sz="165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V1</c:v>
          </c:tx>
          <c:spPr>
            <a:solidFill>
              <a:srgbClr val="AEBAC7"/>
            </a:solidFill>
          </c:spPr>
          <c:invertIfNegative val="0"/>
          <c:dLbls>
            <c:numFmt formatCode="0" sourceLinked="0"/>
            <c:spPr>
              <a:noFill/>
              <a:ln>
                <a:noFill/>
              </a:ln>
              <a:effectLst/>
            </c:spPr>
            <c:txPr>
              <a:bodyPr anchorCtr="1"/>
              <a:lstStyle/>
              <a:p>
                <a:pPr>
                  <a:defRPr sz="1425">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Mặt đã sáng</c:v>
                </c:pt>
                <c:pt idx="1">
                  <c:v>Mặt tối</c:v>
                </c:pt>
                <c:pt idx="2">
                  <c:v>Ảnh nhiễu</c:v>
                </c:pt>
                <c:pt idx="3">
                  <c:v>Ảnh tốt</c:v>
                </c:pt>
              </c:strCache>
            </c:strRef>
          </c:cat>
          <c:val>
            <c:numRef>
              <c:f>'Chart Data'!$B$2:$B$5</c:f>
              <c:numCache>
                <c:formatCode>General</c:formatCode>
                <c:ptCount val="4"/>
                <c:pt idx="0">
                  <c:v>3</c:v>
                </c:pt>
                <c:pt idx="1">
                  <c:v>0</c:v>
                </c:pt>
                <c:pt idx="2">
                  <c:v>1</c:v>
                </c:pt>
                <c:pt idx="3">
                  <c:v>0</c:v>
                </c:pt>
              </c:numCache>
            </c:numRef>
          </c:val>
          <c:extLst>
            <c:ext xmlns:c16="http://schemas.microsoft.com/office/drawing/2014/chart" uri="{C3380CC4-5D6E-409C-BE32-E72D297353CC}">
              <c16:uniqueId val="{00000000-21D2-4637-A338-7A998369C212}"/>
            </c:ext>
          </c:extLst>
        </c:ser>
        <c:ser>
          <c:idx val="1"/>
          <c:order val="1"/>
          <c:tx>
            <c:v>V2</c:v>
          </c:tx>
          <c:spPr>
            <a:solidFill>
              <a:srgbClr val="267C83"/>
            </a:solidFill>
          </c:spPr>
          <c:invertIfNegative val="0"/>
          <c:dLbls>
            <c:numFmt formatCode="0" sourceLinked="0"/>
            <c:spPr>
              <a:noFill/>
              <a:ln>
                <a:noFill/>
              </a:ln>
              <a:effectLst/>
            </c:spPr>
            <c:txPr>
              <a:bodyPr anchorCtr="1"/>
              <a:lstStyle/>
              <a:p>
                <a:pPr>
                  <a:defRPr sz="1425">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Mặt đã sáng</c:v>
                </c:pt>
                <c:pt idx="1">
                  <c:v>Mặt tối</c:v>
                </c:pt>
                <c:pt idx="2">
                  <c:v>Ảnh nhiễu</c:v>
                </c:pt>
                <c:pt idx="3">
                  <c:v>Ảnh tốt</c:v>
                </c:pt>
              </c:strCache>
            </c:strRef>
          </c:cat>
          <c:val>
            <c:numRef>
              <c:f>'Chart Data'!$D$2:$D$5</c:f>
              <c:numCache>
                <c:formatCode>General</c:formatCode>
                <c:ptCount val="4"/>
                <c:pt idx="0">
                  <c:v>1</c:v>
                </c:pt>
                <c:pt idx="1">
                  <c:v>0</c:v>
                </c:pt>
                <c:pt idx="2">
                  <c:v>3</c:v>
                </c:pt>
                <c:pt idx="3">
                  <c:v>0</c:v>
                </c:pt>
              </c:numCache>
            </c:numRef>
          </c:val>
          <c:extLst>
            <c:ext xmlns:c16="http://schemas.microsoft.com/office/drawing/2014/chart" uri="{C3380CC4-5D6E-409C-BE32-E72D297353CC}">
              <c16:uniqueId val="{00000001-21D2-4637-A338-7A998369C212}"/>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EBAC7"/>
            </a:solidFill>
          </a:ln>
        </c:spPr>
        <c:txPr>
          <a:bodyPr anchorCtr="1"/>
          <a:lstStyle/>
          <a:p>
            <a:pPr>
              <a:defRPr sz="1575">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3.7"/>
          <c:min val="0"/>
        </c:scaling>
        <c:delete val="0"/>
        <c:axPos val="l"/>
        <c:majorGridlines>
          <c:spPr>
            <a:ln w="9525">
              <a:solidFill>
                <a:srgbClr val="E4E9EC"/>
              </a:solidFill>
            </a:ln>
          </c:spPr>
        </c:majorGridlines>
        <c:title>
          <c:tx>
            <c:rich>
              <a:bodyPr/>
              <a:lstStyle/>
              <a:p>
                <a:r>
                  <a:rPr sz="1500">
                    <a:latin typeface="Arial"/>
                    <a:ea typeface="Arial"/>
                    <a:cs typeface="Arial"/>
                  </a:rPr>
                  <a:t>Số lượt có chỉnh / 3</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Arial"/>
                <a:ea typeface="Arial"/>
                <a:cs typeface="Arial"/>
              </a:defRPr>
            </a:pPr>
            <a:endParaRPr lang="en-US"/>
          </a:p>
        </c:txPr>
        <c:crossAx val="48650112"/>
        <c:crosses val="autoZero"/>
        <c:crossBetween val="between"/>
        <c:majorUnit val="1"/>
      </c:valAx>
    </c:plotArea>
    <c:legend>
      <c:legendPos val="t"/>
      <c:overlay val="0"/>
      <c:txPr>
        <a:bodyPr anchorCtr="1"/>
        <a:lstStyle/>
        <a:p>
          <a:pPr>
            <a:defRPr sz="165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1, Module 1 (Phân tích và đánh giá). Họ tên điền ở slide 2.</a:t>
            </a:r>
          </a:p>
          <a:p>
            <a:r>
              <a:t>Thời lượng gợi ý: 20 giây. Mốc 0:00 đến 0:20.</a:t>
            </a:r>
          </a:p>
          <a:p>
            <a:endParaRPr/>
          </a:p>
          <a:p>
            <a:r>
              <a:t>Thành viên 1 mở đầu: Kính chào thầy và các bạn. Nhóm trình bày AI Image Doctor, hệ thống dùng VLM để suy luận cách sửa và thuật toán cổ điển để thay đổi điểm ảnh. Bốn thành viên trình bày liên tiếp theo bốn module.</a:t>
            </a:r>
          </a:p>
          <a:p>
            <a:endParaRPr/>
          </a:p>
          <a:p>
            <a:r>
              <a:t>Nguồn: Bìa đã thống nhất trong báo cáo, README.md.</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1, Module 1 (Phân tích và đánh giá). Họ tên điền ở slide 2.</a:t>
            </a:r>
          </a:p>
          <a:p>
            <a:r>
              <a:t>Thời lượng gợi ý: 50 giây. Mốc 1:00 đến 1:50.</a:t>
            </a:r>
          </a:p>
          <a:p>
            <a:endParaRPr/>
          </a:p>
          <a:p>
            <a:r>
              <a:t>Nêu ảnh tổng hợp có ảnh sạch làm mốc, còn ảnh thật không có ground truth đúng tuyệt đối. Bảy suy giảm chính gồm Gaussian, muối tiêu, motion, defocus, gamma làm tối và tăng sáng, tương phản thấp. Đường web kiểm tra JPEG/PNG/WEBP, hướng EXIF, alpha nền trắng và RGB uint8. Không tiền lọc cố định trước khi đo vì có thể che dấu lỗi. Skew chưa có trong bộ sinh chính.</a:t>
            </a:r>
          </a:p>
          <a:p>
            <a:endParaRPr/>
          </a:p>
          <a:p>
            <a:r>
              <a:t>Nguồn: data/generate_synthetic_benchmark.py; src/api/storage.py; ảnh skimage.data.astronaut trong báo cáo.</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1, Module 1 (Phân tích và đánh giá). Họ tên điền ở slide 2.</a:t>
            </a:r>
          </a:p>
          <a:p>
            <a:r>
              <a:t>Thời lượng gợi ý: 55 giây. Mốc 1:50 đến 2:45.</a:t>
            </a:r>
          </a:p>
          <a:p>
            <a:endParaRPr/>
          </a:p>
          <a:p>
            <a:r>
              <a:t>Giải thích phân tích là đo ảnh hiện tại, chưa đồng nghĩa chấp nhận kết quả. Measurement làm việc toàn ảnh và trên tile 64 pixel. Calibration ánh xạ số liên tục thành mức không lỗi, nhẹ, vừa, nặng. Vùng có nhiều texture có thể giống nhiễu và bokeh có thể giống mờ nên kết quả cần phối hợp VLM. Bảng calibration p2-20261026 ghi 150 ảnh từ năm nguồn, không phải tập kiểm định độc lập hoặc dữ liệu huấn luyện lại Gemini.</a:t>
            </a:r>
          </a:p>
          <a:p>
            <a:endParaRPr/>
          </a:p>
          <a:p>
            <a:r>
              <a:t>Nguồn: src/analyzer_evaluator/analyzer.py; measurement/; measurement/calibration.yaml.</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1, Module 1 (Phân tích và đánh giá). Họ tên điền ở slide 2.</a:t>
            </a:r>
          </a:p>
          <a:p>
            <a:r>
              <a:t>Thời lượng gợi ý: 45 giây. Mốc 2:45 đến 3:30.</a:t>
            </a:r>
          </a:p>
          <a:p>
            <a:endParaRPr/>
          </a:p>
          <a:p>
            <a:r>
              <a:t>Phân biệt hai đường đánh giá. Synthetic chỉ dùng tham chiếu khi đã đánh dấu và có ảnh chuẩn. Ảnh thật dùng heuristic và các đại lượng bổ trợ, không lấy ảnh trước chỉnh hoặc baseline làm ground truth. Điểm toàn ảnh có thể mâu thuẫn với chỉnh mặt cục bộ đúng ý. Module 1 trả số đo và đánh giá, chưa tự tạo phác đồ hoặc tự quyết dừng.</a:t>
            </a:r>
          </a:p>
          <a:p>
            <a:endParaRPr/>
          </a:p>
          <a:p>
            <a:r>
              <a:t>Lời chuyển cho thành viên tiếp theo:</a:t>
            </a:r>
          </a:p>
          <a:p>
            <a:r>
              <a:t>“Module 1 cho biết ảnh có lỗi gì và thay đổi ra sao. Để sửa đúng chỗ, chúng ta cần xác định vùng tác động. Tôi xin chuyển sang thành viên phụ trách Module 2.”</a:t>
            </a:r>
          </a:p>
          <a:p>
            <a:endParaRPr/>
          </a:p>
          <a:p>
            <a:r>
              <a:t>Nguồn: src/analyzer_evaluator/reference_eval.py; no_reference_eval.py; src/agent/graph.py.</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2, Module 2 (Vùng và mặt nạ). Họ tên điền ở slide 2.</a:t>
            </a:r>
          </a:p>
          <a:p>
            <a:r>
              <a:t>Thời lượng gợi ý: 35 giây. Mốc 3:30 đến 4:05.</a:t>
            </a:r>
          </a:p>
          <a:p>
            <a:endParaRPr/>
          </a:p>
          <a:p>
            <a:r>
              <a:t>Mở phần: Cảm ơn phần phân tích. Module 2 trả lời câu hỏi sửa ở đâu. Nhận ảnh và yêu cầu vùng do điều phối đưa vào, có thể kèm hộp bao của chủ thể. Đầu ra là mask float32 từ không đến một, shape H W hoặc H W 1. Phân biệt chọn nửa trên hoặc trung tâm theo hình học với nhận dạng đúng đối tượng ngữ nghĩa.</a:t>
            </a:r>
          </a:p>
          <a:p>
            <a:endParaRPr/>
          </a:p>
          <a:p>
            <a:r>
              <a:t>Nguồn: src/region_engine/controller.py; spatial.py; subject.py; docs/interfaces.md.</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2, Module 2 (Vùng và mặt nạ). Họ tên điền ở slide 2.</a:t>
            </a:r>
          </a:p>
          <a:p>
            <a:r>
              <a:t>Thời lượng gợi ý: 60 giây. Mốc 4:05 đến 5:05.</a:t>
            </a:r>
          </a:p>
          <a:p>
            <a:endParaRPr/>
          </a:p>
          <a:p>
            <a:r>
              <a:t>Có ba đường đi tiêu biểu. MediaPipe phát hiện mặt, Landmarker tạo oval nếu model đã sẵn. Với semantic assets local, GroundingDINO tìm hộp phù hợp đối tượng, MobileSAM tạo mask. Nếu có bbox từ Gemini nhưng thiếu model semantic, GrabCut là đường dự phòng. Những model này chỉ giúp định vị, không sinh điểm ảnh phục chế. Không khẳng định mọi máy đều chạy SAM hoặc mọi vùng đều định vị thành công.</a:t>
            </a:r>
          </a:p>
          <a:p>
            <a:endParaRPr/>
          </a:p>
          <a:p>
            <a:r>
              <a:t>Nguồn: src/region_engine/face_detector.py; face_landmarker.py; segmentation_backend.py; subject.py.</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2, Module 2 (Vùng và mặt nạ). Họ tên điền ở slide 2.</a:t>
            </a:r>
          </a:p>
          <a:p>
            <a:r>
              <a:t>Thời lượng gợi ý: 60 giây. Mốc 5:05 đến 6:05.</a:t>
            </a:r>
          </a:p>
          <a:p>
            <a:endParaRPr/>
          </a:p>
          <a:p>
            <a:r>
              <a:t>Dùng hình để giải thích mask trắng, đen và miền trung gian. Gaussian feathering làm chuyển tiếp mềm ở biên, tránh ghép cứng giữa vùng chỉnh và vùng giữ. Ảnh thứ ba là overlay minh họa và ảnh thứ tư là kết quả gamma cục bộ. Đây là ROI oval vẽ tay cho dễ hiểu, không trình bày như output nhận diện thực tế. Phần tạo mask thuộc Module 2, còn base.apply_region_op của Module 3 áp thuật toán và blend.</a:t>
            </a:r>
          </a:p>
          <a:p>
            <a:endParaRPr/>
          </a:p>
          <a:p>
            <a:r>
              <a:t>Nguồn: src/region_engine/mask_utils.py; src/processing_engine/base.py; hình mask từ báo cáo.</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2, Module 2 (Vùng và mặt nạ). Họ tên điền ở slide 2.</a:t>
            </a:r>
          </a:p>
          <a:p>
            <a:r>
              <a:t>Thời lượng gợi ý: 55 giây. Mốc 6:05 đến 7:00.</a:t>
            </a:r>
          </a:p>
          <a:p>
            <a:endParaRPr/>
          </a:p>
          <a:p>
            <a:r>
              <a:t>So sánh nâng sáng toàn ảnh với chỉ nâng mặt. Mask là cơ chế bảo toàn nền nhưng chất lượng phụ thuộc vùng chọn. Executor kiểm tra tính hợp lệ, diện tích, vị trí và độ phân mảnh của mask mặt. Nếu SAM hoặc oval không đạt có thể dùng bbox với cường độ giảm 0,5, chưa hiệu chỉnh đầy đủ. Nếu không tìm được vùng hoặc mask không hợp lệ thì bỏ qua và ghi lý do, không sửa nhầm toàn ảnh.</a:t>
            </a:r>
          </a:p>
          <a:p>
            <a:endParaRPr/>
          </a:p>
          <a:p>
            <a:r>
              <a:t>Lời chuyển cho thành viên tiếp theo:</a:t>
            </a:r>
          </a:p>
          <a:p>
            <a:r>
              <a:t>“Sau khi có mask hợp lệ, hệ thống đã biết phần nào cần thay đổi và phần nào cần giữ. Thành viên phụ trách Module 3 sẽ trình bày các thuật toán tạo ra thay đổi đó.”</a:t>
            </a:r>
          </a:p>
          <a:p>
            <a:endParaRPr/>
          </a:p>
          <a:p>
            <a:r>
              <a:t>Nguồn: src/agent/executor.py; src/region_engine/subject.py; hình local_global báo cáo.</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3, Module 3 (Xử lý điểm ảnh cổ điển). Họ tên điền ở slide 2.</a:t>
            </a:r>
          </a:p>
          <a:p>
            <a:r>
              <a:t>Thời lượng gợi ý: 30 giây. Mốc 7:00 đến 7:30.</a:t>
            </a:r>
          </a:p>
          <a:p>
            <a:endParaRPr/>
          </a:p>
          <a:p>
            <a:r>
              <a:t>Mở phần: Từ mask của Module 2, tôi chuyển sang cách thay đổi điểm ảnh. Engine nhận ảnh, mask và tham số rồi trả ảnh cùng kích thước và kiểu. Năm công cụ đã nối vào agent là khử nhiễu, gamma, CLAHE, sharpen và color. Planner ở Module 4 đặt thứ tự, không phải mỗi hàm tự chọn khi nào nó chạy. Mọi thay đổi pixel dùng thuật toán cổ điển.</a:t>
            </a:r>
          </a:p>
          <a:p>
            <a:endParaRPr/>
          </a:p>
          <a:p>
            <a:r>
              <a:t>Nguồn: src/processing_engine/__init__.py; base.py; src/agent/planner.py.</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3, Module 3 (Xử lý điểm ảnh cổ điển). Họ tên điền ở slide 2.</a:t>
            </a:r>
          </a:p>
          <a:p>
            <a:r>
              <a:t>Thời lượng gợi ý: 55 giây. Mốc 7:30 đến 8:25.</a:t>
            </a:r>
          </a:p>
          <a:p>
            <a:endParaRPr/>
          </a:p>
          <a:p>
            <a:r>
              <a:t>Chỉ vào crop cùng tọa độ. Gaussian đơn giản nhưng làm mềm biên, Median phù hợp muối tiêu. Bilateral giảm trọng số qua biên màu nên giữ cạnh. NLM lấy trung bình các patch tương tự, patch 7 và vùng tìm 21, h bằng 0,8 sigma mục tiêu. Trong ví dụ cường độ mạnh, NLM làm mịn đáng kể. Vì vậy không chọn thuật toán chỉ dựa vào việc ít hạt hơn. Đây là minh họa với tham số cố định, chưa phải VLM tự chọn.</a:t>
            </a:r>
          </a:p>
          <a:p>
            <a:endParaRPr/>
          </a:p>
          <a:p>
            <a:r>
              <a:t>Nguồn: src/processing_engine/denoise.py; hình denoise của báo cáo.</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3, Module 3 (Xử lý điểm ảnh cổ điển). Họ tên điền ở slide 2.</a:t>
            </a:r>
          </a:p>
          <a:p>
            <a:r>
              <a:t>Thời lượng gợi ý: 55 giây. Mốc 8:25 đến 9:20.</a:t>
            </a:r>
          </a:p>
          <a:p>
            <a:endParaRPr/>
          </a:p>
          <a:p>
            <a:r>
              <a:t>Gamma trong dự án dùng số mũ nghịch đảo. Gamma trên một làm sáng và LUT 256 phần tử giúp xử lý nhanh. CLAHE cân bằng histogram theo vùng có giới hạn khuếch đại. Với RGB, chỉ xử lý L trong LAB rồi giữ a và b. Clip mặc định hai, lưới 8×8. Cả hai có thể lộ nhiễu khi đẩy mạnh và không cứu được vùng đã đồng loạt bằng 255.</a:t>
            </a:r>
          </a:p>
          <a:p>
            <a:endParaRPr/>
          </a:p>
          <a:p>
            <a:r>
              <a:t>Nguồn: src/processing_engine/exposure_contrast.py; hình gamma và clahe trong báo cáo.</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3, Module 3 (Xử lý điểm ảnh cổ điển). Họ tên điền ở slide 2.</a:t>
            </a:r>
          </a:p>
          <a:p>
            <a:r>
              <a:t>Thời lượng gợi ý: 40 giây. Mốc 9:20 đến 10:00.</a:t>
            </a:r>
          </a:p>
          <a:p>
            <a:endParaRPr/>
          </a:p>
          <a:p>
            <a:r>
              <a:t>Unsharp cộng phần chi tiết giữa ảnh và bản làm mờ, sigma Gaussian hai pixel. Laplacian là phương án kernel 3×3 tổng hệ số một. Chúng tăng cạnh nhưng không đảo ngược mờ nặng. Công cụ màu nhân saturation trong HSV và gain đỏ lam, giữ kênh lục. Vì vậy đây không phải ước lượng Kelvin hoặc sửa mọi loại ám màu. Gray World và White Patch chưa nối vào toolbox agent.</a:t>
            </a:r>
          </a:p>
          <a:p>
            <a:endParaRPr/>
          </a:p>
          <a:p>
            <a:r>
              <a:t>Nguồn: src/processing_engine/sharpen.py; color.py; hình sharpen và color từ báo cáo.</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3, Module 3 (Xử lý điểm ảnh cổ điển). Họ tên điền ở slide 2.</a:t>
            </a:r>
          </a:p>
          <a:p>
            <a:r>
              <a:t>Thời lượng gợi ý: 30 giây. Mốc 10:00 đến 10:30.</a:t>
            </a:r>
          </a:p>
          <a:p>
            <a:endParaRPr/>
          </a:p>
          <a:p>
            <a:r>
              <a:t>Các số trung bình trên bốn ảnh scikit-image cho thấy công cụ phù hợp có thể cải thiện PSNR. Gamma tăng nhiều vì gần nghịch đảo phép tạo tối biết trước, sharpen cải thiện ít hơn. Đây là quét tham số có ground truth, chưa chứng minh tác tử tự chọn đúng. Không đọc điểm thành phần thành tỷ lệ thành công hệ thống.</a:t>
            </a:r>
          </a:p>
          <a:p>
            <a:endParaRPr/>
          </a:p>
          <a:p>
            <a:r>
              <a:t>Lời chuyển cho thành viên tiếp theo:</a:t>
            </a:r>
          </a:p>
          <a:p>
            <a:r>
              <a:t>“Module 3 đã cung cấp các công cụ và kết quả khi chọn tham số phù hợp. Tiếp theo, thành viên phụ trách Module 4 sẽ giải thích ai chọn công cụ, khi nào lặp và khi nào dừng.”</a:t>
            </a:r>
          </a:p>
          <a:p>
            <a:endParaRPr/>
          </a:p>
          <a:p>
            <a:r>
              <a:t>Nguồn: docs/module3/benchmark/denoise.md; exposure.md; sharpen.md.</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4, Module 4 (Điều phối và ứng dụng). Họ tên điền ở slide 2.</a:t>
            </a:r>
          </a:p>
          <a:p>
            <a:r>
              <a:t>Thời lượng gợi ý: 60 giây. Mốc 10:30 đến 11:30.</a:t>
            </a:r>
          </a:p>
          <a:p>
            <a:endParaRPr/>
          </a:p>
          <a:p>
            <a:r>
              <a:t>Mở phần: Sau khi đã có số đo, mask và thuật toán, Module 4 ghép chúng thành một quy trình có trạng thái. Đi theo sơ đồ hình chữ S. M1 đo ở Analyze và Evaluate. VLM chẩn đoán, hỏi ý nếu tương tác, rồi lập kế hoạch. Process gọi M2 và M3. Decide chọn tiếp tục hoặc dừng, sau đó review và finalize. Original giữ mốc xuyên suốt, previous là ảnh trước vòng để rollback. Các module được gọi lại theo vòng, không chạy tuyến tính một lần theo thứ tự thuyết trình.</a:t>
            </a:r>
          </a:p>
          <a:p>
            <a:endParaRPr/>
          </a:p>
          <a:p>
            <a:r>
              <a:t>Nguồn: src/agent/graph.py build_doctor_graph; state.py DoctorState.</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4, Module 4 (Điều phối và ứng dụng). Họ tên điền ở slide 2.</a:t>
            </a:r>
          </a:p>
          <a:p>
            <a:r>
              <a:t>Thời lượng gợi ý: 40 giây. Mốc 11:30 đến 12:10.</a:t>
            </a:r>
          </a:p>
          <a:p>
            <a:endParaRPr/>
          </a:p>
          <a:p>
            <a:r>
              <a:t>Tóm lược hai bước suy luận. Perceive nhận full frame, crop và số đo, phân biệt lỗi với chủ ý, fusion và verify khi mâu thuẫn. Plan nhận tri thức YAML và nguyên lý qua BM25, ý định và lịch sử để trả JSON. Mã tắt automatic function calling, validator mới dispatch sau khi kẹp tham số. Khi thiếu khóa hoặc lỗi gọi dùng rule-based và đánh dấu source, không coi mọi lượt là Gemini thật.</a:t>
            </a:r>
          </a:p>
          <a:p>
            <a:endParaRPr/>
          </a:p>
          <a:p>
            <a:r>
              <a:t>Nguồn: src/agent/perception.py; fusion.py; vlm_diagnostician.py; planner.py; knowledge/.</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4, Module 4 (Điều phối và ứng dụng). Họ tên điền ở slide 2.</a:t>
            </a:r>
          </a:p>
          <a:p>
            <a:r>
              <a:t>Thời lượng gợi ý: 35 giây. Mốc 12:10 đến 12:45.</a:t>
            </a:r>
          </a:p>
          <a:p>
            <a:endParaRPr/>
          </a:p>
          <a:p>
            <a:r>
              <a:t>Đây là ba trường hợp độc lập. Suy thoái hoặc reviewer từ chối thì hoàn tác. Còn lỗi có tiến triển và còn lượt thì quay lại. Hết lượt hoặc đủ điều kiện thì dừng. Giới hạn mặc định ba, ảnh tổng hợp dùng cả PSNR 28 dB và SSIM 0,88. Finalize chỉ giữ SHIP khi outcome ACCEPTED. Không có khóa hoặc review lỗi, ảnh đã chỉnh là UNVERIFIED.</a:t>
            </a:r>
          </a:p>
          <a:p>
            <a:endParaRPr/>
          </a:p>
          <a:p>
            <a:r>
              <a:t>Nguồn: src/agent/graph.py decide_node và finalize_node; review.py derive_outcome.</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4, Module 4 (Điều phối và ứng dụng). Họ tên điền ở slide 2.</a:t>
            </a:r>
          </a:p>
          <a:p>
            <a:r>
              <a:t>Thời lượng gợi ý: 30 giây. Mốc 12:45 đến 13:15.</a:t>
            </a:r>
          </a:p>
          <a:p>
            <a:endParaRPr/>
          </a:p>
          <a:p>
            <a:r>
              <a:t>Web React qua FastAPI có tài khoản, ảnh, phiên và lịch sử, Gradio là demo gọi trực tiếp. Clarify ghi ý định trong phiên tương tác. Sau góp ý, refine sửa phác đồ rồi render lại từ ảnh gốc, không tự chạy lại toàn graph và reviewer. Case memory chỉ truy xuất kinh nghiệm theo người dùng, không cập nhật trọng số mô hình.</a:t>
            </a:r>
          </a:p>
          <a:p>
            <a:endParaRPr/>
          </a:p>
          <a:p>
            <a:r>
              <a:t>Nguồn: src/api/; src/agent/session.py; intent.py; refine.py; memory.py; web/README.md.</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4, Module 4 (Điều phối và ứng dụng). Họ tên điền ở slide 2.</a:t>
            </a:r>
          </a:p>
          <a:p>
            <a:r>
              <a:t>Thời lượng gợi ý: 30 giây. Mốc 13:15 đến 13:45.</a:t>
            </a:r>
          </a:p>
          <a:p>
            <a:endParaRPr/>
          </a:p>
          <a:p>
            <a:r>
              <a:t>Phân biệt với benchmark của Module 3. Đây là pilot pipeline 24 lượt trên bốn ảnh độc lập. V2 khử nhiễu ổn định hơn ở ca này nhưng cả hai chưa xử lý được mặt tối. Giữ nguyên ảnh tốt là phù hợp. Các lời gọi và nhãn preserve có thể chặn thao tác trước cả engine. Chưa đủ bằng chứng đổi mặc định hoặc công bố tỷ lệ phục hồi chung.</a:t>
            </a:r>
          </a:p>
          <a:p>
            <a:endParaRPr/>
          </a:p>
          <a:p>
            <a:r>
              <a:t>Nguồn: docs/reports/2026-10-29-prompt-ab.md; 2026-10-29-prompt-ab-basic.md.</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trình bày: Thành viên 4, Module 4 (Điều phối và ứng dụng). Họ tên điền ở slide 2.</a:t>
            </a:r>
          </a:p>
          <a:p>
            <a:r>
              <a:t>Thời lượng gợi ý: 15 giây. Mốc 13:45 đến 14:00.</a:t>
            </a:r>
          </a:p>
          <a:p>
            <a:endParaRPr/>
          </a:p>
          <a:p>
            <a:r>
              <a:t>Kết luận trong một câu: bốn module tạo thành vòng xử lý có thể truy vết, nhưng chất lượng trên ảnh thật còn cần kiểm định độc lập. Mời thầy và các bạn đặt câu hỏi. Gợi ý phân luồng: chỉ số và dữ liệu cho thành viên 1, mask cho thành viên 2, thuật toán cho thành viên 3, VLM và API cho thành viên 4.</a:t>
            </a:r>
          </a:p>
          <a:p>
            <a:endParaRPr/>
          </a:p>
          <a:p>
            <a:r>
              <a:t>Nguồn: README.md; docs/decisions.md; báo cáo mục kết quả và giới hạn.</a:t>
            </a:r>
          </a:p>
          <a:p>
            <a:r>
              <a:t>Snapshot fe454451. Báo cáo bao_cao_AI_Image_Doctor_minh_hoa.docx.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E996CBA-FCD2-476B-87A2-FCD9A9A5415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ADF6024-126B-43AF-BB99-D9616745475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BE7F86A-4499-4B82-BBA7-54444234FE5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1E3CE70-5560-47A1-8430-D1BB462F026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C6530CB-C2E4-4340-B1E2-0630E2F6026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C6D8955-9859-4253-B7B1-0AEFB02AE0C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C59467E-5D05-4E13-A636-A6A7781DF58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891F85B-A7AD-414F-B1CE-D01F93CE510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3B1EFAC-FBD4-46CA-88C1-BE81DECE6E2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9DD75B0-A900-417D-8C8F-F40C0322BDD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94C37C-6E74-4FF9-B264-B14BE717AA8D}"/>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01</a:t>
            </a:r>
          </a:p>
        </p:txBody>
      </p:sp>
      <p:pic>
        <p:nvPicPr>
          <p:cNvPr id="2" name="Picture 1">
            <a:extLst>
              <a:ext uri="{FF2B5EF4-FFF2-40B4-BE49-F238E27FC236}">
                <a16:creationId xmlns:a16="http://schemas.microsoft.com/office/drawing/2014/main" id="{DA26A93C-8663-4564-9258-709E44418F8C}"/>
              </a:ext>
            </a:extLst>
          </p:cNvPr>
          <p:cNvPicPr>
            <a:picLocks noChangeAspect="1"/>
          </p:cNvPicPr>
          <p:nvPr/>
        </p:nvPicPr>
        <p:blipFill>
          <a:blip r:embed="rId3"/>
          <a:stretch/>
        </p:blipFill>
        <p:spPr>
          <a:xfrm>
            <a:off x="10039350" y="720993"/>
            <a:ext cx="1181100" cy="1196439"/>
          </a:xfrm>
          <a:prstGeom prst="rect">
            <a:avLst/>
          </a:prstGeom>
        </p:spPr>
      </p:pic>
      <p:sp>
        <p:nvSpPr>
          <p:cNvPr id="3" name="Rectangle 2">
            <a:extLst>
              <a:ext uri="{FF2B5EF4-FFF2-40B4-BE49-F238E27FC236}">
                <a16:creationId xmlns:a16="http://schemas.microsoft.com/office/drawing/2014/main" id="{906249A9-182B-4D34-B3F0-55D0B0FCC7C0}"/>
              </a:ext>
            </a:extLst>
          </p:cNvPr>
          <p:cNvSpPr>
            <a:spLocks noGrp="1"/>
          </p:cNvSpPr>
          <p:nvPr/>
        </p:nvSpPr>
        <p:spPr>
          <a:xfrm>
            <a:off x="609600" y="619125"/>
            <a:ext cx="8096250" cy="762000"/>
          </a:xfrm>
          <a:prstGeom prst="rect">
            <a:avLst/>
          </a:prstGeom>
          <a:noFill/>
          <a:ln w="0">
            <a:noFill/>
          </a:ln>
        </p:spPr>
        <p:txBody>
          <a:bodyPr wrap="square" lIns="0" tIns="0" rIns="0" bIns="0" anchor="t">
            <a:noAutofit/>
          </a:bodyPr>
          <a:lstStyle>
            <a:defPPr algn="l">
              <a:defRPr sz="1800" b="1">
                <a:solidFill>
                  <a:srgbClr val="192F43"/>
                </a:solidFill>
                <a:latin typeface="Arial"/>
                <a:ea typeface="Arial"/>
                <a:cs typeface="Arial"/>
              </a:defRPr>
            </a:defPPr>
            <a:lvl1pPr algn="l">
              <a:defRPr sz="1800" b="1">
                <a:solidFill>
                  <a:srgbClr val="192F43"/>
                </a:solidFill>
                <a:latin typeface="Arial"/>
                <a:ea typeface="Arial"/>
                <a:cs typeface="Arial"/>
              </a:defRPr>
            </a:lvl1pPr>
            <a:lvl2pPr algn="l">
              <a:defRPr sz="1800" b="1">
                <a:solidFill>
                  <a:srgbClr val="192F43"/>
                </a:solidFill>
                <a:latin typeface="Arial"/>
                <a:ea typeface="Arial"/>
                <a:cs typeface="Arial"/>
              </a:defRPr>
            </a:lvl2pPr>
            <a:lvl3pPr algn="l">
              <a:defRPr sz="1800" b="1">
                <a:solidFill>
                  <a:srgbClr val="192F43"/>
                </a:solidFill>
                <a:latin typeface="Arial"/>
                <a:ea typeface="Arial"/>
                <a:cs typeface="Arial"/>
              </a:defRPr>
            </a:lvl3pPr>
            <a:lvl4pPr algn="l">
              <a:defRPr sz="1800" b="1">
                <a:solidFill>
                  <a:srgbClr val="192F43"/>
                </a:solidFill>
                <a:latin typeface="Arial"/>
                <a:ea typeface="Arial"/>
                <a:cs typeface="Arial"/>
              </a:defRPr>
            </a:lvl4pPr>
            <a:lvl5pPr algn="l">
              <a:defRPr sz="1800" b="1">
                <a:solidFill>
                  <a:srgbClr val="192F43"/>
                </a:solidFill>
                <a:latin typeface="Arial"/>
                <a:ea typeface="Arial"/>
                <a:cs typeface="Arial"/>
              </a:defRPr>
            </a:lvl5pPr>
            <a:lvl6pPr algn="l">
              <a:defRPr sz="1800" b="1">
                <a:solidFill>
                  <a:srgbClr val="192F43"/>
                </a:solidFill>
                <a:latin typeface="Arial"/>
                <a:ea typeface="Arial"/>
                <a:cs typeface="Arial"/>
              </a:defRPr>
            </a:lvl6pPr>
            <a:lvl7pPr algn="l">
              <a:defRPr sz="1800" b="1">
                <a:solidFill>
                  <a:srgbClr val="192F43"/>
                </a:solidFill>
                <a:latin typeface="Arial"/>
                <a:ea typeface="Arial"/>
                <a:cs typeface="Arial"/>
              </a:defRPr>
            </a:lvl7pPr>
            <a:lvl8pPr algn="l">
              <a:defRPr sz="1800" b="1">
                <a:solidFill>
                  <a:srgbClr val="192F43"/>
                </a:solidFill>
                <a:latin typeface="Arial"/>
                <a:ea typeface="Arial"/>
                <a:cs typeface="Arial"/>
              </a:defRPr>
            </a:lvl8pPr>
            <a:lvl9pPr algn="l">
              <a:defRPr sz="1800" b="1">
                <a:solidFill>
                  <a:srgbClr val="192F43"/>
                </a:solidFill>
                <a:latin typeface="Arial"/>
                <a:ea typeface="Arial"/>
                <a:cs typeface="Arial"/>
              </a:defRPr>
            </a:lvl9pPr>
          </a:lstStyle>
          <a:p>
            <a:pPr algn="l">
              <a:lnSpc>
                <a:spcPct val="107000"/>
              </a:lnSpc>
              <a:buNone/>
              <a:defRPr sz="1800" b="1">
                <a:solidFill>
                  <a:srgbClr val="192F43"/>
                </a:solidFill>
                <a:latin typeface="Arial"/>
                <a:ea typeface="Arial"/>
                <a:cs typeface="Arial"/>
              </a:defRPr>
            </a:pPr>
            <a:r>
              <a:rPr sz="1800" b="1">
                <a:solidFill>
                  <a:srgbClr val="192F43"/>
                </a:solidFill>
                <a:latin typeface="Arial"/>
                <a:ea typeface="Arial"/>
                <a:cs typeface="Arial"/>
              </a:rPr>
              <a:t>HỌC VIỆN CÔNG NGHỆ</a:t>
            </a:r>
          </a:p>
          <a:p>
            <a:pPr algn="l">
              <a:lnSpc>
                <a:spcPct val="107000"/>
              </a:lnSpc>
              <a:buNone/>
              <a:defRPr sz="1800" b="1">
                <a:solidFill>
                  <a:srgbClr val="192F43"/>
                </a:solidFill>
                <a:latin typeface="Arial"/>
                <a:ea typeface="Arial"/>
                <a:cs typeface="Arial"/>
              </a:defRPr>
            </a:pPr>
            <a:r>
              <a:rPr sz="1800" b="1">
                <a:solidFill>
                  <a:srgbClr val="192F43"/>
                </a:solidFill>
                <a:latin typeface="Arial"/>
                <a:ea typeface="Arial"/>
                <a:cs typeface="Arial"/>
              </a:rPr>
              <a:t>BƯU CHÍNH VIỄN THÔNG</a:t>
            </a:r>
          </a:p>
        </p:txBody>
      </p:sp>
      <p:sp>
        <p:nvSpPr>
          <p:cNvPr id="4" name="Rectangle 3">
            <a:extLst>
              <a:ext uri="{FF2B5EF4-FFF2-40B4-BE49-F238E27FC236}">
                <a16:creationId xmlns:a16="http://schemas.microsoft.com/office/drawing/2014/main" id="{604FF228-325F-4AAA-A8B9-37076AE01F8D}"/>
              </a:ext>
            </a:extLst>
          </p:cNvPr>
          <p:cNvSpPr>
            <a:spLocks noGrp="1"/>
          </p:cNvSpPr>
          <p:nvPr/>
        </p:nvSpPr>
        <p:spPr>
          <a:xfrm>
            <a:off x="609600" y="2095500"/>
            <a:ext cx="10287000" cy="952500"/>
          </a:xfrm>
          <a:prstGeom prst="rect">
            <a:avLst/>
          </a:prstGeom>
          <a:noFill/>
          <a:ln w="0">
            <a:noFill/>
          </a:ln>
        </p:spPr>
        <p:txBody>
          <a:bodyPr wrap="square" lIns="0" tIns="0" rIns="0" bIns="0" anchor="t">
            <a:noAutofit/>
          </a:bodyPr>
          <a:lstStyle>
            <a:defPPr algn="l">
              <a:defRPr sz="4950" b="1">
                <a:solidFill>
                  <a:srgbClr val="192F43"/>
                </a:solidFill>
                <a:latin typeface="Arial"/>
                <a:ea typeface="Arial"/>
                <a:cs typeface="Arial"/>
              </a:defRPr>
            </a:defPPr>
            <a:lvl1pPr algn="l">
              <a:defRPr sz="4950" b="1">
                <a:solidFill>
                  <a:srgbClr val="192F43"/>
                </a:solidFill>
                <a:latin typeface="Arial"/>
                <a:ea typeface="Arial"/>
                <a:cs typeface="Arial"/>
              </a:defRPr>
            </a:lvl1pPr>
            <a:lvl2pPr algn="l">
              <a:defRPr sz="4950" b="1">
                <a:solidFill>
                  <a:srgbClr val="192F43"/>
                </a:solidFill>
                <a:latin typeface="Arial"/>
                <a:ea typeface="Arial"/>
                <a:cs typeface="Arial"/>
              </a:defRPr>
            </a:lvl2pPr>
            <a:lvl3pPr algn="l">
              <a:defRPr sz="4950" b="1">
                <a:solidFill>
                  <a:srgbClr val="192F43"/>
                </a:solidFill>
                <a:latin typeface="Arial"/>
                <a:ea typeface="Arial"/>
                <a:cs typeface="Arial"/>
              </a:defRPr>
            </a:lvl3pPr>
            <a:lvl4pPr algn="l">
              <a:defRPr sz="4950" b="1">
                <a:solidFill>
                  <a:srgbClr val="192F43"/>
                </a:solidFill>
                <a:latin typeface="Arial"/>
                <a:ea typeface="Arial"/>
                <a:cs typeface="Arial"/>
              </a:defRPr>
            </a:lvl4pPr>
            <a:lvl5pPr algn="l">
              <a:defRPr sz="4950" b="1">
                <a:solidFill>
                  <a:srgbClr val="192F43"/>
                </a:solidFill>
                <a:latin typeface="Arial"/>
                <a:ea typeface="Arial"/>
                <a:cs typeface="Arial"/>
              </a:defRPr>
            </a:lvl5pPr>
            <a:lvl6pPr algn="l">
              <a:defRPr sz="4950" b="1">
                <a:solidFill>
                  <a:srgbClr val="192F43"/>
                </a:solidFill>
                <a:latin typeface="Arial"/>
                <a:ea typeface="Arial"/>
                <a:cs typeface="Arial"/>
              </a:defRPr>
            </a:lvl6pPr>
            <a:lvl7pPr algn="l">
              <a:defRPr sz="4950" b="1">
                <a:solidFill>
                  <a:srgbClr val="192F43"/>
                </a:solidFill>
                <a:latin typeface="Arial"/>
                <a:ea typeface="Arial"/>
                <a:cs typeface="Arial"/>
              </a:defRPr>
            </a:lvl7pPr>
            <a:lvl8pPr algn="l">
              <a:defRPr sz="4950" b="1">
                <a:solidFill>
                  <a:srgbClr val="192F43"/>
                </a:solidFill>
                <a:latin typeface="Arial"/>
                <a:ea typeface="Arial"/>
                <a:cs typeface="Arial"/>
              </a:defRPr>
            </a:lvl8pPr>
            <a:lvl9pPr algn="l">
              <a:defRPr sz="4950" b="1">
                <a:solidFill>
                  <a:srgbClr val="192F43"/>
                </a:solidFill>
                <a:latin typeface="Arial"/>
                <a:ea typeface="Arial"/>
                <a:cs typeface="Arial"/>
              </a:defRPr>
            </a:lvl9pPr>
          </a:lstStyle>
          <a:p>
            <a:pPr algn="l">
              <a:lnSpc>
                <a:spcPct val="107000"/>
              </a:lnSpc>
              <a:buNone/>
              <a:defRPr sz="4950" b="1">
                <a:solidFill>
                  <a:srgbClr val="192F43"/>
                </a:solidFill>
                <a:latin typeface="Arial"/>
                <a:ea typeface="Arial"/>
                <a:cs typeface="Arial"/>
              </a:defRPr>
            </a:pPr>
            <a:r>
              <a:rPr sz="4950" b="1">
                <a:solidFill>
                  <a:srgbClr val="192F43"/>
                </a:solidFill>
                <a:latin typeface="Arial"/>
                <a:ea typeface="Arial"/>
                <a:cs typeface="Arial"/>
              </a:rPr>
              <a:t>AI Image Doctor</a:t>
            </a:r>
          </a:p>
        </p:txBody>
      </p:sp>
      <p:sp>
        <p:nvSpPr>
          <p:cNvPr id="5" name="Rectangle 4">
            <a:extLst>
              <a:ext uri="{FF2B5EF4-FFF2-40B4-BE49-F238E27FC236}">
                <a16:creationId xmlns:a16="http://schemas.microsoft.com/office/drawing/2014/main" id="{1D5E041B-9899-47DA-8E5F-DD7D868634E8}"/>
              </a:ext>
            </a:extLst>
          </p:cNvPr>
          <p:cNvSpPr>
            <a:spLocks noGrp="1"/>
          </p:cNvSpPr>
          <p:nvPr/>
        </p:nvSpPr>
        <p:spPr>
          <a:xfrm>
            <a:off x="609600" y="3257550"/>
            <a:ext cx="10668000" cy="628650"/>
          </a:xfrm>
          <a:prstGeom prst="rect">
            <a:avLst/>
          </a:prstGeom>
          <a:noFill/>
          <a:ln w="0">
            <a:noFill/>
          </a:ln>
        </p:spPr>
        <p:txBody>
          <a:bodyPr wrap="square" lIns="0" tIns="0" rIns="0" bIns="0" anchor="t">
            <a:noAutofit/>
          </a:bodyPr>
          <a:lstStyle>
            <a:defPPr algn="l">
              <a:defRPr sz="3000" b="1">
                <a:solidFill>
                  <a:srgbClr val="267C83"/>
                </a:solidFill>
                <a:latin typeface="Arial"/>
                <a:ea typeface="Arial"/>
                <a:cs typeface="Arial"/>
              </a:defRPr>
            </a:defPPr>
            <a:lvl1pPr algn="l">
              <a:defRPr sz="3000" b="1">
                <a:solidFill>
                  <a:srgbClr val="267C83"/>
                </a:solidFill>
                <a:latin typeface="Arial"/>
                <a:ea typeface="Arial"/>
                <a:cs typeface="Arial"/>
              </a:defRPr>
            </a:lvl1pPr>
            <a:lvl2pPr algn="l">
              <a:defRPr sz="3000" b="1">
                <a:solidFill>
                  <a:srgbClr val="267C83"/>
                </a:solidFill>
                <a:latin typeface="Arial"/>
                <a:ea typeface="Arial"/>
                <a:cs typeface="Arial"/>
              </a:defRPr>
            </a:lvl2pPr>
            <a:lvl3pPr algn="l">
              <a:defRPr sz="3000" b="1">
                <a:solidFill>
                  <a:srgbClr val="267C83"/>
                </a:solidFill>
                <a:latin typeface="Arial"/>
                <a:ea typeface="Arial"/>
                <a:cs typeface="Arial"/>
              </a:defRPr>
            </a:lvl3pPr>
            <a:lvl4pPr algn="l">
              <a:defRPr sz="3000" b="1">
                <a:solidFill>
                  <a:srgbClr val="267C83"/>
                </a:solidFill>
                <a:latin typeface="Arial"/>
                <a:ea typeface="Arial"/>
                <a:cs typeface="Arial"/>
              </a:defRPr>
            </a:lvl4pPr>
            <a:lvl5pPr algn="l">
              <a:defRPr sz="3000" b="1">
                <a:solidFill>
                  <a:srgbClr val="267C83"/>
                </a:solidFill>
                <a:latin typeface="Arial"/>
                <a:ea typeface="Arial"/>
                <a:cs typeface="Arial"/>
              </a:defRPr>
            </a:lvl5pPr>
            <a:lvl6pPr algn="l">
              <a:defRPr sz="3000" b="1">
                <a:solidFill>
                  <a:srgbClr val="267C83"/>
                </a:solidFill>
                <a:latin typeface="Arial"/>
                <a:ea typeface="Arial"/>
                <a:cs typeface="Arial"/>
              </a:defRPr>
            </a:lvl6pPr>
            <a:lvl7pPr algn="l">
              <a:defRPr sz="3000" b="1">
                <a:solidFill>
                  <a:srgbClr val="267C83"/>
                </a:solidFill>
                <a:latin typeface="Arial"/>
                <a:ea typeface="Arial"/>
                <a:cs typeface="Arial"/>
              </a:defRPr>
            </a:lvl7pPr>
            <a:lvl8pPr algn="l">
              <a:defRPr sz="3000" b="1">
                <a:solidFill>
                  <a:srgbClr val="267C83"/>
                </a:solidFill>
                <a:latin typeface="Arial"/>
                <a:ea typeface="Arial"/>
                <a:cs typeface="Arial"/>
              </a:defRPr>
            </a:lvl8pPr>
            <a:lvl9pPr algn="l">
              <a:defRPr sz="3000" b="1">
                <a:solidFill>
                  <a:srgbClr val="267C83"/>
                </a:solidFill>
                <a:latin typeface="Arial"/>
                <a:ea typeface="Arial"/>
                <a:cs typeface="Arial"/>
              </a:defRPr>
            </a:lvl9pPr>
          </a:lstStyle>
          <a:p>
            <a:pPr algn="l">
              <a:lnSpc>
                <a:spcPct val="107000"/>
              </a:lnSpc>
              <a:buNone/>
              <a:defRPr sz="3000" b="1">
                <a:solidFill>
                  <a:srgbClr val="267C83"/>
                </a:solidFill>
                <a:latin typeface="Arial"/>
                <a:ea typeface="Arial"/>
                <a:cs typeface="Arial"/>
              </a:defRPr>
            </a:pPr>
            <a:r>
              <a:rPr sz="3000" b="1">
                <a:solidFill>
                  <a:srgbClr val="267C83"/>
                </a:solidFill>
                <a:latin typeface="Arial"/>
                <a:ea typeface="Arial"/>
                <a:cs typeface="Arial"/>
              </a:rPr>
              <a:t>Cải thiện chất lượng ảnh khép vòng</a:t>
            </a:r>
          </a:p>
        </p:txBody>
      </p:sp>
      <p:sp>
        <p:nvSpPr>
          <p:cNvPr id="6" name="Rectangle 5">
            <a:extLst>
              <a:ext uri="{FF2B5EF4-FFF2-40B4-BE49-F238E27FC236}">
                <a16:creationId xmlns:a16="http://schemas.microsoft.com/office/drawing/2014/main" id="{D0DE1E72-63F8-450F-847C-0E600AA750A3}"/>
              </a:ext>
            </a:extLst>
          </p:cNvPr>
          <p:cNvSpPr>
            <a:spLocks noGrp="1"/>
          </p:cNvSpPr>
          <p:nvPr/>
        </p:nvSpPr>
        <p:spPr>
          <a:xfrm>
            <a:off x="609600" y="4000500"/>
            <a:ext cx="10572750" cy="628650"/>
          </a:xfrm>
          <a:prstGeom prst="rect">
            <a:avLst/>
          </a:prstGeom>
          <a:noFill/>
          <a:ln w="0">
            <a:noFill/>
          </a:ln>
        </p:spPr>
        <p:txBody>
          <a:bodyPr wrap="square" lIns="0" tIns="0" rIns="0" bIns="0" anchor="t">
            <a:noAutofit/>
          </a:bodyPr>
          <a:lstStyle>
            <a:defPPr algn="l">
              <a:defRPr sz="2325" b="0">
                <a:solidFill>
                  <a:srgbClr val="192F43"/>
                </a:solidFill>
                <a:latin typeface="Arial"/>
                <a:ea typeface="Arial"/>
                <a:cs typeface="Arial"/>
              </a:defRPr>
            </a:defPPr>
            <a:lvl1pPr algn="l">
              <a:defRPr sz="2325" b="0">
                <a:solidFill>
                  <a:srgbClr val="192F43"/>
                </a:solidFill>
                <a:latin typeface="Arial"/>
                <a:ea typeface="Arial"/>
                <a:cs typeface="Arial"/>
              </a:defRPr>
            </a:lvl1pPr>
            <a:lvl2pPr algn="l">
              <a:defRPr sz="2325" b="0">
                <a:solidFill>
                  <a:srgbClr val="192F43"/>
                </a:solidFill>
                <a:latin typeface="Arial"/>
                <a:ea typeface="Arial"/>
                <a:cs typeface="Arial"/>
              </a:defRPr>
            </a:lvl2pPr>
            <a:lvl3pPr algn="l">
              <a:defRPr sz="2325" b="0">
                <a:solidFill>
                  <a:srgbClr val="192F43"/>
                </a:solidFill>
                <a:latin typeface="Arial"/>
                <a:ea typeface="Arial"/>
                <a:cs typeface="Arial"/>
              </a:defRPr>
            </a:lvl3pPr>
            <a:lvl4pPr algn="l">
              <a:defRPr sz="2325" b="0">
                <a:solidFill>
                  <a:srgbClr val="192F43"/>
                </a:solidFill>
                <a:latin typeface="Arial"/>
                <a:ea typeface="Arial"/>
                <a:cs typeface="Arial"/>
              </a:defRPr>
            </a:lvl4pPr>
            <a:lvl5pPr algn="l">
              <a:defRPr sz="2325" b="0">
                <a:solidFill>
                  <a:srgbClr val="192F43"/>
                </a:solidFill>
                <a:latin typeface="Arial"/>
                <a:ea typeface="Arial"/>
                <a:cs typeface="Arial"/>
              </a:defRPr>
            </a:lvl5pPr>
            <a:lvl6pPr algn="l">
              <a:defRPr sz="2325" b="0">
                <a:solidFill>
                  <a:srgbClr val="192F43"/>
                </a:solidFill>
                <a:latin typeface="Arial"/>
                <a:ea typeface="Arial"/>
                <a:cs typeface="Arial"/>
              </a:defRPr>
            </a:lvl6pPr>
            <a:lvl7pPr algn="l">
              <a:defRPr sz="2325" b="0">
                <a:solidFill>
                  <a:srgbClr val="192F43"/>
                </a:solidFill>
                <a:latin typeface="Arial"/>
                <a:ea typeface="Arial"/>
                <a:cs typeface="Arial"/>
              </a:defRPr>
            </a:lvl7pPr>
            <a:lvl8pPr algn="l">
              <a:defRPr sz="2325" b="0">
                <a:solidFill>
                  <a:srgbClr val="192F43"/>
                </a:solidFill>
                <a:latin typeface="Arial"/>
                <a:ea typeface="Arial"/>
                <a:cs typeface="Arial"/>
              </a:defRPr>
            </a:lvl8pPr>
            <a:lvl9pPr algn="l">
              <a:defRPr sz="2325" b="0">
                <a:solidFill>
                  <a:srgbClr val="192F43"/>
                </a:solidFill>
                <a:latin typeface="Arial"/>
                <a:ea typeface="Arial"/>
                <a:cs typeface="Arial"/>
              </a:defRPr>
            </a:lvl9pPr>
          </a:lstStyle>
          <a:p>
            <a:pPr algn="l">
              <a:lnSpc>
                <a:spcPct val="107000"/>
              </a:lnSpc>
              <a:buNone/>
              <a:defRPr sz="2325" b="0">
                <a:solidFill>
                  <a:srgbClr val="192F43"/>
                </a:solidFill>
                <a:latin typeface="Arial"/>
                <a:ea typeface="Arial"/>
                <a:cs typeface="Arial"/>
              </a:defRPr>
            </a:pPr>
            <a:r>
              <a:rPr sz="2325" b="0">
                <a:solidFill>
                  <a:srgbClr val="192F43"/>
                </a:solidFill>
                <a:latin typeface="Arial"/>
                <a:ea typeface="Arial"/>
                <a:cs typeface="Arial"/>
              </a:rPr>
              <a:t>VLM suy luận và thuật toán xử lý ảnh cổ điển</a:t>
            </a:r>
          </a:p>
        </p:txBody>
      </p:sp>
      <p:sp>
        <p:nvSpPr>
          <p:cNvPr id="7" name="Rectangle 6">
            <a:extLst>
              <a:ext uri="{FF2B5EF4-FFF2-40B4-BE49-F238E27FC236}">
                <a16:creationId xmlns:a16="http://schemas.microsoft.com/office/drawing/2014/main" id="{18031E46-EE48-43C9-9A8B-DC52BD4C9B58}"/>
              </a:ext>
            </a:extLst>
          </p:cNvPr>
          <p:cNvSpPr>
            <a:spLocks noGrp="1"/>
          </p:cNvSpPr>
          <p:nvPr/>
        </p:nvSpPr>
        <p:spPr>
          <a:xfrm>
            <a:off x="609600" y="5286375"/>
            <a:ext cx="9906000" cy="857250"/>
          </a:xfrm>
          <a:prstGeom prst="rect">
            <a:avLst/>
          </a:prstGeom>
          <a:noFill/>
          <a:ln w="0">
            <a:noFill/>
          </a:ln>
        </p:spPr>
        <p:txBody>
          <a:bodyPr wrap="square" lIns="0" tIns="0" rIns="0" bIns="0" anchor="t">
            <a:noAutofit/>
          </a:bodyPr>
          <a:lstStyle>
            <a:defPPr algn="l">
              <a:defRPr sz="1950" b="0">
                <a:solidFill>
                  <a:srgbClr val="526779"/>
                </a:solidFill>
                <a:latin typeface="Arial"/>
                <a:ea typeface="Arial"/>
                <a:cs typeface="Arial"/>
              </a:defRPr>
            </a:defPPr>
            <a:lvl1pPr algn="l">
              <a:defRPr sz="1950" b="0">
                <a:solidFill>
                  <a:srgbClr val="526779"/>
                </a:solidFill>
                <a:latin typeface="Arial"/>
                <a:ea typeface="Arial"/>
                <a:cs typeface="Arial"/>
              </a:defRPr>
            </a:lvl1pPr>
            <a:lvl2pPr algn="l">
              <a:defRPr sz="1950" b="0">
                <a:solidFill>
                  <a:srgbClr val="526779"/>
                </a:solidFill>
                <a:latin typeface="Arial"/>
                <a:ea typeface="Arial"/>
                <a:cs typeface="Arial"/>
              </a:defRPr>
            </a:lvl2pPr>
            <a:lvl3pPr algn="l">
              <a:defRPr sz="1950" b="0">
                <a:solidFill>
                  <a:srgbClr val="526779"/>
                </a:solidFill>
                <a:latin typeface="Arial"/>
                <a:ea typeface="Arial"/>
                <a:cs typeface="Arial"/>
              </a:defRPr>
            </a:lvl3pPr>
            <a:lvl4pPr algn="l">
              <a:defRPr sz="1950" b="0">
                <a:solidFill>
                  <a:srgbClr val="526779"/>
                </a:solidFill>
                <a:latin typeface="Arial"/>
                <a:ea typeface="Arial"/>
                <a:cs typeface="Arial"/>
              </a:defRPr>
            </a:lvl4pPr>
            <a:lvl5pPr algn="l">
              <a:defRPr sz="1950" b="0">
                <a:solidFill>
                  <a:srgbClr val="526779"/>
                </a:solidFill>
                <a:latin typeface="Arial"/>
                <a:ea typeface="Arial"/>
                <a:cs typeface="Arial"/>
              </a:defRPr>
            </a:lvl5pPr>
            <a:lvl6pPr algn="l">
              <a:defRPr sz="1950" b="0">
                <a:solidFill>
                  <a:srgbClr val="526779"/>
                </a:solidFill>
                <a:latin typeface="Arial"/>
                <a:ea typeface="Arial"/>
                <a:cs typeface="Arial"/>
              </a:defRPr>
            </a:lvl6pPr>
            <a:lvl7pPr algn="l">
              <a:defRPr sz="1950" b="0">
                <a:solidFill>
                  <a:srgbClr val="526779"/>
                </a:solidFill>
                <a:latin typeface="Arial"/>
                <a:ea typeface="Arial"/>
                <a:cs typeface="Arial"/>
              </a:defRPr>
            </a:lvl7pPr>
            <a:lvl8pPr algn="l">
              <a:defRPr sz="1950" b="0">
                <a:solidFill>
                  <a:srgbClr val="526779"/>
                </a:solidFill>
                <a:latin typeface="Arial"/>
                <a:ea typeface="Arial"/>
                <a:cs typeface="Arial"/>
              </a:defRPr>
            </a:lvl8pPr>
            <a:lvl9pPr algn="l">
              <a:defRPr sz="1950" b="0">
                <a:solidFill>
                  <a:srgbClr val="526779"/>
                </a:solidFill>
                <a:latin typeface="Arial"/>
                <a:ea typeface="Arial"/>
                <a:cs typeface="Arial"/>
              </a:defRPr>
            </a:lvl9pPr>
          </a:lstStyle>
          <a:p>
            <a:pPr algn="l">
              <a:lnSpc>
                <a:spcPct val="107000"/>
              </a:lnSpc>
              <a:buNone/>
              <a:defRPr sz="1950" b="0">
                <a:solidFill>
                  <a:srgbClr val="526779"/>
                </a:solidFill>
                <a:latin typeface="Arial"/>
                <a:ea typeface="Arial"/>
                <a:cs typeface="Arial"/>
              </a:defRPr>
            </a:pPr>
            <a:r>
              <a:rPr sz="1950" b="0">
                <a:solidFill>
                  <a:srgbClr val="526779"/>
                </a:solidFill>
                <a:latin typeface="Arial"/>
                <a:ea typeface="Arial"/>
                <a:cs typeface="Arial"/>
              </a:rPr>
              <a:t>Môn học: Xử lý ảnh</a:t>
            </a:r>
          </a:p>
          <a:p>
            <a:pPr algn="l">
              <a:lnSpc>
                <a:spcPct val="107000"/>
              </a:lnSpc>
              <a:buNone/>
              <a:defRPr sz="1950" b="0">
                <a:solidFill>
                  <a:srgbClr val="526779"/>
                </a:solidFill>
                <a:latin typeface="Arial"/>
                <a:ea typeface="Arial"/>
                <a:cs typeface="Arial"/>
              </a:defRPr>
            </a:pPr>
            <a:r>
              <a:rPr sz="1950" b="0">
                <a:solidFill>
                  <a:srgbClr val="526779"/>
                </a:solidFill>
                <a:latin typeface="Arial"/>
                <a:ea typeface="Arial"/>
                <a:cs typeface="Arial"/>
              </a:rPr>
              <a:t>Giảng viên: Đỗ Đức Hào</a:t>
            </a:r>
          </a:p>
        </p:txBody>
      </p:sp>
    </p:spTree>
    <p:extLst>
      <p:ext uri="{BB962C8B-B14F-4D97-AF65-F5344CB8AC3E}">
        <p14:creationId xmlns:p14="http://schemas.microsoft.com/office/powerpoint/2010/main" val="124085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C98ECBA-18D6-48DE-81DE-A7D9FF2A9948}"/>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1  PHÂN TÍCH VÀ ĐÁNH GIÁ</a:t>
            </a:r>
          </a:p>
        </p:txBody>
      </p:sp>
      <p:sp>
        <p:nvSpPr>
          <p:cNvPr id="2" name="Rectangle 1">
            <a:extLst>
              <a:ext uri="{FF2B5EF4-FFF2-40B4-BE49-F238E27FC236}">
                <a16:creationId xmlns:a16="http://schemas.microsoft.com/office/drawing/2014/main" id="{35ED2E71-80BA-49F1-B1E7-F561CBE1C52B}"/>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Dữ liệu và chuẩn hóa ảnh đầu vào</a:t>
            </a:r>
          </a:p>
        </p:txBody>
      </p:sp>
      <p:sp>
        <p:nvSpPr>
          <p:cNvPr id="3" name="Rectangle 2">
            <a:extLst>
              <a:ext uri="{FF2B5EF4-FFF2-40B4-BE49-F238E27FC236}">
                <a16:creationId xmlns:a16="http://schemas.microsoft.com/office/drawing/2014/main" id="{826B1CDC-7795-4116-88B1-38FCE82CDD8C}"/>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03</a:t>
            </a:r>
          </a:p>
        </p:txBody>
      </p:sp>
      <p:pic>
        <p:nvPicPr>
          <p:cNvPr id="4" name="Picture 3">
            <a:extLst>
              <a:ext uri="{FF2B5EF4-FFF2-40B4-BE49-F238E27FC236}">
                <a16:creationId xmlns:a16="http://schemas.microsoft.com/office/drawing/2014/main" id="{A9ACBBFD-D697-4CD7-867A-C9D41FB4C405}"/>
              </a:ext>
            </a:extLst>
          </p:cNvPr>
          <p:cNvPicPr>
            <a:picLocks noChangeAspect="1"/>
          </p:cNvPicPr>
          <p:nvPr/>
        </p:nvPicPr>
        <p:blipFill>
          <a:blip r:embed="rId3"/>
          <a:srcRect l="25729" t="1228" r="50729" b="59123"/>
          <a:stretch/>
        </p:blipFill>
        <p:spPr>
          <a:xfrm>
            <a:off x="609600" y="1790700"/>
            <a:ext cx="2457450" cy="2457450"/>
          </a:xfrm>
          <a:prstGeom prst="rect">
            <a:avLst/>
          </a:prstGeom>
        </p:spPr>
      </p:pic>
      <p:sp>
        <p:nvSpPr>
          <p:cNvPr id="5" name="Rectangle 4">
            <a:extLst>
              <a:ext uri="{FF2B5EF4-FFF2-40B4-BE49-F238E27FC236}">
                <a16:creationId xmlns:a16="http://schemas.microsoft.com/office/drawing/2014/main" id="{45010AE1-068B-47B2-9FB2-9B77674FE7B4}"/>
              </a:ext>
            </a:extLst>
          </p:cNvPr>
          <p:cNvSpPr>
            <a:spLocks noGrp="1"/>
          </p:cNvSpPr>
          <p:nvPr/>
        </p:nvSpPr>
        <p:spPr>
          <a:xfrm>
            <a:off x="609600" y="4362450"/>
            <a:ext cx="24574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Gaussian σ = 25</a:t>
            </a:r>
          </a:p>
        </p:txBody>
      </p:sp>
      <p:pic>
        <p:nvPicPr>
          <p:cNvPr id="6" name="Picture 5">
            <a:extLst>
              <a:ext uri="{FF2B5EF4-FFF2-40B4-BE49-F238E27FC236}">
                <a16:creationId xmlns:a16="http://schemas.microsoft.com/office/drawing/2014/main" id="{C03B3983-409B-46FC-8F63-C03132C6457A}"/>
              </a:ext>
            </a:extLst>
          </p:cNvPr>
          <p:cNvPicPr>
            <a:picLocks noChangeAspect="1"/>
          </p:cNvPicPr>
          <p:nvPr/>
        </p:nvPicPr>
        <p:blipFill>
          <a:blip r:embed="rId3"/>
          <a:srcRect l="75729" t="1228" r="729" b="59123"/>
          <a:stretch/>
        </p:blipFill>
        <p:spPr>
          <a:xfrm>
            <a:off x="3467100" y="1790700"/>
            <a:ext cx="2457450" cy="2457450"/>
          </a:xfrm>
          <a:prstGeom prst="rect">
            <a:avLst/>
          </a:prstGeom>
        </p:spPr>
      </p:pic>
      <p:sp>
        <p:nvSpPr>
          <p:cNvPr id="7" name="Rectangle 6">
            <a:extLst>
              <a:ext uri="{FF2B5EF4-FFF2-40B4-BE49-F238E27FC236}">
                <a16:creationId xmlns:a16="http://schemas.microsoft.com/office/drawing/2014/main" id="{2D8D826A-BEB0-451F-85DE-BDB5AAD99472}"/>
              </a:ext>
            </a:extLst>
          </p:cNvPr>
          <p:cNvSpPr>
            <a:spLocks noGrp="1"/>
          </p:cNvSpPr>
          <p:nvPr/>
        </p:nvSpPr>
        <p:spPr>
          <a:xfrm>
            <a:off x="3467100" y="4362450"/>
            <a:ext cx="24574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Mờ chuyển động</a:t>
            </a:r>
          </a:p>
        </p:txBody>
      </p:sp>
      <p:pic>
        <p:nvPicPr>
          <p:cNvPr id="8" name="Picture 7">
            <a:extLst>
              <a:ext uri="{FF2B5EF4-FFF2-40B4-BE49-F238E27FC236}">
                <a16:creationId xmlns:a16="http://schemas.microsoft.com/office/drawing/2014/main" id="{C0F2A563-F1D0-4A5E-8EDE-C9412013477C}"/>
              </a:ext>
            </a:extLst>
          </p:cNvPr>
          <p:cNvPicPr>
            <a:picLocks noChangeAspect="1"/>
          </p:cNvPicPr>
          <p:nvPr/>
        </p:nvPicPr>
        <p:blipFill>
          <a:blip r:embed="rId3"/>
          <a:srcRect l="25729" t="51228" r="50729" b="9123"/>
          <a:stretch/>
        </p:blipFill>
        <p:spPr>
          <a:xfrm>
            <a:off x="6324600" y="1790700"/>
            <a:ext cx="2457450" cy="2457450"/>
          </a:xfrm>
          <a:prstGeom prst="rect">
            <a:avLst/>
          </a:prstGeom>
        </p:spPr>
      </p:pic>
      <p:sp>
        <p:nvSpPr>
          <p:cNvPr id="9" name="Rectangle 8">
            <a:extLst>
              <a:ext uri="{FF2B5EF4-FFF2-40B4-BE49-F238E27FC236}">
                <a16:creationId xmlns:a16="http://schemas.microsoft.com/office/drawing/2014/main" id="{E635D582-2FB6-42EE-8117-4016B966BACB}"/>
              </a:ext>
            </a:extLst>
          </p:cNvPr>
          <p:cNvSpPr>
            <a:spLocks noGrp="1"/>
          </p:cNvSpPr>
          <p:nvPr/>
        </p:nvSpPr>
        <p:spPr>
          <a:xfrm>
            <a:off x="6324600" y="4362450"/>
            <a:ext cx="24574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Thiếu sáng</a:t>
            </a:r>
          </a:p>
        </p:txBody>
      </p:sp>
      <p:pic>
        <p:nvPicPr>
          <p:cNvPr id="10" name="Picture 9">
            <a:extLst>
              <a:ext uri="{FF2B5EF4-FFF2-40B4-BE49-F238E27FC236}">
                <a16:creationId xmlns:a16="http://schemas.microsoft.com/office/drawing/2014/main" id="{6A105FAC-751D-43B1-BE55-12C672A0F6AE}"/>
              </a:ext>
            </a:extLst>
          </p:cNvPr>
          <p:cNvPicPr>
            <a:picLocks noChangeAspect="1"/>
          </p:cNvPicPr>
          <p:nvPr/>
        </p:nvPicPr>
        <p:blipFill>
          <a:blip r:embed="rId3"/>
          <a:srcRect l="75729" t="51228" r="729" b="9123"/>
          <a:stretch/>
        </p:blipFill>
        <p:spPr>
          <a:xfrm>
            <a:off x="9182100" y="1790700"/>
            <a:ext cx="2381250" cy="2381250"/>
          </a:xfrm>
          <a:prstGeom prst="rect">
            <a:avLst/>
          </a:prstGeom>
        </p:spPr>
      </p:pic>
      <p:sp>
        <p:nvSpPr>
          <p:cNvPr id="11" name="Rectangle 10">
            <a:extLst>
              <a:ext uri="{FF2B5EF4-FFF2-40B4-BE49-F238E27FC236}">
                <a16:creationId xmlns:a16="http://schemas.microsoft.com/office/drawing/2014/main" id="{F2FF6724-FA34-4B70-B897-5780872F91E6}"/>
              </a:ext>
            </a:extLst>
          </p:cNvPr>
          <p:cNvSpPr>
            <a:spLocks noGrp="1"/>
          </p:cNvSpPr>
          <p:nvPr/>
        </p:nvSpPr>
        <p:spPr>
          <a:xfrm>
            <a:off x="9182100" y="4286250"/>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Tương phản thấp</a:t>
            </a:r>
          </a:p>
        </p:txBody>
      </p:sp>
      <p:sp>
        <p:nvSpPr>
          <p:cNvPr id="12" name="Rectangle 11">
            <a:extLst>
              <a:ext uri="{FF2B5EF4-FFF2-40B4-BE49-F238E27FC236}">
                <a16:creationId xmlns:a16="http://schemas.microsoft.com/office/drawing/2014/main" id="{0F3AA73F-DA50-483B-8F99-9CCF068C1976}"/>
              </a:ext>
            </a:extLst>
          </p:cNvPr>
          <p:cNvSpPr>
            <a:spLocks noGrp="1"/>
          </p:cNvSpPr>
          <p:nvPr/>
        </p:nvSpPr>
        <p:spPr>
          <a:xfrm>
            <a:off x="609600" y="5095875"/>
            <a:ext cx="10953750" cy="466725"/>
          </a:xfrm>
          <a:prstGeom prst="rect">
            <a:avLst/>
          </a:prstGeom>
          <a:noFill/>
          <a:ln w="0">
            <a:noFill/>
          </a:ln>
        </p:spPr>
        <p:txBody>
          <a:bodyPr wrap="square" lIns="0" tIns="0" rIns="0" bIns="0" anchor="t">
            <a:noAutofit/>
          </a:bodyPr>
          <a:lstStyle>
            <a:defPPr algn="l">
              <a:defRPr sz="2400" b="1">
                <a:solidFill>
                  <a:srgbClr val="267C83"/>
                </a:solidFill>
                <a:latin typeface="Arial"/>
                <a:ea typeface="Arial"/>
                <a:cs typeface="Arial"/>
              </a:defRPr>
            </a:defPPr>
            <a:lvl1pPr algn="l">
              <a:defRPr sz="2400" b="1">
                <a:solidFill>
                  <a:srgbClr val="267C83"/>
                </a:solidFill>
                <a:latin typeface="Arial"/>
                <a:ea typeface="Arial"/>
                <a:cs typeface="Arial"/>
              </a:defRPr>
            </a:lvl1pPr>
            <a:lvl2pPr algn="l">
              <a:defRPr sz="2400" b="1">
                <a:solidFill>
                  <a:srgbClr val="267C83"/>
                </a:solidFill>
                <a:latin typeface="Arial"/>
                <a:ea typeface="Arial"/>
                <a:cs typeface="Arial"/>
              </a:defRPr>
            </a:lvl2pPr>
            <a:lvl3pPr algn="l">
              <a:defRPr sz="2400" b="1">
                <a:solidFill>
                  <a:srgbClr val="267C83"/>
                </a:solidFill>
                <a:latin typeface="Arial"/>
                <a:ea typeface="Arial"/>
                <a:cs typeface="Arial"/>
              </a:defRPr>
            </a:lvl3pPr>
            <a:lvl4pPr algn="l">
              <a:defRPr sz="2400" b="1">
                <a:solidFill>
                  <a:srgbClr val="267C83"/>
                </a:solidFill>
                <a:latin typeface="Arial"/>
                <a:ea typeface="Arial"/>
                <a:cs typeface="Arial"/>
              </a:defRPr>
            </a:lvl4pPr>
            <a:lvl5pPr algn="l">
              <a:defRPr sz="2400" b="1">
                <a:solidFill>
                  <a:srgbClr val="267C83"/>
                </a:solidFill>
                <a:latin typeface="Arial"/>
                <a:ea typeface="Arial"/>
                <a:cs typeface="Arial"/>
              </a:defRPr>
            </a:lvl5pPr>
            <a:lvl6pPr algn="l">
              <a:defRPr sz="2400" b="1">
                <a:solidFill>
                  <a:srgbClr val="267C83"/>
                </a:solidFill>
                <a:latin typeface="Arial"/>
                <a:ea typeface="Arial"/>
                <a:cs typeface="Arial"/>
              </a:defRPr>
            </a:lvl6pPr>
            <a:lvl7pPr algn="l">
              <a:defRPr sz="2400" b="1">
                <a:solidFill>
                  <a:srgbClr val="267C83"/>
                </a:solidFill>
                <a:latin typeface="Arial"/>
                <a:ea typeface="Arial"/>
                <a:cs typeface="Arial"/>
              </a:defRPr>
            </a:lvl7pPr>
            <a:lvl8pPr algn="l">
              <a:defRPr sz="2400" b="1">
                <a:solidFill>
                  <a:srgbClr val="267C83"/>
                </a:solidFill>
                <a:latin typeface="Arial"/>
                <a:ea typeface="Arial"/>
                <a:cs typeface="Arial"/>
              </a:defRPr>
            </a:lvl8pPr>
            <a:lvl9pPr algn="l">
              <a:defRPr sz="2400" b="1">
                <a:solidFill>
                  <a:srgbClr val="267C83"/>
                </a:solidFill>
                <a:latin typeface="Arial"/>
                <a:ea typeface="Arial"/>
                <a:cs typeface="Arial"/>
              </a:defRPr>
            </a:lvl9pPr>
          </a:lstStyle>
          <a:p>
            <a:pPr algn="l">
              <a:lnSpc>
                <a:spcPct val="107000"/>
              </a:lnSpc>
              <a:buNone/>
              <a:defRPr sz="2400" b="1">
                <a:solidFill>
                  <a:srgbClr val="267C83"/>
                </a:solidFill>
                <a:latin typeface="Arial"/>
                <a:ea typeface="Arial"/>
                <a:cs typeface="Arial"/>
              </a:defRPr>
            </a:pPr>
            <a:r>
              <a:rPr sz="2400" b="1">
                <a:solidFill>
                  <a:srgbClr val="267C83"/>
                </a:solidFill>
                <a:latin typeface="Arial"/>
                <a:ea typeface="Arial"/>
                <a:cs typeface="Arial"/>
              </a:rPr>
              <a:t>Ảnh sạch tạo lỗi để có mốc tham chiếu</a:t>
            </a:r>
          </a:p>
        </p:txBody>
      </p:sp>
      <p:sp>
        <p:nvSpPr>
          <p:cNvPr id="13" name="Rectangle 12">
            <a:extLst>
              <a:ext uri="{FF2B5EF4-FFF2-40B4-BE49-F238E27FC236}">
                <a16:creationId xmlns:a16="http://schemas.microsoft.com/office/drawing/2014/main" id="{83A55343-3E96-474D-89B9-5A30E5281335}"/>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Upload web kiểm tra file, xoay theo EXIF, chuyển RGB uint8 (H, W, 3). Generator chính có 7 suy giảm.</a:t>
            </a:r>
          </a:p>
        </p:txBody>
      </p:sp>
    </p:spTree>
    <p:extLst>
      <p:ext uri="{BB962C8B-B14F-4D97-AF65-F5344CB8AC3E}">
        <p14:creationId xmlns:p14="http://schemas.microsoft.com/office/powerpoint/2010/main" val="260130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4C5F2C3F-04ED-48CB-BE04-872F203BA91B}"/>
              </a:ext>
            </a:extLst>
          </p:cNvPr>
          <p:cNvCxnSpPr>
            <a:stCxn id="5" idx="3"/>
            <a:endCxn id="6" idx="1"/>
          </p:cNvCxnSpPr>
          <p:nvPr/>
        </p:nvCxnSpPr>
        <p:spPr>
          <a:xfrm>
            <a:off x="7620000" y="2286000"/>
            <a:ext cx="914400" cy="0"/>
          </a:xfrm>
          <a:prstGeom prst="straightConnector1">
            <a:avLst/>
          </a:prstGeom>
          <a:ln w="19050">
            <a:solidFill>
              <a:srgbClr val="617E8F"/>
            </a:solidFill>
            <a:tailEnd type="triangle" w="med" len="med"/>
          </a:ln>
        </p:spPr>
      </p:cxnSp>
      <p:cxnSp>
        <p:nvCxnSpPr>
          <p:cNvPr id="7" name="Straight Arrow Connector 6">
            <a:extLst>
              <a:ext uri="{FF2B5EF4-FFF2-40B4-BE49-F238E27FC236}">
                <a16:creationId xmlns:a16="http://schemas.microsoft.com/office/drawing/2014/main" id="{D6F80316-566D-466F-B5BE-11EDC55AE41A}"/>
              </a:ext>
            </a:extLst>
          </p:cNvPr>
          <p:cNvCxnSpPr>
            <a:stCxn id="4" idx="3"/>
            <a:endCxn id="5" idx="1"/>
          </p:cNvCxnSpPr>
          <p:nvPr/>
        </p:nvCxnSpPr>
        <p:spPr>
          <a:xfrm>
            <a:off x="3657600" y="2286000"/>
            <a:ext cx="914400" cy="0"/>
          </a:xfrm>
          <a:prstGeom prst="straightConnector1">
            <a:avLst/>
          </a:prstGeom>
          <a:ln w="19050">
            <a:solidFill>
              <a:srgbClr val="617E8F"/>
            </a:solidFill>
            <a:tailEnd type="triangle" w="med" len="med"/>
          </a:ln>
        </p:spPr>
      </p:cxnSp>
      <p:sp>
        <p:nvSpPr>
          <p:cNvPr id="18" name="Rectangle 17">
            <a:extLst>
              <a:ext uri="{FF2B5EF4-FFF2-40B4-BE49-F238E27FC236}">
                <a16:creationId xmlns:a16="http://schemas.microsoft.com/office/drawing/2014/main" id="{E381ABD1-FA0D-42A1-A297-3C289105C0AF}"/>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1  PHÂN TÍCH VÀ ĐÁNH GIÁ</a:t>
            </a:r>
          </a:p>
        </p:txBody>
      </p:sp>
      <p:sp>
        <p:nvSpPr>
          <p:cNvPr id="2" name="Rectangle 1">
            <a:extLst>
              <a:ext uri="{FF2B5EF4-FFF2-40B4-BE49-F238E27FC236}">
                <a16:creationId xmlns:a16="http://schemas.microsoft.com/office/drawing/2014/main" id="{7881EF80-1F09-4CAD-837B-CC7F357A078C}"/>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Phân tích chất lượng bằng số đo</a:t>
            </a:r>
          </a:p>
        </p:txBody>
      </p:sp>
      <p:sp>
        <p:nvSpPr>
          <p:cNvPr id="3" name="Rectangle 2">
            <a:extLst>
              <a:ext uri="{FF2B5EF4-FFF2-40B4-BE49-F238E27FC236}">
                <a16:creationId xmlns:a16="http://schemas.microsoft.com/office/drawing/2014/main" id="{CE62204A-BFC7-41EB-B16B-C4BB93584BB0}"/>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04</a:t>
            </a:r>
          </a:p>
        </p:txBody>
      </p:sp>
      <p:sp>
        <p:nvSpPr>
          <p:cNvPr id="4" name="Rectangle 3">
            <a:extLst>
              <a:ext uri="{FF2B5EF4-FFF2-40B4-BE49-F238E27FC236}">
                <a16:creationId xmlns:a16="http://schemas.microsoft.com/office/drawing/2014/main" id="{026647B3-2E3E-4A82-84BD-2169DA25B167}"/>
              </a:ext>
            </a:extLst>
          </p:cNvPr>
          <p:cNvSpPr>
            <a:spLocks noGrp="1"/>
          </p:cNvSpPr>
          <p:nvPr/>
        </p:nvSpPr>
        <p:spPr>
          <a:xfrm>
            <a:off x="609600" y="1676400"/>
            <a:ext cx="3048000" cy="1219200"/>
          </a:xfrm>
          <a:prstGeom prst="rect">
            <a:avLst/>
          </a:prstGeom>
          <a:solidFill>
            <a:srgbClr val="EBEFF2"/>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Ảnh hiện tại</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RGB uint8</a:t>
            </a:r>
          </a:p>
        </p:txBody>
      </p:sp>
      <p:sp>
        <p:nvSpPr>
          <p:cNvPr id="5" name="Rectangle 4">
            <a:extLst>
              <a:ext uri="{FF2B5EF4-FFF2-40B4-BE49-F238E27FC236}">
                <a16:creationId xmlns:a16="http://schemas.microsoft.com/office/drawing/2014/main" id="{930021E2-D059-4269-898D-E184DE869C63}"/>
              </a:ext>
            </a:extLst>
          </p:cNvPr>
          <p:cNvSpPr>
            <a:spLocks noGrp="1"/>
          </p:cNvSpPr>
          <p:nvPr/>
        </p:nvSpPr>
        <p:spPr>
          <a:xfrm>
            <a:off x="4572000" y="1676400"/>
            <a:ext cx="3048000" cy="12192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Measurement</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Đo ảnh và tile 64 px</a:t>
            </a:r>
          </a:p>
        </p:txBody>
      </p:sp>
      <p:sp>
        <p:nvSpPr>
          <p:cNvPr id="6" name="Rectangle 5">
            <a:extLst>
              <a:ext uri="{FF2B5EF4-FFF2-40B4-BE49-F238E27FC236}">
                <a16:creationId xmlns:a16="http://schemas.microsoft.com/office/drawing/2014/main" id="{8DDEF9FC-F0A4-4710-A136-694ADDB11968}"/>
              </a:ext>
            </a:extLst>
          </p:cNvPr>
          <p:cNvSpPr>
            <a:spLocks noGrp="1"/>
          </p:cNvSpPr>
          <p:nvPr/>
        </p:nvSpPr>
        <p:spPr>
          <a:xfrm>
            <a:off x="8534400" y="1676400"/>
            <a:ext cx="3048000" cy="12192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Calibration</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Mức lỗi 0–3</a:t>
            </a:r>
          </a:p>
        </p:txBody>
      </p:sp>
      <p:sp>
        <p:nvSpPr>
          <p:cNvPr id="9" name="Rectangle 8">
            <a:extLst>
              <a:ext uri="{FF2B5EF4-FFF2-40B4-BE49-F238E27FC236}">
                <a16:creationId xmlns:a16="http://schemas.microsoft.com/office/drawing/2014/main" id="{3F5FB8F5-AA7C-46EC-9CE9-12D6922CCA9E}"/>
              </a:ext>
            </a:extLst>
          </p:cNvPr>
          <p:cNvSpPr>
            <a:spLocks noGrp="1"/>
          </p:cNvSpPr>
          <p:nvPr/>
        </p:nvSpPr>
        <p:spPr>
          <a:xfrm>
            <a:off x="609600" y="3476625"/>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Độ sáng và clipping</a:t>
            </a:r>
          </a:p>
        </p:txBody>
      </p:sp>
      <p:sp>
        <p:nvSpPr>
          <p:cNvPr id="10" name="Rectangle 9">
            <a:extLst>
              <a:ext uri="{FF2B5EF4-FFF2-40B4-BE49-F238E27FC236}">
                <a16:creationId xmlns:a16="http://schemas.microsoft.com/office/drawing/2014/main" id="{FD087C82-6E1A-44DA-A5A6-B92BD943981F}"/>
              </a:ext>
            </a:extLst>
          </p:cNvPr>
          <p:cNvSpPr>
            <a:spLocks noGrp="1"/>
          </p:cNvSpPr>
          <p:nvPr/>
        </p:nvSpPr>
        <p:spPr>
          <a:xfrm>
            <a:off x="609600" y="3914775"/>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L* và tỷ lệ điểm bị cắt sáng / tối</a:t>
            </a:r>
          </a:p>
        </p:txBody>
      </p:sp>
      <p:sp>
        <p:nvSpPr>
          <p:cNvPr id="11" name="Rectangle 10">
            <a:extLst>
              <a:ext uri="{FF2B5EF4-FFF2-40B4-BE49-F238E27FC236}">
                <a16:creationId xmlns:a16="http://schemas.microsoft.com/office/drawing/2014/main" id="{462E144B-5EEF-4A14-84E6-D737C137CF66}"/>
              </a:ext>
            </a:extLst>
          </p:cNvPr>
          <p:cNvSpPr>
            <a:spLocks noGrp="1"/>
          </p:cNvSpPr>
          <p:nvPr/>
        </p:nvSpPr>
        <p:spPr>
          <a:xfrm>
            <a:off x="6343650" y="3476625"/>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Nhiễu</a:t>
            </a:r>
          </a:p>
        </p:txBody>
      </p:sp>
      <p:sp>
        <p:nvSpPr>
          <p:cNvPr id="12" name="Rectangle 11">
            <a:extLst>
              <a:ext uri="{FF2B5EF4-FFF2-40B4-BE49-F238E27FC236}">
                <a16:creationId xmlns:a16="http://schemas.microsoft.com/office/drawing/2014/main" id="{FF61AD9E-0B66-44F5-850F-3E92E66A864C}"/>
              </a:ext>
            </a:extLst>
          </p:cNvPr>
          <p:cNvSpPr>
            <a:spLocks noGrp="1"/>
          </p:cNvSpPr>
          <p:nvPr/>
        </p:nvSpPr>
        <p:spPr>
          <a:xfrm>
            <a:off x="6343650" y="3914775"/>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Ước lượng trên vùng ít cấu trúc</a:t>
            </a:r>
          </a:p>
        </p:txBody>
      </p:sp>
      <p:sp>
        <p:nvSpPr>
          <p:cNvPr id="13" name="Rectangle 12">
            <a:extLst>
              <a:ext uri="{FF2B5EF4-FFF2-40B4-BE49-F238E27FC236}">
                <a16:creationId xmlns:a16="http://schemas.microsoft.com/office/drawing/2014/main" id="{E5C5519A-09C4-4AC5-AC9D-6B8945A2E6F9}"/>
              </a:ext>
            </a:extLst>
          </p:cNvPr>
          <p:cNvSpPr>
            <a:spLocks noGrp="1"/>
          </p:cNvSpPr>
          <p:nvPr/>
        </p:nvSpPr>
        <p:spPr>
          <a:xfrm>
            <a:off x="609600" y="4867275"/>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Độ nét</a:t>
            </a:r>
          </a:p>
        </p:txBody>
      </p:sp>
      <p:sp>
        <p:nvSpPr>
          <p:cNvPr id="14" name="Rectangle 13">
            <a:extLst>
              <a:ext uri="{FF2B5EF4-FFF2-40B4-BE49-F238E27FC236}">
                <a16:creationId xmlns:a16="http://schemas.microsoft.com/office/drawing/2014/main" id="{05CFF56B-0150-47A0-8790-C0F90A47E9E1}"/>
              </a:ext>
            </a:extLst>
          </p:cNvPr>
          <p:cNvSpPr>
            <a:spLocks noGrp="1"/>
          </p:cNvSpPr>
          <p:nvPr/>
        </p:nvSpPr>
        <p:spPr>
          <a:xfrm>
            <a:off x="609600" y="5305425"/>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Bề rộng biên, defocus, Laplacian</a:t>
            </a:r>
          </a:p>
        </p:txBody>
      </p:sp>
      <p:sp>
        <p:nvSpPr>
          <p:cNvPr id="15" name="Rectangle 14">
            <a:extLst>
              <a:ext uri="{FF2B5EF4-FFF2-40B4-BE49-F238E27FC236}">
                <a16:creationId xmlns:a16="http://schemas.microsoft.com/office/drawing/2014/main" id="{5CC32F32-EFF5-4D9B-AE43-24670D4BF065}"/>
              </a:ext>
            </a:extLst>
          </p:cNvPr>
          <p:cNvSpPr>
            <a:spLocks noGrp="1"/>
          </p:cNvSpPr>
          <p:nvPr/>
        </p:nvSpPr>
        <p:spPr>
          <a:xfrm>
            <a:off x="6343650" y="4867275"/>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Màu và tương phản</a:t>
            </a:r>
          </a:p>
        </p:txBody>
      </p:sp>
      <p:sp>
        <p:nvSpPr>
          <p:cNvPr id="16" name="Rectangle 15">
            <a:extLst>
              <a:ext uri="{FF2B5EF4-FFF2-40B4-BE49-F238E27FC236}">
                <a16:creationId xmlns:a16="http://schemas.microsoft.com/office/drawing/2014/main" id="{50BEF310-C1E1-4E2A-99E1-CC110E16523E}"/>
              </a:ext>
            </a:extLst>
          </p:cNvPr>
          <p:cNvSpPr>
            <a:spLocks noGrp="1"/>
          </p:cNvSpPr>
          <p:nvPr/>
        </p:nvSpPr>
        <p:spPr>
          <a:xfrm>
            <a:off x="6343650" y="5305425"/>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Chroma, nguồn sáng, phân bố cường độ</a:t>
            </a:r>
          </a:p>
        </p:txBody>
      </p:sp>
      <p:sp>
        <p:nvSpPr>
          <p:cNvPr id="17" name="Rectangle 16">
            <a:extLst>
              <a:ext uri="{FF2B5EF4-FFF2-40B4-BE49-F238E27FC236}">
                <a16:creationId xmlns:a16="http://schemas.microsoft.com/office/drawing/2014/main" id="{61813523-90A5-4542-A46D-41CF9BE485B7}"/>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Đầu ra: số đo kỹ thuật và mức độ lỗi. VLM diễn giải ý nghĩa ngữ cảnh ở Module 4.</a:t>
            </a:r>
          </a:p>
        </p:txBody>
      </p:sp>
    </p:spTree>
    <p:extLst>
      <p:ext uri="{BB962C8B-B14F-4D97-AF65-F5344CB8AC3E}">
        <p14:creationId xmlns:p14="http://schemas.microsoft.com/office/powerpoint/2010/main" val="156749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50C688-3A13-491D-94D6-59029E8A0A8A}"/>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1  PHÂN TÍCH VÀ ĐÁNH GIÁ</a:t>
            </a:r>
          </a:p>
        </p:txBody>
      </p:sp>
      <p:sp>
        <p:nvSpPr>
          <p:cNvPr id="2" name="Rectangle 1">
            <a:extLst>
              <a:ext uri="{FF2B5EF4-FFF2-40B4-BE49-F238E27FC236}">
                <a16:creationId xmlns:a16="http://schemas.microsoft.com/office/drawing/2014/main" id="{971FA33B-183C-49C7-84EF-73D261580030}"/>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Đánh giá ảnh sau xử lý</a:t>
            </a:r>
          </a:p>
        </p:txBody>
      </p:sp>
      <p:sp>
        <p:nvSpPr>
          <p:cNvPr id="3" name="Rectangle 2">
            <a:extLst>
              <a:ext uri="{FF2B5EF4-FFF2-40B4-BE49-F238E27FC236}">
                <a16:creationId xmlns:a16="http://schemas.microsoft.com/office/drawing/2014/main" id="{015D0004-0004-4E31-9813-A8671BE159E9}"/>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05</a:t>
            </a:r>
          </a:p>
        </p:txBody>
      </p:sp>
      <p:sp>
        <p:nvSpPr>
          <p:cNvPr id="4" name="Rectangle 3">
            <a:extLst>
              <a:ext uri="{FF2B5EF4-FFF2-40B4-BE49-F238E27FC236}">
                <a16:creationId xmlns:a16="http://schemas.microsoft.com/office/drawing/2014/main" id="{8ABE43E2-2F81-4446-885E-6D1D7EDDD1DA}"/>
              </a:ext>
            </a:extLst>
          </p:cNvPr>
          <p:cNvSpPr>
            <a:spLocks noGrp="1"/>
          </p:cNvSpPr>
          <p:nvPr/>
        </p:nvSpPr>
        <p:spPr>
          <a:xfrm>
            <a:off x="609600" y="1762125"/>
            <a:ext cx="4933950" cy="15240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Có ảnh chuẩn</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MSE, PSNR và SSIM</a:t>
            </a:r>
            <a:br>
              <a:rPr sz="1800">
                <a:solidFill>
                  <a:srgbClr val="192F43"/>
                </a:solidFill>
                <a:latin typeface="Arial"/>
                <a:ea typeface="Arial"/>
                <a:cs typeface="Arial"/>
              </a:rPr>
            </a:br>
            <a:r>
              <a:rPr sz="1800">
                <a:solidFill>
                  <a:srgbClr val="192F43"/>
                </a:solidFill>
                <a:latin typeface="Arial"/>
                <a:ea typeface="Arial"/>
                <a:cs typeface="Arial"/>
              </a:rPr>
              <a:t>Dữ liệu tổng hợp</a:t>
            </a:r>
          </a:p>
        </p:txBody>
      </p:sp>
      <p:sp>
        <p:nvSpPr>
          <p:cNvPr id="5" name="Rectangle 4">
            <a:extLst>
              <a:ext uri="{FF2B5EF4-FFF2-40B4-BE49-F238E27FC236}">
                <a16:creationId xmlns:a16="http://schemas.microsoft.com/office/drawing/2014/main" id="{14B0530F-065D-47E2-92FF-7F83D530F7B8}"/>
              </a:ext>
            </a:extLst>
          </p:cNvPr>
          <p:cNvSpPr>
            <a:spLocks noGrp="1"/>
          </p:cNvSpPr>
          <p:nvPr/>
        </p:nvSpPr>
        <p:spPr>
          <a:xfrm>
            <a:off x="6648450" y="1762125"/>
            <a:ext cx="4933950" cy="1524000"/>
          </a:xfrm>
          <a:prstGeom prst="rect">
            <a:avLst/>
          </a:prstGeom>
          <a:solidFill>
            <a:srgbClr val="F9EFDF"/>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Ảnh thật</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Heuristic, lỗi theo vùng</a:t>
            </a:r>
            <a:br>
              <a:rPr sz="1800">
                <a:solidFill>
                  <a:srgbClr val="192F43"/>
                </a:solidFill>
                <a:latin typeface="Arial"/>
                <a:ea typeface="Arial"/>
                <a:cs typeface="Arial"/>
              </a:rPr>
            </a:br>
            <a:r>
              <a:rPr sz="1800">
                <a:solidFill>
                  <a:srgbClr val="192F43"/>
                </a:solidFill>
                <a:latin typeface="Arial"/>
                <a:ea typeface="Arial"/>
                <a:cs typeface="Arial"/>
              </a:rPr>
              <a:t>BRISQUE / NIQE nếu có</a:t>
            </a:r>
          </a:p>
        </p:txBody>
      </p:sp>
      <p:sp>
        <p:nvSpPr>
          <p:cNvPr id="6" name="Rectangle 5">
            <a:extLst>
              <a:ext uri="{FF2B5EF4-FFF2-40B4-BE49-F238E27FC236}">
                <a16:creationId xmlns:a16="http://schemas.microsoft.com/office/drawing/2014/main" id="{A5777C3E-6666-4954-873D-BCEB6A42F516}"/>
              </a:ext>
            </a:extLst>
          </p:cNvPr>
          <p:cNvSpPr>
            <a:spLocks noGrp="1"/>
          </p:cNvSpPr>
          <p:nvPr/>
        </p:nvSpPr>
        <p:spPr>
          <a:xfrm>
            <a:off x="609600" y="3971925"/>
            <a:ext cx="10858500" cy="485775"/>
          </a:xfrm>
          <a:prstGeom prst="rect">
            <a:avLst/>
          </a:prstGeom>
          <a:noFill/>
          <a:ln w="0">
            <a:noFill/>
          </a:ln>
        </p:spPr>
        <p:txBody>
          <a:bodyPr wrap="square" lIns="0" tIns="0" rIns="0" bIns="0" anchor="t">
            <a:noAutofit/>
          </a:bodyPr>
          <a:lstStyle>
            <a:defPPr algn="l">
              <a:defRPr sz="2475" b="1">
                <a:solidFill>
                  <a:srgbClr val="267C83"/>
                </a:solidFill>
                <a:latin typeface="Arial"/>
                <a:ea typeface="Arial"/>
                <a:cs typeface="Arial"/>
              </a:defRPr>
            </a:defPPr>
            <a:lvl1pPr algn="l">
              <a:defRPr sz="2475" b="1">
                <a:solidFill>
                  <a:srgbClr val="267C83"/>
                </a:solidFill>
                <a:latin typeface="Arial"/>
                <a:ea typeface="Arial"/>
                <a:cs typeface="Arial"/>
              </a:defRPr>
            </a:lvl1pPr>
            <a:lvl2pPr algn="l">
              <a:defRPr sz="2475" b="1">
                <a:solidFill>
                  <a:srgbClr val="267C83"/>
                </a:solidFill>
                <a:latin typeface="Arial"/>
                <a:ea typeface="Arial"/>
                <a:cs typeface="Arial"/>
              </a:defRPr>
            </a:lvl2pPr>
            <a:lvl3pPr algn="l">
              <a:defRPr sz="2475" b="1">
                <a:solidFill>
                  <a:srgbClr val="267C83"/>
                </a:solidFill>
                <a:latin typeface="Arial"/>
                <a:ea typeface="Arial"/>
                <a:cs typeface="Arial"/>
              </a:defRPr>
            </a:lvl3pPr>
            <a:lvl4pPr algn="l">
              <a:defRPr sz="2475" b="1">
                <a:solidFill>
                  <a:srgbClr val="267C83"/>
                </a:solidFill>
                <a:latin typeface="Arial"/>
                <a:ea typeface="Arial"/>
                <a:cs typeface="Arial"/>
              </a:defRPr>
            </a:lvl4pPr>
            <a:lvl5pPr algn="l">
              <a:defRPr sz="2475" b="1">
                <a:solidFill>
                  <a:srgbClr val="267C83"/>
                </a:solidFill>
                <a:latin typeface="Arial"/>
                <a:ea typeface="Arial"/>
                <a:cs typeface="Arial"/>
              </a:defRPr>
            </a:lvl5pPr>
            <a:lvl6pPr algn="l">
              <a:defRPr sz="2475" b="1">
                <a:solidFill>
                  <a:srgbClr val="267C83"/>
                </a:solidFill>
                <a:latin typeface="Arial"/>
                <a:ea typeface="Arial"/>
                <a:cs typeface="Arial"/>
              </a:defRPr>
            </a:lvl6pPr>
            <a:lvl7pPr algn="l">
              <a:defRPr sz="2475" b="1">
                <a:solidFill>
                  <a:srgbClr val="267C83"/>
                </a:solidFill>
                <a:latin typeface="Arial"/>
                <a:ea typeface="Arial"/>
                <a:cs typeface="Arial"/>
              </a:defRPr>
            </a:lvl7pPr>
            <a:lvl8pPr algn="l">
              <a:defRPr sz="2475" b="1">
                <a:solidFill>
                  <a:srgbClr val="267C83"/>
                </a:solidFill>
                <a:latin typeface="Arial"/>
                <a:ea typeface="Arial"/>
                <a:cs typeface="Arial"/>
              </a:defRPr>
            </a:lvl8pPr>
            <a:lvl9pPr algn="l">
              <a:defRPr sz="2475" b="1">
                <a:solidFill>
                  <a:srgbClr val="267C83"/>
                </a:solidFill>
                <a:latin typeface="Arial"/>
                <a:ea typeface="Arial"/>
                <a:cs typeface="Arial"/>
              </a:defRPr>
            </a:lvl9pPr>
          </a:lstStyle>
          <a:p>
            <a:pPr algn="l">
              <a:lnSpc>
                <a:spcPct val="107000"/>
              </a:lnSpc>
              <a:buNone/>
              <a:defRPr sz="2475" b="1">
                <a:solidFill>
                  <a:srgbClr val="267C83"/>
                </a:solidFill>
                <a:latin typeface="Arial"/>
                <a:ea typeface="Arial"/>
                <a:cs typeface="Arial"/>
              </a:defRPr>
            </a:pPr>
            <a:r>
              <a:rPr sz="2475" b="1">
                <a:solidFill>
                  <a:srgbClr val="267C83"/>
                </a:solidFill>
                <a:latin typeface="Arial"/>
                <a:ea typeface="Arial"/>
                <a:cs typeface="Arial"/>
              </a:rPr>
              <a:t>Đánh giá tạo bằng chứng cho quyết định dừng</a:t>
            </a:r>
          </a:p>
        </p:txBody>
      </p:sp>
      <p:sp>
        <p:nvSpPr>
          <p:cNvPr id="7" name="Rectangle 6">
            <a:extLst>
              <a:ext uri="{FF2B5EF4-FFF2-40B4-BE49-F238E27FC236}">
                <a16:creationId xmlns:a16="http://schemas.microsoft.com/office/drawing/2014/main" id="{E65FD83C-A63B-4122-80AE-ACB59054F781}"/>
              </a:ext>
            </a:extLst>
          </p:cNvPr>
          <p:cNvSpPr>
            <a:spLocks noGrp="1"/>
          </p:cNvSpPr>
          <p:nvPr/>
        </p:nvSpPr>
        <p:spPr>
          <a:xfrm>
            <a:off x="609600" y="4667250"/>
            <a:ext cx="10763250" cy="857250"/>
          </a:xfrm>
          <a:prstGeom prst="rect">
            <a:avLst/>
          </a:prstGeom>
          <a:noFill/>
          <a:ln w="0">
            <a:noFill/>
          </a:ln>
        </p:spPr>
        <p:txBody>
          <a:bodyPr wrap="square" lIns="0" tIns="0" rIns="0" bIns="0" anchor="t">
            <a:noAutofit/>
          </a:bodyPr>
          <a:lstStyle>
            <a:defPPr algn="l">
              <a:defRPr sz="2175" b="0">
                <a:solidFill>
                  <a:srgbClr val="192F43"/>
                </a:solidFill>
                <a:latin typeface="Arial"/>
                <a:ea typeface="Arial"/>
                <a:cs typeface="Arial"/>
              </a:defRPr>
            </a:defPPr>
            <a:lvl1pPr algn="l">
              <a:defRPr sz="2175" b="0">
                <a:solidFill>
                  <a:srgbClr val="192F43"/>
                </a:solidFill>
                <a:latin typeface="Arial"/>
                <a:ea typeface="Arial"/>
                <a:cs typeface="Arial"/>
              </a:defRPr>
            </a:lvl1pPr>
            <a:lvl2pPr algn="l">
              <a:defRPr sz="2175" b="0">
                <a:solidFill>
                  <a:srgbClr val="192F43"/>
                </a:solidFill>
                <a:latin typeface="Arial"/>
                <a:ea typeface="Arial"/>
                <a:cs typeface="Arial"/>
              </a:defRPr>
            </a:lvl2pPr>
            <a:lvl3pPr algn="l">
              <a:defRPr sz="2175" b="0">
                <a:solidFill>
                  <a:srgbClr val="192F43"/>
                </a:solidFill>
                <a:latin typeface="Arial"/>
                <a:ea typeface="Arial"/>
                <a:cs typeface="Arial"/>
              </a:defRPr>
            </a:lvl3pPr>
            <a:lvl4pPr algn="l">
              <a:defRPr sz="2175" b="0">
                <a:solidFill>
                  <a:srgbClr val="192F43"/>
                </a:solidFill>
                <a:latin typeface="Arial"/>
                <a:ea typeface="Arial"/>
                <a:cs typeface="Arial"/>
              </a:defRPr>
            </a:lvl4pPr>
            <a:lvl5pPr algn="l">
              <a:defRPr sz="2175" b="0">
                <a:solidFill>
                  <a:srgbClr val="192F43"/>
                </a:solidFill>
                <a:latin typeface="Arial"/>
                <a:ea typeface="Arial"/>
                <a:cs typeface="Arial"/>
              </a:defRPr>
            </a:lvl5pPr>
            <a:lvl6pPr algn="l">
              <a:defRPr sz="2175" b="0">
                <a:solidFill>
                  <a:srgbClr val="192F43"/>
                </a:solidFill>
                <a:latin typeface="Arial"/>
                <a:ea typeface="Arial"/>
                <a:cs typeface="Arial"/>
              </a:defRPr>
            </a:lvl6pPr>
            <a:lvl7pPr algn="l">
              <a:defRPr sz="2175" b="0">
                <a:solidFill>
                  <a:srgbClr val="192F43"/>
                </a:solidFill>
                <a:latin typeface="Arial"/>
                <a:ea typeface="Arial"/>
                <a:cs typeface="Arial"/>
              </a:defRPr>
            </a:lvl7pPr>
            <a:lvl8pPr algn="l">
              <a:defRPr sz="2175" b="0">
                <a:solidFill>
                  <a:srgbClr val="192F43"/>
                </a:solidFill>
                <a:latin typeface="Arial"/>
                <a:ea typeface="Arial"/>
                <a:cs typeface="Arial"/>
              </a:defRPr>
            </a:lvl8pPr>
            <a:lvl9pPr algn="l">
              <a:defRPr sz="2175" b="0">
                <a:solidFill>
                  <a:srgbClr val="192F43"/>
                </a:solidFill>
                <a:latin typeface="Arial"/>
                <a:ea typeface="Arial"/>
                <a:cs typeface="Arial"/>
              </a:defRPr>
            </a:lvl9pPr>
          </a:lstStyle>
          <a:p>
            <a:pPr algn="l">
              <a:lnSpc>
                <a:spcPct val="107000"/>
              </a:lnSpc>
              <a:buNone/>
              <a:defRPr sz="2175" b="0">
                <a:solidFill>
                  <a:srgbClr val="192F43"/>
                </a:solidFill>
                <a:latin typeface="Arial"/>
                <a:ea typeface="Arial"/>
                <a:cs typeface="Arial"/>
              </a:defRPr>
            </a:pPr>
            <a:r>
              <a:rPr sz="2175" b="0">
                <a:solidFill>
                  <a:srgbClr val="192F43"/>
                </a:solidFill>
                <a:latin typeface="Arial"/>
                <a:ea typeface="Arial"/>
                <a:cs typeface="Arial"/>
              </a:rPr>
              <a:t>PSNR / SSIM cần ground truth phù hợp</a:t>
            </a:r>
          </a:p>
          <a:p>
            <a:pPr algn="l">
              <a:lnSpc>
                <a:spcPct val="107000"/>
              </a:lnSpc>
              <a:buNone/>
              <a:defRPr sz="2175" b="0">
                <a:solidFill>
                  <a:srgbClr val="192F43"/>
                </a:solidFill>
                <a:latin typeface="Arial"/>
                <a:ea typeface="Arial"/>
                <a:cs typeface="Arial"/>
              </a:defRPr>
            </a:pPr>
            <a:r>
              <a:rPr sz="2175" b="0">
                <a:solidFill>
                  <a:srgbClr val="192F43"/>
                </a:solidFill>
                <a:latin typeface="Arial"/>
                <a:ea typeface="Arial"/>
                <a:cs typeface="Arial"/>
              </a:rPr>
              <a:t>Score 0–100 là điểm ước lượng nội bộ</a:t>
            </a:r>
          </a:p>
        </p:txBody>
      </p:sp>
      <p:sp>
        <p:nvSpPr>
          <p:cNvPr id="8" name="Rectangle 7">
            <a:extLst>
              <a:ext uri="{FF2B5EF4-FFF2-40B4-BE49-F238E27FC236}">
                <a16:creationId xmlns:a16="http://schemas.microsoft.com/office/drawing/2014/main" id="{EFEB9231-6FB3-4921-BAAD-572191E1AD9E}"/>
              </a:ext>
            </a:extLst>
          </p:cNvPr>
          <p:cNvSpPr>
            <a:spLocks noGrp="1"/>
          </p:cNvSpPr>
          <p:nvPr/>
        </p:nvSpPr>
        <p:spPr>
          <a:xfrm>
            <a:off x="609600" y="5848350"/>
            <a:ext cx="10972800" cy="409575"/>
          </a:xfrm>
          <a:prstGeom prst="rect">
            <a:avLst/>
          </a:prstGeom>
          <a:noFill/>
          <a:ln w="0">
            <a:noFill/>
          </a:ln>
        </p:spPr>
        <p:txBody>
          <a:bodyPr wrap="square" lIns="0" tIns="0" rIns="0" bIns="0" anchor="t">
            <a:noAutofit/>
          </a:bodyPr>
          <a:lstStyle>
            <a:defPPr algn="l">
              <a:defRPr sz="1875" b="1">
                <a:solidFill>
                  <a:srgbClr val="267C83"/>
                </a:solidFill>
                <a:latin typeface="Arial"/>
                <a:ea typeface="Arial"/>
                <a:cs typeface="Arial"/>
              </a:defRPr>
            </a:defPPr>
            <a:lvl1pPr algn="l">
              <a:defRPr sz="1875" b="1">
                <a:solidFill>
                  <a:srgbClr val="267C83"/>
                </a:solidFill>
                <a:latin typeface="Arial"/>
                <a:ea typeface="Arial"/>
                <a:cs typeface="Arial"/>
              </a:defRPr>
            </a:lvl1pPr>
            <a:lvl2pPr algn="l">
              <a:defRPr sz="1875" b="1">
                <a:solidFill>
                  <a:srgbClr val="267C83"/>
                </a:solidFill>
                <a:latin typeface="Arial"/>
                <a:ea typeface="Arial"/>
                <a:cs typeface="Arial"/>
              </a:defRPr>
            </a:lvl2pPr>
            <a:lvl3pPr algn="l">
              <a:defRPr sz="1875" b="1">
                <a:solidFill>
                  <a:srgbClr val="267C83"/>
                </a:solidFill>
                <a:latin typeface="Arial"/>
                <a:ea typeface="Arial"/>
                <a:cs typeface="Arial"/>
              </a:defRPr>
            </a:lvl3pPr>
            <a:lvl4pPr algn="l">
              <a:defRPr sz="1875" b="1">
                <a:solidFill>
                  <a:srgbClr val="267C83"/>
                </a:solidFill>
                <a:latin typeface="Arial"/>
                <a:ea typeface="Arial"/>
                <a:cs typeface="Arial"/>
              </a:defRPr>
            </a:lvl4pPr>
            <a:lvl5pPr algn="l">
              <a:defRPr sz="1875" b="1">
                <a:solidFill>
                  <a:srgbClr val="267C83"/>
                </a:solidFill>
                <a:latin typeface="Arial"/>
                <a:ea typeface="Arial"/>
                <a:cs typeface="Arial"/>
              </a:defRPr>
            </a:lvl5pPr>
            <a:lvl6pPr algn="l">
              <a:defRPr sz="1875" b="1">
                <a:solidFill>
                  <a:srgbClr val="267C83"/>
                </a:solidFill>
                <a:latin typeface="Arial"/>
                <a:ea typeface="Arial"/>
                <a:cs typeface="Arial"/>
              </a:defRPr>
            </a:lvl6pPr>
            <a:lvl7pPr algn="l">
              <a:defRPr sz="1875" b="1">
                <a:solidFill>
                  <a:srgbClr val="267C83"/>
                </a:solidFill>
                <a:latin typeface="Arial"/>
                <a:ea typeface="Arial"/>
                <a:cs typeface="Arial"/>
              </a:defRPr>
            </a:lvl7pPr>
            <a:lvl8pPr algn="l">
              <a:defRPr sz="1875" b="1">
                <a:solidFill>
                  <a:srgbClr val="267C83"/>
                </a:solidFill>
                <a:latin typeface="Arial"/>
                <a:ea typeface="Arial"/>
                <a:cs typeface="Arial"/>
              </a:defRPr>
            </a:lvl8pPr>
            <a:lvl9pPr algn="l">
              <a:defRPr sz="1875" b="1">
                <a:solidFill>
                  <a:srgbClr val="267C83"/>
                </a:solidFill>
                <a:latin typeface="Arial"/>
                <a:ea typeface="Arial"/>
                <a:cs typeface="Arial"/>
              </a:defRPr>
            </a:lvl9pPr>
          </a:lstStyle>
          <a:p>
            <a:pPr algn="l">
              <a:lnSpc>
                <a:spcPct val="107000"/>
              </a:lnSpc>
              <a:buNone/>
              <a:defRPr sz="1875" b="1">
                <a:solidFill>
                  <a:srgbClr val="267C83"/>
                </a:solidFill>
                <a:latin typeface="Arial"/>
                <a:ea typeface="Arial"/>
                <a:cs typeface="Arial"/>
              </a:defRPr>
            </a:pPr>
            <a:r>
              <a:rPr sz="1875" b="1">
                <a:solidFill>
                  <a:srgbClr val="267C83"/>
                </a:solidFill>
                <a:latin typeface="Arial"/>
                <a:ea typeface="Arial"/>
                <a:cs typeface="Arial"/>
              </a:rPr>
              <a:t>Tiếp theo: Module 2 xác định vùng cần chỉnh</a:t>
            </a:r>
          </a:p>
        </p:txBody>
      </p:sp>
      <p:sp>
        <p:nvSpPr>
          <p:cNvPr id="9" name="Rectangle 8">
            <a:extLst>
              <a:ext uri="{FF2B5EF4-FFF2-40B4-BE49-F238E27FC236}">
                <a16:creationId xmlns:a16="http://schemas.microsoft.com/office/drawing/2014/main" id="{50F422D2-06BB-4F0B-B0B2-05239C36C62A}"/>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Hợp đồng bàn giao: ảnh và số đo. Quyết định tiếp tục, rollback thuộc graph điều phối.</a:t>
            </a:r>
          </a:p>
        </p:txBody>
      </p:sp>
    </p:spTree>
    <p:extLst>
      <p:ext uri="{BB962C8B-B14F-4D97-AF65-F5344CB8AC3E}">
        <p14:creationId xmlns:p14="http://schemas.microsoft.com/office/powerpoint/2010/main" val="180598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B106EC1F-2B61-413B-AF7A-8ACCFBF3F682}"/>
              </a:ext>
            </a:extLst>
          </p:cNvPr>
          <p:cNvCxnSpPr>
            <a:stCxn id="5" idx="3"/>
            <a:endCxn id="6" idx="1"/>
          </p:cNvCxnSpPr>
          <p:nvPr/>
        </p:nvCxnSpPr>
        <p:spPr>
          <a:xfrm>
            <a:off x="7620000" y="2562225"/>
            <a:ext cx="914400" cy="0"/>
          </a:xfrm>
          <a:prstGeom prst="straightConnector1">
            <a:avLst/>
          </a:prstGeom>
          <a:ln w="19050">
            <a:solidFill>
              <a:srgbClr val="617E8F"/>
            </a:solidFill>
            <a:tailEnd type="triangle" w="med" len="med"/>
          </a:ln>
        </p:spPr>
      </p:cxnSp>
      <p:cxnSp>
        <p:nvCxnSpPr>
          <p:cNvPr id="7" name="Straight Arrow Connector 6">
            <a:extLst>
              <a:ext uri="{FF2B5EF4-FFF2-40B4-BE49-F238E27FC236}">
                <a16:creationId xmlns:a16="http://schemas.microsoft.com/office/drawing/2014/main" id="{47799B26-46FC-4172-B607-C0082D71662B}"/>
              </a:ext>
            </a:extLst>
          </p:cNvPr>
          <p:cNvCxnSpPr>
            <a:stCxn id="4" idx="3"/>
            <a:endCxn id="5" idx="1"/>
          </p:cNvCxnSpPr>
          <p:nvPr/>
        </p:nvCxnSpPr>
        <p:spPr>
          <a:xfrm>
            <a:off x="3657600" y="2562225"/>
            <a:ext cx="914400" cy="0"/>
          </a:xfrm>
          <a:prstGeom prst="straightConnector1">
            <a:avLst/>
          </a:prstGeom>
          <a:ln w="19050">
            <a:solidFill>
              <a:srgbClr val="617E8F"/>
            </a:solidFill>
            <a:tailEnd type="triangle" w="med" len="med"/>
          </a:ln>
        </p:spPr>
      </p:cxnSp>
      <p:sp>
        <p:nvSpPr>
          <p:cNvPr id="12" name="Rectangle 11">
            <a:extLst>
              <a:ext uri="{FF2B5EF4-FFF2-40B4-BE49-F238E27FC236}">
                <a16:creationId xmlns:a16="http://schemas.microsoft.com/office/drawing/2014/main" id="{1159D245-5782-4FD9-8F38-582F5C3D16CD}"/>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2  VÙNG VÀ MẶT NẠ</a:t>
            </a:r>
          </a:p>
        </p:txBody>
      </p:sp>
      <p:sp>
        <p:nvSpPr>
          <p:cNvPr id="2" name="Rectangle 1">
            <a:extLst>
              <a:ext uri="{FF2B5EF4-FFF2-40B4-BE49-F238E27FC236}">
                <a16:creationId xmlns:a16="http://schemas.microsoft.com/office/drawing/2014/main" id="{A8315555-DA1A-4AEB-B339-F59FCA886C60}"/>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Yêu cầu vùng được chuyển thành mask</a:t>
            </a:r>
          </a:p>
        </p:txBody>
      </p:sp>
      <p:sp>
        <p:nvSpPr>
          <p:cNvPr id="3" name="Rectangle 2">
            <a:extLst>
              <a:ext uri="{FF2B5EF4-FFF2-40B4-BE49-F238E27FC236}">
                <a16:creationId xmlns:a16="http://schemas.microsoft.com/office/drawing/2014/main" id="{63D00EF0-F3A7-4DC5-82D2-4A9D9EDE4F6D}"/>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06</a:t>
            </a:r>
          </a:p>
        </p:txBody>
      </p:sp>
      <p:sp>
        <p:nvSpPr>
          <p:cNvPr id="4" name="Rectangle 3">
            <a:extLst>
              <a:ext uri="{FF2B5EF4-FFF2-40B4-BE49-F238E27FC236}">
                <a16:creationId xmlns:a16="http://schemas.microsoft.com/office/drawing/2014/main" id="{E03117C0-9FB0-46BA-AF4A-7BA77062D9FF}"/>
              </a:ext>
            </a:extLst>
          </p:cNvPr>
          <p:cNvSpPr>
            <a:spLocks noGrp="1"/>
          </p:cNvSpPr>
          <p:nvPr/>
        </p:nvSpPr>
        <p:spPr>
          <a:xfrm>
            <a:off x="609600" y="1819275"/>
            <a:ext cx="3048000" cy="14859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Yêu cầu vùng</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Tên vùng hoặc đối tượng</a:t>
            </a:r>
            <a:br>
              <a:rPr sz="1800">
                <a:solidFill>
                  <a:srgbClr val="192F43"/>
                </a:solidFill>
                <a:latin typeface="Arial"/>
                <a:ea typeface="Arial"/>
                <a:cs typeface="Arial"/>
              </a:rPr>
            </a:br>
            <a:r>
              <a:rPr sz="1800">
                <a:solidFill>
                  <a:srgbClr val="192F43"/>
                </a:solidFill>
                <a:latin typeface="Arial"/>
                <a:ea typeface="Arial"/>
                <a:cs typeface="Arial"/>
              </a:rPr>
              <a:t>Bbox tùy chọn</a:t>
            </a:r>
          </a:p>
        </p:txBody>
      </p:sp>
      <p:sp>
        <p:nvSpPr>
          <p:cNvPr id="5" name="Rectangle 4">
            <a:extLst>
              <a:ext uri="{FF2B5EF4-FFF2-40B4-BE49-F238E27FC236}">
                <a16:creationId xmlns:a16="http://schemas.microsoft.com/office/drawing/2014/main" id="{8B8EB2BA-0AA4-4F3C-A026-5E0D9DC2CAD4}"/>
              </a:ext>
            </a:extLst>
          </p:cNvPr>
          <p:cNvSpPr>
            <a:spLocks noGrp="1"/>
          </p:cNvSpPr>
          <p:nvPr/>
        </p:nvSpPr>
        <p:spPr>
          <a:xfrm>
            <a:off x="4572000" y="1819275"/>
            <a:ext cx="3048000" cy="14859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Region Engine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Chọn backend</a:t>
            </a:r>
            <a:br>
              <a:rPr sz="1800">
                <a:solidFill>
                  <a:srgbClr val="192F43"/>
                </a:solidFill>
                <a:latin typeface="Arial"/>
                <a:ea typeface="Arial"/>
                <a:cs typeface="Arial"/>
              </a:rPr>
            </a:br>
            <a:r>
              <a:rPr sz="1800">
                <a:solidFill>
                  <a:srgbClr val="192F43"/>
                </a:solidFill>
                <a:latin typeface="Arial"/>
                <a:ea typeface="Arial"/>
                <a:cs typeface="Arial"/>
              </a:rPr>
              <a:t>Tạo và làm mềm mask</a:t>
            </a:r>
          </a:p>
        </p:txBody>
      </p:sp>
      <p:sp>
        <p:nvSpPr>
          <p:cNvPr id="6" name="Rectangle 5">
            <a:extLst>
              <a:ext uri="{FF2B5EF4-FFF2-40B4-BE49-F238E27FC236}">
                <a16:creationId xmlns:a16="http://schemas.microsoft.com/office/drawing/2014/main" id="{314486E4-C6EA-4AFA-A928-CAF45BA9CF42}"/>
              </a:ext>
            </a:extLst>
          </p:cNvPr>
          <p:cNvSpPr>
            <a:spLocks noGrp="1"/>
          </p:cNvSpPr>
          <p:nvPr/>
        </p:nvSpPr>
        <p:spPr>
          <a:xfrm>
            <a:off x="8534400" y="1819275"/>
            <a:ext cx="3048000" cy="14859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Mask đầu ra</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float32 trong [0, 1]</a:t>
            </a:r>
            <a:br>
              <a:rPr sz="1800">
                <a:solidFill>
                  <a:srgbClr val="192F43"/>
                </a:solidFill>
                <a:latin typeface="Arial"/>
                <a:ea typeface="Arial"/>
                <a:cs typeface="Arial"/>
              </a:rPr>
            </a:br>
            <a:r>
              <a:rPr sz="1800">
                <a:solidFill>
                  <a:srgbClr val="192F43"/>
                </a:solidFill>
                <a:latin typeface="Arial"/>
                <a:ea typeface="Arial"/>
                <a:cs typeface="Arial"/>
              </a:rPr>
              <a:t>Cùng kích thước ảnh</a:t>
            </a:r>
          </a:p>
        </p:txBody>
      </p:sp>
      <p:sp>
        <p:nvSpPr>
          <p:cNvPr id="9" name="Rectangle 8">
            <a:extLst>
              <a:ext uri="{FF2B5EF4-FFF2-40B4-BE49-F238E27FC236}">
                <a16:creationId xmlns:a16="http://schemas.microsoft.com/office/drawing/2014/main" id="{09475D2A-73D8-49C2-B825-7F9914EA2EFB}"/>
              </a:ext>
            </a:extLst>
          </p:cNvPr>
          <p:cNvSpPr>
            <a:spLocks noGrp="1"/>
          </p:cNvSpPr>
          <p:nvPr/>
        </p:nvSpPr>
        <p:spPr>
          <a:xfrm>
            <a:off x="609600" y="4057650"/>
            <a:ext cx="1085850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Vùng hỗ trợ</a:t>
            </a:r>
          </a:p>
        </p:txBody>
      </p:sp>
      <p:sp>
        <p:nvSpPr>
          <p:cNvPr id="10" name="Rectangle 9">
            <a:extLst>
              <a:ext uri="{FF2B5EF4-FFF2-40B4-BE49-F238E27FC236}">
                <a16:creationId xmlns:a16="http://schemas.microsoft.com/office/drawing/2014/main" id="{B1530FD9-E53F-4147-9D22-8B32DFEB5E71}"/>
              </a:ext>
            </a:extLst>
          </p:cNvPr>
          <p:cNvSpPr>
            <a:spLocks noGrp="1"/>
          </p:cNvSpPr>
          <p:nvPr/>
        </p:nvSpPr>
        <p:spPr>
          <a:xfrm>
            <a:off x="609600" y="4495800"/>
            <a:ext cx="1085850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Toàn ảnh, vùng vị trí, khuôn mặt, đối tượng ngữ nghĩa</a:t>
            </a:r>
          </a:p>
        </p:txBody>
      </p:sp>
      <p:sp>
        <p:nvSpPr>
          <p:cNvPr id="11" name="Rectangle 10">
            <a:extLst>
              <a:ext uri="{FF2B5EF4-FFF2-40B4-BE49-F238E27FC236}">
                <a16:creationId xmlns:a16="http://schemas.microsoft.com/office/drawing/2014/main" id="{195FEB3F-0B9D-48C4-AF31-F781A91A4814}"/>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Module 4 cung cấp mục tiêu xử lý. Module 2 tạo mask để Module 3 giới hạn tác động.</a:t>
            </a:r>
          </a:p>
        </p:txBody>
      </p:sp>
    </p:spTree>
    <p:extLst>
      <p:ext uri="{BB962C8B-B14F-4D97-AF65-F5344CB8AC3E}">
        <p14:creationId xmlns:p14="http://schemas.microsoft.com/office/powerpoint/2010/main" val="1962875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B50CFFF-CC9D-46F8-B6A4-879FB0D739D8}"/>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2  VÙNG VÀ MẶT NẠ</a:t>
            </a:r>
          </a:p>
        </p:txBody>
      </p:sp>
      <p:sp>
        <p:nvSpPr>
          <p:cNvPr id="2" name="Rectangle 1">
            <a:extLst>
              <a:ext uri="{FF2B5EF4-FFF2-40B4-BE49-F238E27FC236}">
                <a16:creationId xmlns:a16="http://schemas.microsoft.com/office/drawing/2014/main" id="{16F2CF59-DACC-46E4-898D-1F1075DED9D2}"/>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Định vị vùng theo mục tiêu và asset</a:t>
            </a:r>
          </a:p>
        </p:txBody>
      </p:sp>
      <p:sp>
        <p:nvSpPr>
          <p:cNvPr id="3" name="Rectangle 2">
            <a:extLst>
              <a:ext uri="{FF2B5EF4-FFF2-40B4-BE49-F238E27FC236}">
                <a16:creationId xmlns:a16="http://schemas.microsoft.com/office/drawing/2014/main" id="{EE943658-BA5B-409F-9DF5-49B5307B7722}"/>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07</a:t>
            </a:r>
          </a:p>
        </p:txBody>
      </p:sp>
      <p:sp>
        <p:nvSpPr>
          <p:cNvPr id="4" name="Rectangle 3">
            <a:extLst>
              <a:ext uri="{FF2B5EF4-FFF2-40B4-BE49-F238E27FC236}">
                <a16:creationId xmlns:a16="http://schemas.microsoft.com/office/drawing/2014/main" id="{4E4A7133-9289-410E-BBD7-C309044EBCB0}"/>
              </a:ext>
            </a:extLst>
          </p:cNvPr>
          <p:cNvSpPr>
            <a:spLocks noGrp="1"/>
          </p:cNvSpPr>
          <p:nvPr/>
        </p:nvSpPr>
        <p:spPr>
          <a:xfrm>
            <a:off x="4095750" y="1562100"/>
            <a:ext cx="4000500" cy="100965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Chọn đường tạo vùng</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Ảnh, loại vùng và model local</a:t>
            </a:r>
          </a:p>
        </p:txBody>
      </p:sp>
      <p:cxnSp>
        <p:nvCxnSpPr>
          <p:cNvPr id="5" name="Straight Arrow Connector 4">
            <a:extLst>
              <a:ext uri="{FF2B5EF4-FFF2-40B4-BE49-F238E27FC236}">
                <a16:creationId xmlns:a16="http://schemas.microsoft.com/office/drawing/2014/main" id="{E07460A7-C6C0-43D8-8EB1-1931B51CDB3A}"/>
              </a:ext>
            </a:extLst>
          </p:cNvPr>
          <p:cNvCxnSpPr/>
          <p:nvPr/>
        </p:nvCxnSpPr>
        <p:spPr>
          <a:xfrm>
            <a:off x="6096000" y="2571750"/>
            <a:ext cx="0" cy="447675"/>
          </a:xfrm>
          <a:prstGeom prst="straightConnector1">
            <a:avLst/>
          </a:prstGeom>
          <a:ln w="19050">
            <a:solidFill>
              <a:srgbClr val="617E8F"/>
            </a:solidFill>
          </a:ln>
        </p:spPr>
      </p:cxnSp>
      <p:cxnSp>
        <p:nvCxnSpPr>
          <p:cNvPr id="6" name="Straight Arrow Connector 5">
            <a:extLst>
              <a:ext uri="{FF2B5EF4-FFF2-40B4-BE49-F238E27FC236}">
                <a16:creationId xmlns:a16="http://schemas.microsoft.com/office/drawing/2014/main" id="{69D71886-5ADF-4B32-9003-9CE54EE884D4}"/>
              </a:ext>
            </a:extLst>
          </p:cNvPr>
          <p:cNvCxnSpPr/>
          <p:nvPr/>
        </p:nvCxnSpPr>
        <p:spPr>
          <a:xfrm>
            <a:off x="2133600" y="3019425"/>
            <a:ext cx="7924800" cy="0"/>
          </a:xfrm>
          <a:prstGeom prst="straightConnector1">
            <a:avLst/>
          </a:prstGeom>
          <a:ln w="19050">
            <a:solidFill>
              <a:srgbClr val="617E8F"/>
            </a:solidFill>
          </a:ln>
        </p:spPr>
      </p:cxnSp>
      <p:cxnSp>
        <p:nvCxnSpPr>
          <p:cNvPr id="7" name="Straight Arrow Connector 6">
            <a:extLst>
              <a:ext uri="{FF2B5EF4-FFF2-40B4-BE49-F238E27FC236}">
                <a16:creationId xmlns:a16="http://schemas.microsoft.com/office/drawing/2014/main" id="{C6FD2F6F-DE7C-49A7-98A1-9FDB1444D6EF}"/>
              </a:ext>
            </a:extLst>
          </p:cNvPr>
          <p:cNvCxnSpPr/>
          <p:nvPr/>
        </p:nvCxnSpPr>
        <p:spPr>
          <a:xfrm>
            <a:off x="2133600" y="3019425"/>
            <a:ext cx="0" cy="485775"/>
          </a:xfrm>
          <a:prstGeom prst="straightConnector1">
            <a:avLst/>
          </a:prstGeom>
          <a:ln w="19050">
            <a:solidFill>
              <a:srgbClr val="617E8F"/>
            </a:solidFill>
            <a:tailEnd type="triangle" w="med" len="med"/>
          </a:ln>
        </p:spPr>
      </p:cxnSp>
      <p:cxnSp>
        <p:nvCxnSpPr>
          <p:cNvPr id="8" name="Straight Arrow Connector 7">
            <a:extLst>
              <a:ext uri="{FF2B5EF4-FFF2-40B4-BE49-F238E27FC236}">
                <a16:creationId xmlns:a16="http://schemas.microsoft.com/office/drawing/2014/main" id="{BE29E8BA-6422-4A07-87E6-D8A79256601F}"/>
              </a:ext>
            </a:extLst>
          </p:cNvPr>
          <p:cNvCxnSpPr/>
          <p:nvPr/>
        </p:nvCxnSpPr>
        <p:spPr>
          <a:xfrm>
            <a:off x="6096000" y="3019425"/>
            <a:ext cx="0" cy="485775"/>
          </a:xfrm>
          <a:prstGeom prst="straightConnector1">
            <a:avLst/>
          </a:prstGeom>
          <a:ln w="19050">
            <a:solidFill>
              <a:srgbClr val="617E8F"/>
            </a:solidFill>
            <a:tailEnd type="triangle" w="med" len="med"/>
          </a:ln>
        </p:spPr>
      </p:cxnSp>
      <p:cxnSp>
        <p:nvCxnSpPr>
          <p:cNvPr id="9" name="Straight Arrow Connector 8">
            <a:extLst>
              <a:ext uri="{FF2B5EF4-FFF2-40B4-BE49-F238E27FC236}">
                <a16:creationId xmlns:a16="http://schemas.microsoft.com/office/drawing/2014/main" id="{ADEE8BBF-010E-4F17-B6BF-45BA7AFEF6E8}"/>
              </a:ext>
            </a:extLst>
          </p:cNvPr>
          <p:cNvCxnSpPr/>
          <p:nvPr/>
        </p:nvCxnSpPr>
        <p:spPr>
          <a:xfrm>
            <a:off x="10058400" y="3019425"/>
            <a:ext cx="0" cy="485775"/>
          </a:xfrm>
          <a:prstGeom prst="straightConnector1">
            <a:avLst/>
          </a:prstGeom>
          <a:ln w="19050">
            <a:solidFill>
              <a:srgbClr val="617E8F"/>
            </a:solidFill>
            <a:tailEnd type="triangle" w="med" len="med"/>
          </a:ln>
        </p:spPr>
      </p:cxnSp>
      <p:sp>
        <p:nvSpPr>
          <p:cNvPr id="10" name="Rectangle 9">
            <a:extLst>
              <a:ext uri="{FF2B5EF4-FFF2-40B4-BE49-F238E27FC236}">
                <a16:creationId xmlns:a16="http://schemas.microsoft.com/office/drawing/2014/main" id="{61B10943-1FBE-4DB7-97AC-C05669047CF4}"/>
              </a:ext>
            </a:extLst>
          </p:cNvPr>
          <p:cNvSpPr>
            <a:spLocks noGrp="1"/>
          </p:cNvSpPr>
          <p:nvPr/>
        </p:nvSpPr>
        <p:spPr>
          <a:xfrm>
            <a:off x="609600" y="3505200"/>
            <a:ext cx="3048000" cy="15240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MediaPipe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Khuôn mặt</a:t>
            </a:r>
            <a:br>
              <a:rPr sz="1800">
                <a:solidFill>
                  <a:srgbClr val="192F43"/>
                </a:solidFill>
                <a:latin typeface="Arial"/>
                <a:ea typeface="Arial"/>
                <a:cs typeface="Arial"/>
              </a:rPr>
            </a:br>
            <a:r>
              <a:rPr sz="1800">
                <a:solidFill>
                  <a:srgbClr val="192F43"/>
                </a:solidFill>
                <a:latin typeface="Arial"/>
                <a:ea typeface="Arial"/>
                <a:cs typeface="Arial"/>
              </a:rPr>
              <a:t>Oval khi có Landmarker</a:t>
            </a:r>
          </a:p>
        </p:txBody>
      </p:sp>
      <p:sp>
        <p:nvSpPr>
          <p:cNvPr id="11" name="Rectangle 10">
            <a:extLst>
              <a:ext uri="{FF2B5EF4-FFF2-40B4-BE49-F238E27FC236}">
                <a16:creationId xmlns:a16="http://schemas.microsoft.com/office/drawing/2014/main" id="{AEE8F857-1E7F-4B8B-BF91-F0C099DE2469}"/>
              </a:ext>
            </a:extLst>
          </p:cNvPr>
          <p:cNvSpPr>
            <a:spLocks noGrp="1"/>
          </p:cNvSpPr>
          <p:nvPr/>
        </p:nvSpPr>
        <p:spPr>
          <a:xfrm>
            <a:off x="4572000" y="3505200"/>
            <a:ext cx="3048000" cy="15240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GroundingDINO + SAM</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Vùng ngữ nghĩa</a:t>
            </a:r>
            <a:br>
              <a:rPr sz="1800">
                <a:solidFill>
                  <a:srgbClr val="192F43"/>
                </a:solidFill>
                <a:latin typeface="Arial"/>
                <a:ea typeface="Arial"/>
                <a:cs typeface="Arial"/>
              </a:rPr>
            </a:br>
            <a:r>
              <a:rPr sz="1800">
                <a:solidFill>
                  <a:srgbClr val="192F43"/>
                </a:solidFill>
                <a:latin typeface="Arial"/>
                <a:ea typeface="Arial"/>
                <a:cs typeface="Arial"/>
              </a:rPr>
              <a:t>Bbox rồi mặt nạ</a:t>
            </a:r>
          </a:p>
        </p:txBody>
      </p:sp>
      <p:sp>
        <p:nvSpPr>
          <p:cNvPr id="12" name="Rectangle 11">
            <a:extLst>
              <a:ext uri="{FF2B5EF4-FFF2-40B4-BE49-F238E27FC236}">
                <a16:creationId xmlns:a16="http://schemas.microsoft.com/office/drawing/2014/main" id="{0337456A-A7B6-4794-9E31-49384A375D35}"/>
              </a:ext>
            </a:extLst>
          </p:cNvPr>
          <p:cNvSpPr>
            <a:spLocks noGrp="1"/>
          </p:cNvSpPr>
          <p:nvPr/>
        </p:nvSpPr>
        <p:spPr>
          <a:xfrm>
            <a:off x="8534400" y="3505200"/>
            <a:ext cx="3048000" cy="1524000"/>
          </a:xfrm>
          <a:prstGeom prst="rect">
            <a:avLst/>
          </a:prstGeom>
          <a:solidFill>
            <a:srgbClr val="F9EFDF"/>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GrabCut</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Khởi tạo bằng bbox</a:t>
            </a:r>
            <a:br>
              <a:rPr sz="1800">
                <a:solidFill>
                  <a:srgbClr val="192F43"/>
                </a:solidFill>
                <a:latin typeface="Arial"/>
                <a:ea typeface="Arial"/>
                <a:cs typeface="Arial"/>
              </a:rPr>
            </a:br>
            <a:r>
              <a:rPr sz="1800">
                <a:solidFill>
                  <a:srgbClr val="192F43"/>
                </a:solidFill>
                <a:latin typeface="Arial"/>
                <a:ea typeface="Arial"/>
                <a:cs typeface="Arial"/>
              </a:rPr>
              <a:t>Khi thiếu model ngữ nghĩa</a:t>
            </a:r>
          </a:p>
        </p:txBody>
      </p:sp>
      <p:sp>
        <p:nvSpPr>
          <p:cNvPr id="13" name="Rectangle 12">
            <a:extLst>
              <a:ext uri="{FF2B5EF4-FFF2-40B4-BE49-F238E27FC236}">
                <a16:creationId xmlns:a16="http://schemas.microsoft.com/office/drawing/2014/main" id="{1D7577CD-D4A9-4664-BB53-121EAB0A196E}"/>
              </a:ext>
            </a:extLst>
          </p:cNvPr>
          <p:cNvSpPr>
            <a:spLocks noGrp="1"/>
          </p:cNvSpPr>
          <p:nvPr/>
        </p:nvSpPr>
        <p:spPr>
          <a:xfrm>
            <a:off x="609600" y="5476875"/>
            <a:ext cx="10858500" cy="447675"/>
          </a:xfrm>
          <a:prstGeom prst="rect">
            <a:avLst/>
          </a:prstGeom>
          <a:noFill/>
          <a:ln w="0">
            <a:noFill/>
          </a:ln>
        </p:spPr>
        <p:txBody>
          <a:bodyPr wrap="square" lIns="0" tIns="0" rIns="0" bIns="0" anchor="t">
            <a:noAutofit/>
          </a:bodyPr>
          <a:lstStyle>
            <a:defPPr algn="l">
              <a:defRPr sz="2325" b="1">
                <a:solidFill>
                  <a:srgbClr val="267C83"/>
                </a:solidFill>
                <a:latin typeface="Arial"/>
                <a:ea typeface="Arial"/>
                <a:cs typeface="Arial"/>
              </a:defRPr>
            </a:defPPr>
            <a:lvl1pPr algn="l">
              <a:defRPr sz="2325" b="1">
                <a:solidFill>
                  <a:srgbClr val="267C83"/>
                </a:solidFill>
                <a:latin typeface="Arial"/>
                <a:ea typeface="Arial"/>
                <a:cs typeface="Arial"/>
              </a:defRPr>
            </a:lvl1pPr>
            <a:lvl2pPr algn="l">
              <a:defRPr sz="2325" b="1">
                <a:solidFill>
                  <a:srgbClr val="267C83"/>
                </a:solidFill>
                <a:latin typeface="Arial"/>
                <a:ea typeface="Arial"/>
                <a:cs typeface="Arial"/>
              </a:defRPr>
            </a:lvl2pPr>
            <a:lvl3pPr algn="l">
              <a:defRPr sz="2325" b="1">
                <a:solidFill>
                  <a:srgbClr val="267C83"/>
                </a:solidFill>
                <a:latin typeface="Arial"/>
                <a:ea typeface="Arial"/>
                <a:cs typeface="Arial"/>
              </a:defRPr>
            </a:lvl3pPr>
            <a:lvl4pPr algn="l">
              <a:defRPr sz="2325" b="1">
                <a:solidFill>
                  <a:srgbClr val="267C83"/>
                </a:solidFill>
                <a:latin typeface="Arial"/>
                <a:ea typeface="Arial"/>
                <a:cs typeface="Arial"/>
              </a:defRPr>
            </a:lvl4pPr>
            <a:lvl5pPr algn="l">
              <a:defRPr sz="2325" b="1">
                <a:solidFill>
                  <a:srgbClr val="267C83"/>
                </a:solidFill>
                <a:latin typeface="Arial"/>
                <a:ea typeface="Arial"/>
                <a:cs typeface="Arial"/>
              </a:defRPr>
            </a:lvl5pPr>
            <a:lvl6pPr algn="l">
              <a:defRPr sz="2325" b="1">
                <a:solidFill>
                  <a:srgbClr val="267C83"/>
                </a:solidFill>
                <a:latin typeface="Arial"/>
                <a:ea typeface="Arial"/>
                <a:cs typeface="Arial"/>
              </a:defRPr>
            </a:lvl6pPr>
            <a:lvl7pPr algn="l">
              <a:defRPr sz="2325" b="1">
                <a:solidFill>
                  <a:srgbClr val="267C83"/>
                </a:solidFill>
                <a:latin typeface="Arial"/>
                <a:ea typeface="Arial"/>
                <a:cs typeface="Arial"/>
              </a:defRPr>
            </a:lvl7pPr>
            <a:lvl8pPr algn="l">
              <a:defRPr sz="2325" b="1">
                <a:solidFill>
                  <a:srgbClr val="267C83"/>
                </a:solidFill>
                <a:latin typeface="Arial"/>
                <a:ea typeface="Arial"/>
                <a:cs typeface="Arial"/>
              </a:defRPr>
            </a:lvl8pPr>
            <a:lvl9pPr algn="l">
              <a:defRPr sz="2325" b="1">
                <a:solidFill>
                  <a:srgbClr val="267C83"/>
                </a:solidFill>
                <a:latin typeface="Arial"/>
                <a:ea typeface="Arial"/>
                <a:cs typeface="Arial"/>
              </a:defRPr>
            </a:lvl9pPr>
          </a:lstStyle>
          <a:p>
            <a:pPr algn="l">
              <a:lnSpc>
                <a:spcPct val="107000"/>
              </a:lnSpc>
              <a:buNone/>
              <a:defRPr sz="2325" b="1">
                <a:solidFill>
                  <a:srgbClr val="267C83"/>
                </a:solidFill>
                <a:latin typeface="Arial"/>
                <a:ea typeface="Arial"/>
                <a:cs typeface="Arial"/>
              </a:defRPr>
            </a:pPr>
            <a:r>
              <a:rPr sz="2325" b="1">
                <a:solidFill>
                  <a:srgbClr val="267C83"/>
                </a:solidFill>
                <a:latin typeface="Arial"/>
                <a:ea typeface="Arial"/>
                <a:cs typeface="Arial"/>
              </a:rPr>
              <a:t>Các model định vị vùng không sinh ảnh phục chế</a:t>
            </a:r>
          </a:p>
        </p:txBody>
      </p:sp>
      <p:sp>
        <p:nvSpPr>
          <p:cNvPr id="14" name="Rectangle 13">
            <a:extLst>
              <a:ext uri="{FF2B5EF4-FFF2-40B4-BE49-F238E27FC236}">
                <a16:creationId xmlns:a16="http://schemas.microsoft.com/office/drawing/2014/main" id="{C9127440-2E50-453D-854C-49976AF70746}"/>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Vùng hình học có thể tạo trực tiếp. Đường chạy thực phụ thuộc bbox và asset có sẵn.</a:t>
            </a:r>
          </a:p>
        </p:txBody>
      </p:sp>
    </p:spTree>
    <p:extLst>
      <p:ext uri="{BB962C8B-B14F-4D97-AF65-F5344CB8AC3E}">
        <p14:creationId xmlns:p14="http://schemas.microsoft.com/office/powerpoint/2010/main" val="1843527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00774BE-5840-4DEA-A227-4D6FE4BF6853}"/>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2  VÙNG VÀ MẶT NẠ</a:t>
            </a:r>
          </a:p>
        </p:txBody>
      </p:sp>
      <p:sp>
        <p:nvSpPr>
          <p:cNvPr id="2" name="Rectangle 1">
            <a:extLst>
              <a:ext uri="{FF2B5EF4-FFF2-40B4-BE49-F238E27FC236}">
                <a16:creationId xmlns:a16="http://schemas.microsoft.com/office/drawing/2014/main" id="{2D4379F3-C9A3-4F2E-BD0A-E77D04D705CE}"/>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Mask mềm giúp ghép vùng tự nhiên</a:t>
            </a:r>
          </a:p>
        </p:txBody>
      </p:sp>
      <p:sp>
        <p:nvSpPr>
          <p:cNvPr id="3" name="Rectangle 2">
            <a:extLst>
              <a:ext uri="{FF2B5EF4-FFF2-40B4-BE49-F238E27FC236}">
                <a16:creationId xmlns:a16="http://schemas.microsoft.com/office/drawing/2014/main" id="{1AC61BCC-7948-4EC1-8913-63FA7320FBBD}"/>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08</a:t>
            </a:r>
          </a:p>
        </p:txBody>
      </p:sp>
      <p:pic>
        <p:nvPicPr>
          <p:cNvPr id="4" name="Picture 3">
            <a:extLst>
              <a:ext uri="{FF2B5EF4-FFF2-40B4-BE49-F238E27FC236}">
                <a16:creationId xmlns:a16="http://schemas.microsoft.com/office/drawing/2014/main" id="{8308BA9D-2503-40E5-9245-FCF1F6CF6C69}"/>
              </a:ext>
            </a:extLst>
          </p:cNvPr>
          <p:cNvPicPr>
            <a:picLocks noChangeAspect="1"/>
          </p:cNvPicPr>
          <p:nvPr/>
        </p:nvPicPr>
        <p:blipFill>
          <a:blip r:embed="rId3"/>
          <a:stretch/>
        </p:blipFill>
        <p:spPr>
          <a:xfrm>
            <a:off x="609600" y="1560443"/>
            <a:ext cx="10972800" cy="3279913"/>
          </a:xfrm>
          <a:prstGeom prst="rect">
            <a:avLst/>
          </a:prstGeom>
        </p:spPr>
      </p:pic>
      <p:sp>
        <p:nvSpPr>
          <p:cNvPr id="5" name="Rectangle 4">
            <a:extLst>
              <a:ext uri="{FF2B5EF4-FFF2-40B4-BE49-F238E27FC236}">
                <a16:creationId xmlns:a16="http://schemas.microsoft.com/office/drawing/2014/main" id="{7AFFB7D3-3F91-417B-9FFA-3418F3124A07}"/>
              </a:ext>
            </a:extLst>
          </p:cNvPr>
          <p:cNvSpPr>
            <a:spLocks noGrp="1"/>
          </p:cNvSpPr>
          <p:nvPr/>
        </p:nvSpPr>
        <p:spPr>
          <a:xfrm>
            <a:off x="609600" y="5124450"/>
            <a:ext cx="10972800" cy="476250"/>
          </a:xfrm>
          <a:prstGeom prst="rect">
            <a:avLst/>
          </a:prstGeom>
          <a:noFill/>
          <a:ln w="0">
            <a:noFill/>
          </a:ln>
        </p:spPr>
        <p:txBody>
          <a:bodyPr wrap="square" lIns="0" tIns="0" rIns="0" bIns="0" anchor="t">
            <a:noAutofit/>
          </a:bodyPr>
          <a:lstStyle>
            <a:defPPr algn="l">
              <a:defRPr sz="2325" b="1">
                <a:solidFill>
                  <a:srgbClr val="267C83"/>
                </a:solidFill>
                <a:latin typeface="Arial"/>
                <a:ea typeface="Arial"/>
                <a:cs typeface="Arial"/>
              </a:defRPr>
            </a:defPPr>
            <a:lvl1pPr algn="l">
              <a:defRPr sz="2325" b="1">
                <a:solidFill>
                  <a:srgbClr val="267C83"/>
                </a:solidFill>
                <a:latin typeface="Arial"/>
                <a:ea typeface="Arial"/>
                <a:cs typeface="Arial"/>
              </a:defRPr>
            </a:lvl1pPr>
            <a:lvl2pPr algn="l">
              <a:defRPr sz="2325" b="1">
                <a:solidFill>
                  <a:srgbClr val="267C83"/>
                </a:solidFill>
                <a:latin typeface="Arial"/>
                <a:ea typeface="Arial"/>
                <a:cs typeface="Arial"/>
              </a:defRPr>
            </a:lvl2pPr>
            <a:lvl3pPr algn="l">
              <a:defRPr sz="2325" b="1">
                <a:solidFill>
                  <a:srgbClr val="267C83"/>
                </a:solidFill>
                <a:latin typeface="Arial"/>
                <a:ea typeface="Arial"/>
                <a:cs typeface="Arial"/>
              </a:defRPr>
            </a:lvl3pPr>
            <a:lvl4pPr algn="l">
              <a:defRPr sz="2325" b="1">
                <a:solidFill>
                  <a:srgbClr val="267C83"/>
                </a:solidFill>
                <a:latin typeface="Arial"/>
                <a:ea typeface="Arial"/>
                <a:cs typeface="Arial"/>
              </a:defRPr>
            </a:lvl4pPr>
            <a:lvl5pPr algn="l">
              <a:defRPr sz="2325" b="1">
                <a:solidFill>
                  <a:srgbClr val="267C83"/>
                </a:solidFill>
                <a:latin typeface="Arial"/>
                <a:ea typeface="Arial"/>
                <a:cs typeface="Arial"/>
              </a:defRPr>
            </a:lvl5pPr>
            <a:lvl6pPr algn="l">
              <a:defRPr sz="2325" b="1">
                <a:solidFill>
                  <a:srgbClr val="267C83"/>
                </a:solidFill>
                <a:latin typeface="Arial"/>
                <a:ea typeface="Arial"/>
                <a:cs typeface="Arial"/>
              </a:defRPr>
            </a:lvl6pPr>
            <a:lvl7pPr algn="l">
              <a:defRPr sz="2325" b="1">
                <a:solidFill>
                  <a:srgbClr val="267C83"/>
                </a:solidFill>
                <a:latin typeface="Arial"/>
                <a:ea typeface="Arial"/>
                <a:cs typeface="Arial"/>
              </a:defRPr>
            </a:lvl7pPr>
            <a:lvl8pPr algn="l">
              <a:defRPr sz="2325" b="1">
                <a:solidFill>
                  <a:srgbClr val="267C83"/>
                </a:solidFill>
                <a:latin typeface="Arial"/>
                <a:ea typeface="Arial"/>
                <a:cs typeface="Arial"/>
              </a:defRPr>
            </a:lvl8pPr>
            <a:lvl9pPr algn="l">
              <a:defRPr sz="2325" b="1">
                <a:solidFill>
                  <a:srgbClr val="267C83"/>
                </a:solidFill>
                <a:latin typeface="Arial"/>
                <a:ea typeface="Arial"/>
                <a:cs typeface="Arial"/>
              </a:defRPr>
            </a:lvl9pPr>
          </a:lstStyle>
          <a:p>
            <a:pPr algn="l">
              <a:lnSpc>
                <a:spcPct val="107000"/>
              </a:lnSpc>
              <a:buNone/>
              <a:defRPr sz="2325" b="1">
                <a:solidFill>
                  <a:srgbClr val="267C83"/>
                </a:solidFill>
                <a:latin typeface="Arial"/>
                <a:ea typeface="Arial"/>
                <a:cs typeface="Arial"/>
              </a:defRPr>
            </a:pPr>
            <a:r>
              <a:rPr sz="2325" b="1">
                <a:solidFill>
                  <a:srgbClr val="267C83"/>
                </a:solidFill>
                <a:latin typeface="Arial"/>
                <a:ea typeface="Arial"/>
                <a:cs typeface="Arial"/>
              </a:rPr>
              <a:t>I kết quả = M × I xử lý + (1 − M) × I trước</a:t>
            </a:r>
          </a:p>
        </p:txBody>
      </p:sp>
      <p:sp>
        <p:nvSpPr>
          <p:cNvPr id="6" name="Rectangle 5">
            <a:extLst>
              <a:ext uri="{FF2B5EF4-FFF2-40B4-BE49-F238E27FC236}">
                <a16:creationId xmlns:a16="http://schemas.microsoft.com/office/drawing/2014/main" id="{9F702BE5-09FB-4328-9D6F-8069715BD5D2}"/>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Mask oval trong ví dụ được vẽ tay. Module 2 xuất mask, Module 3 áp phép xử lý và hòa trộn.</a:t>
            </a:r>
          </a:p>
        </p:txBody>
      </p:sp>
    </p:spTree>
    <p:extLst>
      <p:ext uri="{BB962C8B-B14F-4D97-AF65-F5344CB8AC3E}">
        <p14:creationId xmlns:p14="http://schemas.microsoft.com/office/powerpoint/2010/main" val="885881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D50757-F38C-402C-8A02-DC310D43357A}"/>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2  VÙNG VÀ MẶT NẠ</a:t>
            </a:r>
          </a:p>
        </p:txBody>
      </p:sp>
      <p:sp>
        <p:nvSpPr>
          <p:cNvPr id="2" name="Rectangle 1">
            <a:extLst>
              <a:ext uri="{FF2B5EF4-FFF2-40B4-BE49-F238E27FC236}">
                <a16:creationId xmlns:a16="http://schemas.microsoft.com/office/drawing/2014/main" id="{E8872A54-A877-427B-9C29-A3D36E6F82BF}"/>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Kiểm tra mask và phạm vi tác động</a:t>
            </a:r>
          </a:p>
        </p:txBody>
      </p:sp>
      <p:sp>
        <p:nvSpPr>
          <p:cNvPr id="3" name="Rectangle 2">
            <a:extLst>
              <a:ext uri="{FF2B5EF4-FFF2-40B4-BE49-F238E27FC236}">
                <a16:creationId xmlns:a16="http://schemas.microsoft.com/office/drawing/2014/main" id="{B36DCB05-1100-4641-9DED-FC4532ABA866}"/>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09</a:t>
            </a:r>
          </a:p>
        </p:txBody>
      </p:sp>
      <p:pic>
        <p:nvPicPr>
          <p:cNvPr id="4" name="Picture 3">
            <a:extLst>
              <a:ext uri="{FF2B5EF4-FFF2-40B4-BE49-F238E27FC236}">
                <a16:creationId xmlns:a16="http://schemas.microsoft.com/office/drawing/2014/main" id="{98350F1E-EF44-49F3-A9C1-558548FF4D5C}"/>
              </a:ext>
            </a:extLst>
          </p:cNvPr>
          <p:cNvPicPr>
            <a:picLocks noChangeAspect="1"/>
          </p:cNvPicPr>
          <p:nvPr/>
        </p:nvPicPr>
        <p:blipFill>
          <a:blip r:embed="rId3"/>
          <a:stretch/>
        </p:blipFill>
        <p:spPr>
          <a:xfrm>
            <a:off x="1470725" y="1457325"/>
            <a:ext cx="9250551" cy="3638550"/>
          </a:xfrm>
          <a:prstGeom prst="rect">
            <a:avLst/>
          </a:prstGeom>
        </p:spPr>
      </p:pic>
      <p:sp>
        <p:nvSpPr>
          <p:cNvPr id="5" name="Rectangle 4">
            <a:extLst>
              <a:ext uri="{FF2B5EF4-FFF2-40B4-BE49-F238E27FC236}">
                <a16:creationId xmlns:a16="http://schemas.microsoft.com/office/drawing/2014/main" id="{B890289C-D240-4EDA-835E-0742E7CB9251}"/>
              </a:ext>
            </a:extLst>
          </p:cNvPr>
          <p:cNvSpPr>
            <a:spLocks noGrp="1"/>
          </p:cNvSpPr>
          <p:nvPr/>
        </p:nvSpPr>
        <p:spPr>
          <a:xfrm>
            <a:off x="609600" y="5219700"/>
            <a:ext cx="10858500" cy="466725"/>
          </a:xfrm>
          <a:prstGeom prst="rect">
            <a:avLst/>
          </a:prstGeom>
          <a:noFill/>
          <a:ln w="0">
            <a:noFill/>
          </a:ln>
        </p:spPr>
        <p:txBody>
          <a:bodyPr wrap="square" lIns="0" tIns="0" rIns="0" bIns="0" anchor="t">
            <a:noAutofit/>
          </a:bodyPr>
          <a:lstStyle>
            <a:defPPr algn="l">
              <a:defRPr sz="2325" b="1">
                <a:solidFill>
                  <a:srgbClr val="267C83"/>
                </a:solidFill>
                <a:latin typeface="Arial"/>
                <a:ea typeface="Arial"/>
                <a:cs typeface="Arial"/>
              </a:defRPr>
            </a:defPPr>
            <a:lvl1pPr algn="l">
              <a:defRPr sz="2325" b="1">
                <a:solidFill>
                  <a:srgbClr val="267C83"/>
                </a:solidFill>
                <a:latin typeface="Arial"/>
                <a:ea typeface="Arial"/>
                <a:cs typeface="Arial"/>
              </a:defRPr>
            </a:lvl1pPr>
            <a:lvl2pPr algn="l">
              <a:defRPr sz="2325" b="1">
                <a:solidFill>
                  <a:srgbClr val="267C83"/>
                </a:solidFill>
                <a:latin typeface="Arial"/>
                <a:ea typeface="Arial"/>
                <a:cs typeface="Arial"/>
              </a:defRPr>
            </a:lvl2pPr>
            <a:lvl3pPr algn="l">
              <a:defRPr sz="2325" b="1">
                <a:solidFill>
                  <a:srgbClr val="267C83"/>
                </a:solidFill>
                <a:latin typeface="Arial"/>
                <a:ea typeface="Arial"/>
                <a:cs typeface="Arial"/>
              </a:defRPr>
            </a:lvl3pPr>
            <a:lvl4pPr algn="l">
              <a:defRPr sz="2325" b="1">
                <a:solidFill>
                  <a:srgbClr val="267C83"/>
                </a:solidFill>
                <a:latin typeface="Arial"/>
                <a:ea typeface="Arial"/>
                <a:cs typeface="Arial"/>
              </a:defRPr>
            </a:lvl4pPr>
            <a:lvl5pPr algn="l">
              <a:defRPr sz="2325" b="1">
                <a:solidFill>
                  <a:srgbClr val="267C83"/>
                </a:solidFill>
                <a:latin typeface="Arial"/>
                <a:ea typeface="Arial"/>
                <a:cs typeface="Arial"/>
              </a:defRPr>
            </a:lvl5pPr>
            <a:lvl6pPr algn="l">
              <a:defRPr sz="2325" b="1">
                <a:solidFill>
                  <a:srgbClr val="267C83"/>
                </a:solidFill>
                <a:latin typeface="Arial"/>
                <a:ea typeface="Arial"/>
                <a:cs typeface="Arial"/>
              </a:defRPr>
            </a:lvl6pPr>
            <a:lvl7pPr algn="l">
              <a:defRPr sz="2325" b="1">
                <a:solidFill>
                  <a:srgbClr val="267C83"/>
                </a:solidFill>
                <a:latin typeface="Arial"/>
                <a:ea typeface="Arial"/>
                <a:cs typeface="Arial"/>
              </a:defRPr>
            </a:lvl7pPr>
            <a:lvl8pPr algn="l">
              <a:defRPr sz="2325" b="1">
                <a:solidFill>
                  <a:srgbClr val="267C83"/>
                </a:solidFill>
                <a:latin typeface="Arial"/>
                <a:ea typeface="Arial"/>
                <a:cs typeface="Arial"/>
              </a:defRPr>
            </a:lvl8pPr>
            <a:lvl9pPr algn="l">
              <a:defRPr sz="2325" b="1">
                <a:solidFill>
                  <a:srgbClr val="267C83"/>
                </a:solidFill>
                <a:latin typeface="Arial"/>
                <a:ea typeface="Arial"/>
                <a:cs typeface="Arial"/>
              </a:defRPr>
            </a:lvl9pPr>
          </a:lstStyle>
          <a:p>
            <a:pPr algn="l">
              <a:lnSpc>
                <a:spcPct val="107000"/>
              </a:lnSpc>
              <a:buNone/>
              <a:defRPr sz="2325" b="1">
                <a:solidFill>
                  <a:srgbClr val="267C83"/>
                </a:solidFill>
                <a:latin typeface="Arial"/>
                <a:ea typeface="Arial"/>
                <a:cs typeface="Arial"/>
              </a:defRPr>
            </a:pPr>
            <a:r>
              <a:rPr sz="2325" b="1">
                <a:solidFill>
                  <a:srgbClr val="267C83"/>
                </a:solidFill>
                <a:latin typeface="Arial"/>
                <a:ea typeface="Arial"/>
                <a:cs typeface="Arial"/>
              </a:rPr>
              <a:t>Không định vị được vùng: bỏ qua thao tác</a:t>
            </a:r>
          </a:p>
        </p:txBody>
      </p:sp>
      <p:sp>
        <p:nvSpPr>
          <p:cNvPr id="6" name="Rectangle 5">
            <a:extLst>
              <a:ext uri="{FF2B5EF4-FFF2-40B4-BE49-F238E27FC236}">
                <a16:creationId xmlns:a16="http://schemas.microsoft.com/office/drawing/2014/main" id="{43555309-B4A2-4068-A465-7DA8C92F68AB}"/>
              </a:ext>
            </a:extLst>
          </p:cNvPr>
          <p:cNvSpPr>
            <a:spLocks noGrp="1"/>
          </p:cNvSpPr>
          <p:nvPr/>
        </p:nvSpPr>
        <p:spPr>
          <a:xfrm>
            <a:off x="609600" y="5848350"/>
            <a:ext cx="10972800" cy="409575"/>
          </a:xfrm>
          <a:prstGeom prst="rect">
            <a:avLst/>
          </a:prstGeom>
          <a:noFill/>
          <a:ln w="0">
            <a:noFill/>
          </a:ln>
        </p:spPr>
        <p:txBody>
          <a:bodyPr wrap="square" lIns="0" tIns="0" rIns="0" bIns="0" anchor="t">
            <a:noAutofit/>
          </a:bodyPr>
          <a:lstStyle>
            <a:defPPr algn="l">
              <a:defRPr sz="1875" b="1">
                <a:solidFill>
                  <a:srgbClr val="267C83"/>
                </a:solidFill>
                <a:latin typeface="Arial"/>
                <a:ea typeface="Arial"/>
                <a:cs typeface="Arial"/>
              </a:defRPr>
            </a:defPPr>
            <a:lvl1pPr algn="l">
              <a:defRPr sz="1875" b="1">
                <a:solidFill>
                  <a:srgbClr val="267C83"/>
                </a:solidFill>
                <a:latin typeface="Arial"/>
                <a:ea typeface="Arial"/>
                <a:cs typeface="Arial"/>
              </a:defRPr>
            </a:lvl1pPr>
            <a:lvl2pPr algn="l">
              <a:defRPr sz="1875" b="1">
                <a:solidFill>
                  <a:srgbClr val="267C83"/>
                </a:solidFill>
                <a:latin typeface="Arial"/>
                <a:ea typeface="Arial"/>
                <a:cs typeface="Arial"/>
              </a:defRPr>
            </a:lvl2pPr>
            <a:lvl3pPr algn="l">
              <a:defRPr sz="1875" b="1">
                <a:solidFill>
                  <a:srgbClr val="267C83"/>
                </a:solidFill>
                <a:latin typeface="Arial"/>
                <a:ea typeface="Arial"/>
                <a:cs typeface="Arial"/>
              </a:defRPr>
            </a:lvl3pPr>
            <a:lvl4pPr algn="l">
              <a:defRPr sz="1875" b="1">
                <a:solidFill>
                  <a:srgbClr val="267C83"/>
                </a:solidFill>
                <a:latin typeface="Arial"/>
                <a:ea typeface="Arial"/>
                <a:cs typeface="Arial"/>
              </a:defRPr>
            </a:lvl4pPr>
            <a:lvl5pPr algn="l">
              <a:defRPr sz="1875" b="1">
                <a:solidFill>
                  <a:srgbClr val="267C83"/>
                </a:solidFill>
                <a:latin typeface="Arial"/>
                <a:ea typeface="Arial"/>
                <a:cs typeface="Arial"/>
              </a:defRPr>
            </a:lvl5pPr>
            <a:lvl6pPr algn="l">
              <a:defRPr sz="1875" b="1">
                <a:solidFill>
                  <a:srgbClr val="267C83"/>
                </a:solidFill>
                <a:latin typeface="Arial"/>
                <a:ea typeface="Arial"/>
                <a:cs typeface="Arial"/>
              </a:defRPr>
            </a:lvl6pPr>
            <a:lvl7pPr algn="l">
              <a:defRPr sz="1875" b="1">
                <a:solidFill>
                  <a:srgbClr val="267C83"/>
                </a:solidFill>
                <a:latin typeface="Arial"/>
                <a:ea typeface="Arial"/>
                <a:cs typeface="Arial"/>
              </a:defRPr>
            </a:lvl7pPr>
            <a:lvl8pPr algn="l">
              <a:defRPr sz="1875" b="1">
                <a:solidFill>
                  <a:srgbClr val="267C83"/>
                </a:solidFill>
                <a:latin typeface="Arial"/>
                <a:ea typeface="Arial"/>
                <a:cs typeface="Arial"/>
              </a:defRPr>
            </a:lvl8pPr>
            <a:lvl9pPr algn="l">
              <a:defRPr sz="1875" b="1">
                <a:solidFill>
                  <a:srgbClr val="267C83"/>
                </a:solidFill>
                <a:latin typeface="Arial"/>
                <a:ea typeface="Arial"/>
                <a:cs typeface="Arial"/>
              </a:defRPr>
            </a:lvl9pPr>
          </a:lstStyle>
          <a:p>
            <a:pPr algn="l">
              <a:lnSpc>
                <a:spcPct val="107000"/>
              </a:lnSpc>
              <a:buNone/>
              <a:defRPr sz="1875" b="1">
                <a:solidFill>
                  <a:srgbClr val="267C83"/>
                </a:solidFill>
                <a:latin typeface="Arial"/>
                <a:ea typeface="Arial"/>
                <a:cs typeface="Arial"/>
              </a:defRPr>
            </a:pPr>
            <a:r>
              <a:rPr sz="1875" b="1">
                <a:solidFill>
                  <a:srgbClr val="267C83"/>
                </a:solidFill>
                <a:latin typeface="Arial"/>
                <a:ea typeface="Arial"/>
                <a:cs typeface="Arial"/>
              </a:rPr>
              <a:t>Tiếp theo: Module 3 áp thuật toán lên vùng hợp lệ</a:t>
            </a:r>
          </a:p>
        </p:txBody>
      </p:sp>
      <p:sp>
        <p:nvSpPr>
          <p:cNvPr id="7" name="Rectangle 6">
            <a:extLst>
              <a:ext uri="{FF2B5EF4-FFF2-40B4-BE49-F238E27FC236}">
                <a16:creationId xmlns:a16="http://schemas.microsoft.com/office/drawing/2014/main" id="{CB185C31-CFBC-4E40-BC72-5C962FBABA84}"/>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Mask mặt không đạt QA có thể fallback bbox với cường độ 0,5 tạm thời.</a:t>
            </a:r>
          </a:p>
        </p:txBody>
      </p:sp>
    </p:spTree>
    <p:extLst>
      <p:ext uri="{BB962C8B-B14F-4D97-AF65-F5344CB8AC3E}">
        <p14:creationId xmlns:p14="http://schemas.microsoft.com/office/powerpoint/2010/main" val="1845723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F83B4D25-C261-4FF0-8F17-9090F0856FA4}"/>
              </a:ext>
            </a:extLst>
          </p:cNvPr>
          <p:cNvCxnSpPr>
            <a:stCxn id="7" idx="3"/>
            <a:endCxn id="8" idx="1"/>
          </p:cNvCxnSpPr>
          <p:nvPr/>
        </p:nvCxnSpPr>
        <p:spPr>
          <a:xfrm>
            <a:off x="9334500" y="2628900"/>
            <a:ext cx="266700" cy="0"/>
          </a:xfrm>
          <a:prstGeom prst="straightConnector1">
            <a:avLst/>
          </a:prstGeom>
          <a:ln w="19050">
            <a:solidFill>
              <a:srgbClr val="617E8F"/>
            </a:solidFill>
            <a:tailEnd type="triangle" w="med" len="med"/>
          </a:ln>
        </p:spPr>
      </p:cxnSp>
      <p:cxnSp>
        <p:nvCxnSpPr>
          <p:cNvPr id="11" name="Straight Arrow Connector 10">
            <a:extLst>
              <a:ext uri="{FF2B5EF4-FFF2-40B4-BE49-F238E27FC236}">
                <a16:creationId xmlns:a16="http://schemas.microsoft.com/office/drawing/2014/main" id="{13DB41A8-6016-493E-A21C-51E88DB7DE57}"/>
              </a:ext>
            </a:extLst>
          </p:cNvPr>
          <p:cNvCxnSpPr>
            <a:stCxn id="6" idx="3"/>
            <a:endCxn id="7" idx="1"/>
          </p:cNvCxnSpPr>
          <p:nvPr/>
        </p:nvCxnSpPr>
        <p:spPr>
          <a:xfrm>
            <a:off x="7086600" y="2628900"/>
            <a:ext cx="266700" cy="0"/>
          </a:xfrm>
          <a:prstGeom prst="straightConnector1">
            <a:avLst/>
          </a:prstGeom>
          <a:ln w="19050">
            <a:solidFill>
              <a:srgbClr val="617E8F"/>
            </a:solidFill>
            <a:tailEnd type="triangle" w="med" len="med"/>
          </a:ln>
        </p:spPr>
      </p:cxnSp>
      <p:cxnSp>
        <p:nvCxnSpPr>
          <p:cNvPr id="10" name="Straight Arrow Connector 9">
            <a:extLst>
              <a:ext uri="{FF2B5EF4-FFF2-40B4-BE49-F238E27FC236}">
                <a16:creationId xmlns:a16="http://schemas.microsoft.com/office/drawing/2014/main" id="{5ED535BD-010C-4486-B3EF-531DE1F77E06}"/>
              </a:ext>
            </a:extLst>
          </p:cNvPr>
          <p:cNvCxnSpPr>
            <a:stCxn id="5" idx="3"/>
            <a:endCxn id="6" idx="1"/>
          </p:cNvCxnSpPr>
          <p:nvPr/>
        </p:nvCxnSpPr>
        <p:spPr>
          <a:xfrm>
            <a:off x="4838700" y="2628900"/>
            <a:ext cx="266700" cy="0"/>
          </a:xfrm>
          <a:prstGeom prst="straightConnector1">
            <a:avLst/>
          </a:prstGeom>
          <a:ln w="19050">
            <a:solidFill>
              <a:srgbClr val="617E8F"/>
            </a:solidFill>
            <a:tailEnd type="triangle" w="med" len="med"/>
          </a:ln>
        </p:spPr>
      </p:cxnSp>
      <p:cxnSp>
        <p:nvCxnSpPr>
          <p:cNvPr id="9" name="Straight Arrow Connector 8">
            <a:extLst>
              <a:ext uri="{FF2B5EF4-FFF2-40B4-BE49-F238E27FC236}">
                <a16:creationId xmlns:a16="http://schemas.microsoft.com/office/drawing/2014/main" id="{57BE9519-E04A-4900-8878-F3CE93EFA028}"/>
              </a:ext>
            </a:extLst>
          </p:cNvPr>
          <p:cNvCxnSpPr>
            <a:stCxn id="4" idx="3"/>
            <a:endCxn id="5" idx="1"/>
          </p:cNvCxnSpPr>
          <p:nvPr/>
        </p:nvCxnSpPr>
        <p:spPr>
          <a:xfrm>
            <a:off x="2590800" y="2628900"/>
            <a:ext cx="266700" cy="0"/>
          </a:xfrm>
          <a:prstGeom prst="straightConnector1">
            <a:avLst/>
          </a:prstGeom>
          <a:ln w="19050">
            <a:solidFill>
              <a:srgbClr val="617E8F"/>
            </a:solidFill>
            <a:tailEnd type="triangle" w="med" len="med"/>
          </a:ln>
        </p:spPr>
      </p:cxnSp>
      <p:sp>
        <p:nvSpPr>
          <p:cNvPr id="16" name="Rectangle 15">
            <a:extLst>
              <a:ext uri="{FF2B5EF4-FFF2-40B4-BE49-F238E27FC236}">
                <a16:creationId xmlns:a16="http://schemas.microsoft.com/office/drawing/2014/main" id="{E9D3D0F7-5C9C-4D8A-B430-3ABD2B3CACFB}"/>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3  XỬ LÝ ĐIỂM ẢNH CỔ ĐIỂN</a:t>
            </a:r>
          </a:p>
        </p:txBody>
      </p:sp>
      <p:sp>
        <p:nvSpPr>
          <p:cNvPr id="2" name="Rectangle 1">
            <a:extLst>
              <a:ext uri="{FF2B5EF4-FFF2-40B4-BE49-F238E27FC236}">
                <a16:creationId xmlns:a16="http://schemas.microsoft.com/office/drawing/2014/main" id="{F62B113A-DF47-45B6-9163-6B908444D698}"/>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Năm công cụ xử lý điểm ảnh</a:t>
            </a:r>
          </a:p>
        </p:txBody>
      </p:sp>
      <p:sp>
        <p:nvSpPr>
          <p:cNvPr id="3" name="Rectangle 2">
            <a:extLst>
              <a:ext uri="{FF2B5EF4-FFF2-40B4-BE49-F238E27FC236}">
                <a16:creationId xmlns:a16="http://schemas.microsoft.com/office/drawing/2014/main" id="{5C4EB8DE-3598-4D0B-8D64-4E4F8DF19087}"/>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10</a:t>
            </a:r>
          </a:p>
        </p:txBody>
      </p:sp>
      <p:sp>
        <p:nvSpPr>
          <p:cNvPr id="4" name="Rectangle 3">
            <a:extLst>
              <a:ext uri="{FF2B5EF4-FFF2-40B4-BE49-F238E27FC236}">
                <a16:creationId xmlns:a16="http://schemas.microsoft.com/office/drawing/2014/main" id="{75261F3F-1428-4015-B230-2CA71D73FCD0}"/>
              </a:ext>
            </a:extLst>
          </p:cNvPr>
          <p:cNvSpPr>
            <a:spLocks noGrp="1"/>
          </p:cNvSpPr>
          <p:nvPr/>
        </p:nvSpPr>
        <p:spPr>
          <a:xfrm>
            <a:off x="609600" y="2076450"/>
            <a:ext cx="1981200" cy="11049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Denoise</a:t>
            </a:r>
          </a:p>
        </p:txBody>
      </p:sp>
      <p:sp>
        <p:nvSpPr>
          <p:cNvPr id="5" name="Rectangle 4">
            <a:extLst>
              <a:ext uri="{FF2B5EF4-FFF2-40B4-BE49-F238E27FC236}">
                <a16:creationId xmlns:a16="http://schemas.microsoft.com/office/drawing/2014/main" id="{2C58D076-DFE0-414E-8622-64D49F6560E4}"/>
              </a:ext>
            </a:extLst>
          </p:cNvPr>
          <p:cNvSpPr>
            <a:spLocks noGrp="1"/>
          </p:cNvSpPr>
          <p:nvPr/>
        </p:nvSpPr>
        <p:spPr>
          <a:xfrm>
            <a:off x="2857500" y="2076450"/>
            <a:ext cx="1981200" cy="11049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Gamma</a:t>
            </a:r>
          </a:p>
        </p:txBody>
      </p:sp>
      <p:sp>
        <p:nvSpPr>
          <p:cNvPr id="6" name="Rectangle 5">
            <a:extLst>
              <a:ext uri="{FF2B5EF4-FFF2-40B4-BE49-F238E27FC236}">
                <a16:creationId xmlns:a16="http://schemas.microsoft.com/office/drawing/2014/main" id="{1F85B538-5E30-4538-935C-B785BC7A77A9}"/>
              </a:ext>
            </a:extLst>
          </p:cNvPr>
          <p:cNvSpPr>
            <a:spLocks noGrp="1"/>
          </p:cNvSpPr>
          <p:nvPr/>
        </p:nvSpPr>
        <p:spPr>
          <a:xfrm>
            <a:off x="5105400" y="2076450"/>
            <a:ext cx="1981200" cy="11049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CLAHE</a:t>
            </a:r>
          </a:p>
        </p:txBody>
      </p:sp>
      <p:sp>
        <p:nvSpPr>
          <p:cNvPr id="7" name="Rectangle 6">
            <a:extLst>
              <a:ext uri="{FF2B5EF4-FFF2-40B4-BE49-F238E27FC236}">
                <a16:creationId xmlns:a16="http://schemas.microsoft.com/office/drawing/2014/main" id="{680BD5E3-4195-4512-9426-DCF6E9A75F1C}"/>
              </a:ext>
            </a:extLst>
          </p:cNvPr>
          <p:cNvSpPr>
            <a:spLocks noGrp="1"/>
          </p:cNvSpPr>
          <p:nvPr/>
        </p:nvSpPr>
        <p:spPr>
          <a:xfrm>
            <a:off x="7353300" y="2076450"/>
            <a:ext cx="1981200" cy="11049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Sharpen</a:t>
            </a:r>
          </a:p>
        </p:txBody>
      </p:sp>
      <p:sp>
        <p:nvSpPr>
          <p:cNvPr id="8" name="Rectangle 7">
            <a:extLst>
              <a:ext uri="{FF2B5EF4-FFF2-40B4-BE49-F238E27FC236}">
                <a16:creationId xmlns:a16="http://schemas.microsoft.com/office/drawing/2014/main" id="{530595C0-D7EF-4095-98A8-1C4B393D91FA}"/>
              </a:ext>
            </a:extLst>
          </p:cNvPr>
          <p:cNvSpPr>
            <a:spLocks noGrp="1"/>
          </p:cNvSpPr>
          <p:nvPr/>
        </p:nvSpPr>
        <p:spPr>
          <a:xfrm>
            <a:off x="9601200" y="2076450"/>
            <a:ext cx="1981200" cy="11049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Color</a:t>
            </a:r>
          </a:p>
        </p:txBody>
      </p:sp>
      <p:sp>
        <p:nvSpPr>
          <p:cNvPr id="13" name="Rectangle 12">
            <a:extLst>
              <a:ext uri="{FF2B5EF4-FFF2-40B4-BE49-F238E27FC236}">
                <a16:creationId xmlns:a16="http://schemas.microsoft.com/office/drawing/2014/main" id="{80C4D71C-8608-4FF5-A19C-A63618CBD9D8}"/>
              </a:ext>
            </a:extLst>
          </p:cNvPr>
          <p:cNvSpPr>
            <a:spLocks noGrp="1"/>
          </p:cNvSpPr>
          <p:nvPr/>
        </p:nvSpPr>
        <p:spPr>
          <a:xfrm>
            <a:off x="609600" y="3914775"/>
            <a:ext cx="10858500" cy="476250"/>
          </a:xfrm>
          <a:prstGeom prst="rect">
            <a:avLst/>
          </a:prstGeom>
          <a:noFill/>
          <a:ln w="0">
            <a:noFill/>
          </a:ln>
        </p:spPr>
        <p:txBody>
          <a:bodyPr wrap="square" lIns="0" tIns="0" rIns="0" bIns="0" anchor="t">
            <a:noAutofit/>
          </a:bodyPr>
          <a:lstStyle>
            <a:defPPr algn="l">
              <a:defRPr sz="2475" b="1">
                <a:solidFill>
                  <a:srgbClr val="267C83"/>
                </a:solidFill>
                <a:latin typeface="Arial"/>
                <a:ea typeface="Arial"/>
                <a:cs typeface="Arial"/>
              </a:defRPr>
            </a:defPPr>
            <a:lvl1pPr algn="l">
              <a:defRPr sz="2475" b="1">
                <a:solidFill>
                  <a:srgbClr val="267C83"/>
                </a:solidFill>
                <a:latin typeface="Arial"/>
                <a:ea typeface="Arial"/>
                <a:cs typeface="Arial"/>
              </a:defRPr>
            </a:lvl1pPr>
            <a:lvl2pPr algn="l">
              <a:defRPr sz="2475" b="1">
                <a:solidFill>
                  <a:srgbClr val="267C83"/>
                </a:solidFill>
                <a:latin typeface="Arial"/>
                <a:ea typeface="Arial"/>
                <a:cs typeface="Arial"/>
              </a:defRPr>
            </a:lvl2pPr>
            <a:lvl3pPr algn="l">
              <a:defRPr sz="2475" b="1">
                <a:solidFill>
                  <a:srgbClr val="267C83"/>
                </a:solidFill>
                <a:latin typeface="Arial"/>
                <a:ea typeface="Arial"/>
                <a:cs typeface="Arial"/>
              </a:defRPr>
            </a:lvl3pPr>
            <a:lvl4pPr algn="l">
              <a:defRPr sz="2475" b="1">
                <a:solidFill>
                  <a:srgbClr val="267C83"/>
                </a:solidFill>
                <a:latin typeface="Arial"/>
                <a:ea typeface="Arial"/>
                <a:cs typeface="Arial"/>
              </a:defRPr>
            </a:lvl4pPr>
            <a:lvl5pPr algn="l">
              <a:defRPr sz="2475" b="1">
                <a:solidFill>
                  <a:srgbClr val="267C83"/>
                </a:solidFill>
                <a:latin typeface="Arial"/>
                <a:ea typeface="Arial"/>
                <a:cs typeface="Arial"/>
              </a:defRPr>
            </a:lvl5pPr>
            <a:lvl6pPr algn="l">
              <a:defRPr sz="2475" b="1">
                <a:solidFill>
                  <a:srgbClr val="267C83"/>
                </a:solidFill>
                <a:latin typeface="Arial"/>
                <a:ea typeface="Arial"/>
                <a:cs typeface="Arial"/>
              </a:defRPr>
            </a:lvl6pPr>
            <a:lvl7pPr algn="l">
              <a:defRPr sz="2475" b="1">
                <a:solidFill>
                  <a:srgbClr val="267C83"/>
                </a:solidFill>
                <a:latin typeface="Arial"/>
                <a:ea typeface="Arial"/>
                <a:cs typeface="Arial"/>
              </a:defRPr>
            </a:lvl7pPr>
            <a:lvl8pPr algn="l">
              <a:defRPr sz="2475" b="1">
                <a:solidFill>
                  <a:srgbClr val="267C83"/>
                </a:solidFill>
                <a:latin typeface="Arial"/>
                <a:ea typeface="Arial"/>
                <a:cs typeface="Arial"/>
              </a:defRPr>
            </a:lvl8pPr>
            <a:lvl9pPr algn="l">
              <a:defRPr sz="2475" b="1">
                <a:solidFill>
                  <a:srgbClr val="267C83"/>
                </a:solidFill>
                <a:latin typeface="Arial"/>
                <a:ea typeface="Arial"/>
                <a:cs typeface="Arial"/>
              </a:defRPr>
            </a:lvl9pPr>
          </a:lstStyle>
          <a:p>
            <a:pPr algn="l">
              <a:lnSpc>
                <a:spcPct val="107000"/>
              </a:lnSpc>
              <a:buNone/>
              <a:defRPr sz="2475" b="1">
                <a:solidFill>
                  <a:srgbClr val="267C83"/>
                </a:solidFill>
                <a:latin typeface="Arial"/>
                <a:ea typeface="Arial"/>
                <a:cs typeface="Arial"/>
              </a:defRPr>
            </a:pPr>
            <a:r>
              <a:rPr sz="2475" b="1">
                <a:solidFill>
                  <a:srgbClr val="267C83"/>
                </a:solidFill>
                <a:latin typeface="Arial"/>
                <a:ea typeface="Arial"/>
                <a:cs typeface="Arial"/>
              </a:rPr>
              <a:t>Đầu vào: ảnh, mask và tham số</a:t>
            </a:r>
          </a:p>
        </p:txBody>
      </p:sp>
      <p:sp>
        <p:nvSpPr>
          <p:cNvPr id="14" name="Rectangle 13">
            <a:extLst>
              <a:ext uri="{FF2B5EF4-FFF2-40B4-BE49-F238E27FC236}">
                <a16:creationId xmlns:a16="http://schemas.microsoft.com/office/drawing/2014/main" id="{5A22AC6B-B9AD-47B6-ABDF-F5B80420781A}"/>
              </a:ext>
            </a:extLst>
          </p:cNvPr>
          <p:cNvSpPr>
            <a:spLocks noGrp="1"/>
          </p:cNvSpPr>
          <p:nvPr/>
        </p:nvSpPr>
        <p:spPr>
          <a:xfrm>
            <a:off x="609600" y="4686300"/>
            <a:ext cx="10858500" cy="952500"/>
          </a:xfrm>
          <a:prstGeom prst="rect">
            <a:avLst/>
          </a:prstGeom>
          <a:noFill/>
          <a:ln w="0">
            <a:noFill/>
          </a:ln>
        </p:spPr>
        <p:txBody>
          <a:bodyPr wrap="square" lIns="0" tIns="0" rIns="0" bIns="0" anchor="t">
            <a:noAutofit/>
          </a:bodyPr>
          <a:lstStyle>
            <a:defPPr algn="l">
              <a:defRPr sz="2250" b="0">
                <a:solidFill>
                  <a:srgbClr val="192F43"/>
                </a:solidFill>
                <a:latin typeface="Arial"/>
                <a:ea typeface="Arial"/>
                <a:cs typeface="Arial"/>
              </a:defRPr>
            </a:defPPr>
            <a:lvl1pPr algn="l">
              <a:defRPr sz="2250" b="0">
                <a:solidFill>
                  <a:srgbClr val="192F43"/>
                </a:solidFill>
                <a:latin typeface="Arial"/>
                <a:ea typeface="Arial"/>
                <a:cs typeface="Arial"/>
              </a:defRPr>
            </a:lvl1pPr>
            <a:lvl2pPr algn="l">
              <a:defRPr sz="2250" b="0">
                <a:solidFill>
                  <a:srgbClr val="192F43"/>
                </a:solidFill>
                <a:latin typeface="Arial"/>
                <a:ea typeface="Arial"/>
                <a:cs typeface="Arial"/>
              </a:defRPr>
            </a:lvl2pPr>
            <a:lvl3pPr algn="l">
              <a:defRPr sz="2250" b="0">
                <a:solidFill>
                  <a:srgbClr val="192F43"/>
                </a:solidFill>
                <a:latin typeface="Arial"/>
                <a:ea typeface="Arial"/>
                <a:cs typeface="Arial"/>
              </a:defRPr>
            </a:lvl3pPr>
            <a:lvl4pPr algn="l">
              <a:defRPr sz="2250" b="0">
                <a:solidFill>
                  <a:srgbClr val="192F43"/>
                </a:solidFill>
                <a:latin typeface="Arial"/>
                <a:ea typeface="Arial"/>
                <a:cs typeface="Arial"/>
              </a:defRPr>
            </a:lvl4pPr>
            <a:lvl5pPr algn="l">
              <a:defRPr sz="2250" b="0">
                <a:solidFill>
                  <a:srgbClr val="192F43"/>
                </a:solidFill>
                <a:latin typeface="Arial"/>
                <a:ea typeface="Arial"/>
                <a:cs typeface="Arial"/>
              </a:defRPr>
            </a:lvl5pPr>
            <a:lvl6pPr algn="l">
              <a:defRPr sz="2250" b="0">
                <a:solidFill>
                  <a:srgbClr val="192F43"/>
                </a:solidFill>
                <a:latin typeface="Arial"/>
                <a:ea typeface="Arial"/>
                <a:cs typeface="Arial"/>
              </a:defRPr>
            </a:lvl6pPr>
            <a:lvl7pPr algn="l">
              <a:defRPr sz="2250" b="0">
                <a:solidFill>
                  <a:srgbClr val="192F43"/>
                </a:solidFill>
                <a:latin typeface="Arial"/>
                <a:ea typeface="Arial"/>
                <a:cs typeface="Arial"/>
              </a:defRPr>
            </a:lvl7pPr>
            <a:lvl8pPr algn="l">
              <a:defRPr sz="2250" b="0">
                <a:solidFill>
                  <a:srgbClr val="192F43"/>
                </a:solidFill>
                <a:latin typeface="Arial"/>
                <a:ea typeface="Arial"/>
                <a:cs typeface="Arial"/>
              </a:defRPr>
            </a:lvl8pPr>
            <a:lvl9pPr algn="l">
              <a:defRPr sz="2250" b="0">
                <a:solidFill>
                  <a:srgbClr val="192F43"/>
                </a:solidFill>
                <a:latin typeface="Arial"/>
                <a:ea typeface="Arial"/>
                <a:cs typeface="Arial"/>
              </a:defRPr>
            </a:lvl9pPr>
          </a:lstStyle>
          <a:p>
            <a:pPr algn="l">
              <a:lnSpc>
                <a:spcPct val="107000"/>
              </a:lnSpc>
              <a:buNone/>
              <a:defRPr sz="2250" b="0">
                <a:solidFill>
                  <a:srgbClr val="192F43"/>
                </a:solidFill>
                <a:latin typeface="Arial"/>
                <a:ea typeface="Arial"/>
                <a:cs typeface="Arial"/>
              </a:defRPr>
            </a:pPr>
            <a:r>
              <a:rPr sz="2250" b="0">
                <a:solidFill>
                  <a:srgbClr val="192F43"/>
                </a:solidFill>
                <a:latin typeface="Arial"/>
                <a:ea typeface="Arial"/>
                <a:cs typeface="Arial"/>
              </a:rPr>
              <a:t>Đầu ra giữ nguyên kích thước và kiểu uint8</a:t>
            </a:r>
          </a:p>
          <a:p>
            <a:pPr algn="l">
              <a:lnSpc>
                <a:spcPct val="107000"/>
              </a:lnSpc>
              <a:buNone/>
              <a:defRPr sz="2250" b="0">
                <a:solidFill>
                  <a:srgbClr val="192F43"/>
                </a:solidFill>
                <a:latin typeface="Arial"/>
                <a:ea typeface="Arial"/>
                <a:cs typeface="Arial"/>
              </a:defRPr>
            </a:pPr>
            <a:r>
              <a:rPr sz="2250" b="0">
                <a:solidFill>
                  <a:srgbClr val="192F43"/>
                </a:solidFill>
                <a:latin typeface="Arial"/>
                <a:ea typeface="Arial"/>
                <a:cs typeface="Arial"/>
              </a:rPr>
              <a:t>Planner ấn định thứ tự, engine thực thi thuật toán</a:t>
            </a:r>
          </a:p>
        </p:txBody>
      </p:sp>
      <p:sp>
        <p:nvSpPr>
          <p:cNvPr id="15" name="Rectangle 14">
            <a:extLst>
              <a:ext uri="{FF2B5EF4-FFF2-40B4-BE49-F238E27FC236}">
                <a16:creationId xmlns:a16="http://schemas.microsoft.com/office/drawing/2014/main" id="{087F3E0E-13AB-453E-85A3-DD39197D91C0}"/>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Khử nhiễu đứng trước làm nét. Các phép xử lý đều cổ điển.</a:t>
            </a:r>
          </a:p>
        </p:txBody>
      </p:sp>
    </p:spTree>
    <p:extLst>
      <p:ext uri="{BB962C8B-B14F-4D97-AF65-F5344CB8AC3E}">
        <p14:creationId xmlns:p14="http://schemas.microsoft.com/office/powerpoint/2010/main" val="1765543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A83110B-041E-452B-B9A9-D641AA0870BB}"/>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3  XỬ LÝ ĐIỂM ẢNH CỔ ĐIỂN</a:t>
            </a:r>
          </a:p>
        </p:txBody>
      </p:sp>
      <p:sp>
        <p:nvSpPr>
          <p:cNvPr id="2" name="Rectangle 1">
            <a:extLst>
              <a:ext uri="{FF2B5EF4-FFF2-40B4-BE49-F238E27FC236}">
                <a16:creationId xmlns:a16="http://schemas.microsoft.com/office/drawing/2014/main" id="{16CB65FA-853C-45E9-8046-2FBED55D6581}"/>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Khử nhiễu và đánh đổi chi tiết</a:t>
            </a:r>
          </a:p>
        </p:txBody>
      </p:sp>
      <p:sp>
        <p:nvSpPr>
          <p:cNvPr id="3" name="Rectangle 2">
            <a:extLst>
              <a:ext uri="{FF2B5EF4-FFF2-40B4-BE49-F238E27FC236}">
                <a16:creationId xmlns:a16="http://schemas.microsoft.com/office/drawing/2014/main" id="{FA5EC1B6-3E89-4DF2-9CE2-3C148ED3DB35}"/>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11</a:t>
            </a:r>
          </a:p>
        </p:txBody>
      </p:sp>
      <p:pic>
        <p:nvPicPr>
          <p:cNvPr id="4" name="Picture 3">
            <a:extLst>
              <a:ext uri="{FF2B5EF4-FFF2-40B4-BE49-F238E27FC236}">
                <a16:creationId xmlns:a16="http://schemas.microsoft.com/office/drawing/2014/main" id="{8A1A4A66-82EC-4EC5-B879-460C189B1D3C}"/>
              </a:ext>
            </a:extLst>
          </p:cNvPr>
          <p:cNvPicPr>
            <a:picLocks noChangeAspect="1"/>
          </p:cNvPicPr>
          <p:nvPr/>
        </p:nvPicPr>
        <p:blipFill>
          <a:blip r:embed="rId3"/>
          <a:srcRect l="933" t="1186" r="67600" b="58814"/>
          <a:stretch/>
        </p:blipFill>
        <p:spPr>
          <a:xfrm>
            <a:off x="609600" y="1752600"/>
            <a:ext cx="2457450" cy="2457450"/>
          </a:xfrm>
          <a:prstGeom prst="rect">
            <a:avLst/>
          </a:prstGeom>
        </p:spPr>
      </p:pic>
      <p:sp>
        <p:nvSpPr>
          <p:cNvPr id="5" name="Rectangle 4">
            <a:extLst>
              <a:ext uri="{FF2B5EF4-FFF2-40B4-BE49-F238E27FC236}">
                <a16:creationId xmlns:a16="http://schemas.microsoft.com/office/drawing/2014/main" id="{FAAE9758-E735-44F9-B41A-9337B84F35F7}"/>
              </a:ext>
            </a:extLst>
          </p:cNvPr>
          <p:cNvSpPr>
            <a:spLocks noGrp="1"/>
          </p:cNvSpPr>
          <p:nvPr/>
        </p:nvSpPr>
        <p:spPr>
          <a:xfrm>
            <a:off x="609600" y="4324350"/>
            <a:ext cx="24574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Crop sạch</a:t>
            </a:r>
          </a:p>
        </p:txBody>
      </p:sp>
      <p:pic>
        <p:nvPicPr>
          <p:cNvPr id="6" name="Picture 5">
            <a:extLst>
              <a:ext uri="{FF2B5EF4-FFF2-40B4-BE49-F238E27FC236}">
                <a16:creationId xmlns:a16="http://schemas.microsoft.com/office/drawing/2014/main" id="{1D23569E-8F26-47FD-8504-C33502861E6E}"/>
              </a:ext>
            </a:extLst>
          </p:cNvPr>
          <p:cNvPicPr>
            <a:picLocks noChangeAspect="1"/>
          </p:cNvPicPr>
          <p:nvPr/>
        </p:nvPicPr>
        <p:blipFill>
          <a:blip r:embed="rId3"/>
          <a:srcRect l="34267" t="1186" r="34267" b="58814"/>
          <a:stretch/>
        </p:blipFill>
        <p:spPr>
          <a:xfrm>
            <a:off x="3467100" y="1752600"/>
            <a:ext cx="2457450" cy="2457450"/>
          </a:xfrm>
          <a:prstGeom prst="rect">
            <a:avLst/>
          </a:prstGeom>
        </p:spPr>
      </p:pic>
      <p:sp>
        <p:nvSpPr>
          <p:cNvPr id="7" name="Rectangle 6">
            <a:extLst>
              <a:ext uri="{FF2B5EF4-FFF2-40B4-BE49-F238E27FC236}">
                <a16:creationId xmlns:a16="http://schemas.microsoft.com/office/drawing/2014/main" id="{FE3597CB-3E0D-415F-ADB1-80D17AA33BA9}"/>
              </a:ext>
            </a:extLst>
          </p:cNvPr>
          <p:cNvSpPr>
            <a:spLocks noGrp="1"/>
          </p:cNvSpPr>
          <p:nvPr/>
        </p:nvSpPr>
        <p:spPr>
          <a:xfrm>
            <a:off x="3467100" y="4324350"/>
            <a:ext cx="24574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Gaussian σ = 25</a:t>
            </a:r>
          </a:p>
        </p:txBody>
      </p:sp>
      <p:pic>
        <p:nvPicPr>
          <p:cNvPr id="8" name="Picture 7">
            <a:extLst>
              <a:ext uri="{FF2B5EF4-FFF2-40B4-BE49-F238E27FC236}">
                <a16:creationId xmlns:a16="http://schemas.microsoft.com/office/drawing/2014/main" id="{7D7C7882-D60D-41B6-8C95-F11097386055}"/>
              </a:ext>
            </a:extLst>
          </p:cNvPr>
          <p:cNvPicPr>
            <a:picLocks noChangeAspect="1"/>
          </p:cNvPicPr>
          <p:nvPr/>
        </p:nvPicPr>
        <p:blipFill>
          <a:blip r:embed="rId3"/>
          <a:srcRect l="933" t="51186" r="67600" b="8814"/>
          <a:stretch/>
        </p:blipFill>
        <p:spPr>
          <a:xfrm>
            <a:off x="6324600" y="1752600"/>
            <a:ext cx="2457450" cy="2457450"/>
          </a:xfrm>
          <a:prstGeom prst="rect">
            <a:avLst/>
          </a:prstGeom>
        </p:spPr>
      </p:pic>
      <p:sp>
        <p:nvSpPr>
          <p:cNvPr id="9" name="Rectangle 8">
            <a:extLst>
              <a:ext uri="{FF2B5EF4-FFF2-40B4-BE49-F238E27FC236}">
                <a16:creationId xmlns:a16="http://schemas.microsoft.com/office/drawing/2014/main" id="{10E28F95-51CE-45C1-8470-B87B547DCD64}"/>
              </a:ext>
            </a:extLst>
          </p:cNvPr>
          <p:cNvSpPr>
            <a:spLocks noGrp="1"/>
          </p:cNvSpPr>
          <p:nvPr/>
        </p:nvSpPr>
        <p:spPr>
          <a:xfrm>
            <a:off x="6324600" y="4324350"/>
            <a:ext cx="24574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Bilateral strength 2</a:t>
            </a:r>
          </a:p>
        </p:txBody>
      </p:sp>
      <p:pic>
        <p:nvPicPr>
          <p:cNvPr id="10" name="Picture 9">
            <a:extLst>
              <a:ext uri="{FF2B5EF4-FFF2-40B4-BE49-F238E27FC236}">
                <a16:creationId xmlns:a16="http://schemas.microsoft.com/office/drawing/2014/main" id="{07FC22E7-DEF2-4680-9884-80EAD584B26F}"/>
              </a:ext>
            </a:extLst>
          </p:cNvPr>
          <p:cNvPicPr>
            <a:picLocks noChangeAspect="1"/>
          </p:cNvPicPr>
          <p:nvPr/>
        </p:nvPicPr>
        <p:blipFill>
          <a:blip r:embed="rId3"/>
          <a:srcRect l="34267" t="51186" r="34267" b="8814"/>
          <a:stretch/>
        </p:blipFill>
        <p:spPr>
          <a:xfrm>
            <a:off x="9182100" y="1752600"/>
            <a:ext cx="2381250" cy="2381250"/>
          </a:xfrm>
          <a:prstGeom prst="rect">
            <a:avLst/>
          </a:prstGeom>
        </p:spPr>
      </p:pic>
      <p:sp>
        <p:nvSpPr>
          <p:cNvPr id="11" name="Rectangle 10">
            <a:extLst>
              <a:ext uri="{FF2B5EF4-FFF2-40B4-BE49-F238E27FC236}">
                <a16:creationId xmlns:a16="http://schemas.microsoft.com/office/drawing/2014/main" id="{CC88FC6A-D37F-4FFC-8BFD-39805ED1EEC2}"/>
              </a:ext>
            </a:extLst>
          </p:cNvPr>
          <p:cNvSpPr>
            <a:spLocks noGrp="1"/>
          </p:cNvSpPr>
          <p:nvPr/>
        </p:nvSpPr>
        <p:spPr>
          <a:xfrm>
            <a:off x="9182100" y="4248150"/>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NLM strength 2</a:t>
            </a:r>
          </a:p>
        </p:txBody>
      </p:sp>
      <p:sp>
        <p:nvSpPr>
          <p:cNvPr id="12" name="Rectangle 11">
            <a:extLst>
              <a:ext uri="{FF2B5EF4-FFF2-40B4-BE49-F238E27FC236}">
                <a16:creationId xmlns:a16="http://schemas.microsoft.com/office/drawing/2014/main" id="{F9A78D61-CDBF-4A3B-A26F-194A915E0C36}"/>
              </a:ext>
            </a:extLst>
          </p:cNvPr>
          <p:cNvSpPr>
            <a:spLocks noGrp="1"/>
          </p:cNvSpPr>
          <p:nvPr/>
        </p:nvSpPr>
        <p:spPr>
          <a:xfrm>
            <a:off x="609600" y="5133975"/>
            <a:ext cx="10858500" cy="476250"/>
          </a:xfrm>
          <a:prstGeom prst="rect">
            <a:avLst/>
          </a:prstGeom>
          <a:noFill/>
          <a:ln w="0">
            <a:noFill/>
          </a:ln>
        </p:spPr>
        <p:txBody>
          <a:bodyPr wrap="square" lIns="0" tIns="0" rIns="0" bIns="0" anchor="t">
            <a:noAutofit/>
          </a:bodyPr>
          <a:lstStyle>
            <a:defPPr algn="l">
              <a:defRPr sz="2475" b="1">
                <a:solidFill>
                  <a:srgbClr val="267C83"/>
                </a:solidFill>
                <a:latin typeface="Arial"/>
                <a:ea typeface="Arial"/>
                <a:cs typeface="Arial"/>
              </a:defRPr>
            </a:defPPr>
            <a:lvl1pPr algn="l">
              <a:defRPr sz="2475" b="1">
                <a:solidFill>
                  <a:srgbClr val="267C83"/>
                </a:solidFill>
                <a:latin typeface="Arial"/>
                <a:ea typeface="Arial"/>
                <a:cs typeface="Arial"/>
              </a:defRPr>
            </a:lvl1pPr>
            <a:lvl2pPr algn="l">
              <a:defRPr sz="2475" b="1">
                <a:solidFill>
                  <a:srgbClr val="267C83"/>
                </a:solidFill>
                <a:latin typeface="Arial"/>
                <a:ea typeface="Arial"/>
                <a:cs typeface="Arial"/>
              </a:defRPr>
            </a:lvl2pPr>
            <a:lvl3pPr algn="l">
              <a:defRPr sz="2475" b="1">
                <a:solidFill>
                  <a:srgbClr val="267C83"/>
                </a:solidFill>
                <a:latin typeface="Arial"/>
                <a:ea typeface="Arial"/>
                <a:cs typeface="Arial"/>
              </a:defRPr>
            </a:lvl3pPr>
            <a:lvl4pPr algn="l">
              <a:defRPr sz="2475" b="1">
                <a:solidFill>
                  <a:srgbClr val="267C83"/>
                </a:solidFill>
                <a:latin typeface="Arial"/>
                <a:ea typeface="Arial"/>
                <a:cs typeface="Arial"/>
              </a:defRPr>
            </a:lvl4pPr>
            <a:lvl5pPr algn="l">
              <a:defRPr sz="2475" b="1">
                <a:solidFill>
                  <a:srgbClr val="267C83"/>
                </a:solidFill>
                <a:latin typeface="Arial"/>
                <a:ea typeface="Arial"/>
                <a:cs typeface="Arial"/>
              </a:defRPr>
            </a:lvl5pPr>
            <a:lvl6pPr algn="l">
              <a:defRPr sz="2475" b="1">
                <a:solidFill>
                  <a:srgbClr val="267C83"/>
                </a:solidFill>
                <a:latin typeface="Arial"/>
                <a:ea typeface="Arial"/>
                <a:cs typeface="Arial"/>
              </a:defRPr>
            </a:lvl6pPr>
            <a:lvl7pPr algn="l">
              <a:defRPr sz="2475" b="1">
                <a:solidFill>
                  <a:srgbClr val="267C83"/>
                </a:solidFill>
                <a:latin typeface="Arial"/>
                <a:ea typeface="Arial"/>
                <a:cs typeface="Arial"/>
              </a:defRPr>
            </a:lvl7pPr>
            <a:lvl8pPr algn="l">
              <a:defRPr sz="2475" b="1">
                <a:solidFill>
                  <a:srgbClr val="267C83"/>
                </a:solidFill>
                <a:latin typeface="Arial"/>
                <a:ea typeface="Arial"/>
                <a:cs typeface="Arial"/>
              </a:defRPr>
            </a:lvl8pPr>
            <a:lvl9pPr algn="l">
              <a:defRPr sz="2475" b="1">
                <a:solidFill>
                  <a:srgbClr val="267C83"/>
                </a:solidFill>
                <a:latin typeface="Arial"/>
                <a:ea typeface="Arial"/>
                <a:cs typeface="Arial"/>
              </a:defRPr>
            </a:lvl9pPr>
          </a:lstStyle>
          <a:p>
            <a:pPr algn="l">
              <a:lnSpc>
                <a:spcPct val="107000"/>
              </a:lnSpc>
              <a:buNone/>
              <a:defRPr sz="2475" b="1">
                <a:solidFill>
                  <a:srgbClr val="267C83"/>
                </a:solidFill>
                <a:latin typeface="Arial"/>
                <a:ea typeface="Arial"/>
                <a:cs typeface="Arial"/>
              </a:defRPr>
            </a:pPr>
            <a:r>
              <a:rPr sz="2475" b="1">
                <a:solidFill>
                  <a:srgbClr val="267C83"/>
                </a:solidFill>
                <a:latin typeface="Arial"/>
                <a:ea typeface="Arial"/>
                <a:cs typeface="Arial"/>
              </a:rPr>
              <a:t>Giảm hạt mạnh có thể làm mất texture</a:t>
            </a:r>
          </a:p>
        </p:txBody>
      </p:sp>
      <p:sp>
        <p:nvSpPr>
          <p:cNvPr id="13" name="Rectangle 12">
            <a:extLst>
              <a:ext uri="{FF2B5EF4-FFF2-40B4-BE49-F238E27FC236}">
                <a16:creationId xmlns:a16="http://schemas.microsoft.com/office/drawing/2014/main" id="{CEC144D8-06AD-4FAF-AE17-BDD06BB1ADE3}"/>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Gaussian, Median, Bilateral, NLM. Sigma mục tiêu = 12,5 × strength. Agent giới hạn 0,1–2,0.</a:t>
            </a:r>
          </a:p>
        </p:txBody>
      </p:sp>
    </p:spTree>
    <p:extLst>
      <p:ext uri="{BB962C8B-B14F-4D97-AF65-F5344CB8AC3E}">
        <p14:creationId xmlns:p14="http://schemas.microsoft.com/office/powerpoint/2010/main" val="1657117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571EB35-EE33-4562-96E7-868C02484B4D}"/>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3  XỬ LÝ ĐIỂM ẢNH CỔ ĐIỂN</a:t>
            </a:r>
          </a:p>
        </p:txBody>
      </p:sp>
      <p:sp>
        <p:nvSpPr>
          <p:cNvPr id="2" name="Rectangle 1">
            <a:extLst>
              <a:ext uri="{FF2B5EF4-FFF2-40B4-BE49-F238E27FC236}">
                <a16:creationId xmlns:a16="http://schemas.microsoft.com/office/drawing/2014/main" id="{EAA92C18-5A3A-4360-BC99-9D973064B3E4}"/>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Gamma và CLAHE cho sáng và tương phản</a:t>
            </a:r>
          </a:p>
        </p:txBody>
      </p:sp>
      <p:sp>
        <p:nvSpPr>
          <p:cNvPr id="3" name="Rectangle 2">
            <a:extLst>
              <a:ext uri="{FF2B5EF4-FFF2-40B4-BE49-F238E27FC236}">
                <a16:creationId xmlns:a16="http://schemas.microsoft.com/office/drawing/2014/main" id="{28FE1961-6E9E-47E4-AADD-68EF8405763E}"/>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12</a:t>
            </a:r>
          </a:p>
        </p:txBody>
      </p:sp>
      <p:pic>
        <p:nvPicPr>
          <p:cNvPr id="4" name="Picture 3">
            <a:extLst>
              <a:ext uri="{FF2B5EF4-FFF2-40B4-BE49-F238E27FC236}">
                <a16:creationId xmlns:a16="http://schemas.microsoft.com/office/drawing/2014/main" id="{C19D7CFF-B6AA-4D8E-914B-6BB07E9E5BB4}"/>
              </a:ext>
            </a:extLst>
          </p:cNvPr>
          <p:cNvPicPr>
            <a:picLocks noChangeAspect="1"/>
          </p:cNvPicPr>
          <p:nvPr/>
        </p:nvPicPr>
        <p:blipFill>
          <a:blip r:embed="rId3"/>
          <a:srcRect l="933" t="2373" r="67600" b="17627"/>
          <a:stretch/>
        </p:blipFill>
        <p:spPr>
          <a:xfrm>
            <a:off x="609600" y="1628775"/>
            <a:ext cx="2381250" cy="2381250"/>
          </a:xfrm>
          <a:prstGeom prst="rect">
            <a:avLst/>
          </a:prstGeom>
        </p:spPr>
      </p:pic>
      <p:sp>
        <p:nvSpPr>
          <p:cNvPr id="5" name="Rectangle 4">
            <a:extLst>
              <a:ext uri="{FF2B5EF4-FFF2-40B4-BE49-F238E27FC236}">
                <a16:creationId xmlns:a16="http://schemas.microsoft.com/office/drawing/2014/main" id="{E9507655-7063-4259-81DC-6A89375163DC}"/>
              </a:ext>
            </a:extLst>
          </p:cNvPr>
          <p:cNvSpPr>
            <a:spLocks noGrp="1"/>
          </p:cNvSpPr>
          <p:nvPr/>
        </p:nvSpPr>
        <p:spPr>
          <a:xfrm>
            <a:off x="609600" y="4124325"/>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Ảnh tối</a:t>
            </a:r>
          </a:p>
        </p:txBody>
      </p:sp>
      <p:pic>
        <p:nvPicPr>
          <p:cNvPr id="6" name="Picture 5">
            <a:extLst>
              <a:ext uri="{FF2B5EF4-FFF2-40B4-BE49-F238E27FC236}">
                <a16:creationId xmlns:a16="http://schemas.microsoft.com/office/drawing/2014/main" id="{FDC9B838-47D2-4F63-8E37-CBD0C814BBE7}"/>
              </a:ext>
            </a:extLst>
          </p:cNvPr>
          <p:cNvPicPr>
            <a:picLocks noChangeAspect="1"/>
          </p:cNvPicPr>
          <p:nvPr/>
        </p:nvPicPr>
        <p:blipFill>
          <a:blip r:embed="rId3"/>
          <a:srcRect l="67600" t="2373" r="933" b="17627"/>
          <a:stretch/>
        </p:blipFill>
        <p:spPr>
          <a:xfrm>
            <a:off x="3371850" y="1628775"/>
            <a:ext cx="2381250" cy="2381250"/>
          </a:xfrm>
          <a:prstGeom prst="rect">
            <a:avLst/>
          </a:prstGeom>
        </p:spPr>
      </p:pic>
      <p:sp>
        <p:nvSpPr>
          <p:cNvPr id="7" name="Rectangle 6">
            <a:extLst>
              <a:ext uri="{FF2B5EF4-FFF2-40B4-BE49-F238E27FC236}">
                <a16:creationId xmlns:a16="http://schemas.microsoft.com/office/drawing/2014/main" id="{915E75F0-CFC2-4806-8E59-5721901D11F6}"/>
              </a:ext>
            </a:extLst>
          </p:cNvPr>
          <p:cNvSpPr>
            <a:spLocks noGrp="1"/>
          </p:cNvSpPr>
          <p:nvPr/>
        </p:nvSpPr>
        <p:spPr>
          <a:xfrm>
            <a:off x="3371850" y="4124325"/>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Gamma 2,5</a:t>
            </a:r>
          </a:p>
        </p:txBody>
      </p:sp>
      <p:pic>
        <p:nvPicPr>
          <p:cNvPr id="8" name="Picture 7">
            <a:extLst>
              <a:ext uri="{FF2B5EF4-FFF2-40B4-BE49-F238E27FC236}">
                <a16:creationId xmlns:a16="http://schemas.microsoft.com/office/drawing/2014/main" id="{881B0BCE-A9E9-4C94-BEAD-5A3DECECFC40}"/>
              </a:ext>
            </a:extLst>
          </p:cNvPr>
          <p:cNvPicPr>
            <a:picLocks noChangeAspect="1"/>
          </p:cNvPicPr>
          <p:nvPr/>
        </p:nvPicPr>
        <p:blipFill>
          <a:blip r:embed="rId4"/>
          <a:srcRect l="34267" t="2373" r="34267" b="17627"/>
          <a:stretch/>
        </p:blipFill>
        <p:spPr>
          <a:xfrm>
            <a:off x="6343650" y="1628775"/>
            <a:ext cx="2381250" cy="2381250"/>
          </a:xfrm>
          <a:prstGeom prst="rect">
            <a:avLst/>
          </a:prstGeom>
        </p:spPr>
      </p:pic>
      <p:sp>
        <p:nvSpPr>
          <p:cNvPr id="9" name="Rectangle 8">
            <a:extLst>
              <a:ext uri="{FF2B5EF4-FFF2-40B4-BE49-F238E27FC236}">
                <a16:creationId xmlns:a16="http://schemas.microsoft.com/office/drawing/2014/main" id="{434F229F-EA5C-42DF-B831-0AB6B1DC9DE5}"/>
              </a:ext>
            </a:extLst>
          </p:cNvPr>
          <p:cNvSpPr>
            <a:spLocks noGrp="1"/>
          </p:cNvSpPr>
          <p:nvPr/>
        </p:nvSpPr>
        <p:spPr>
          <a:xfrm>
            <a:off x="6343650" y="4124325"/>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Tương phản thấp</a:t>
            </a:r>
          </a:p>
        </p:txBody>
      </p:sp>
      <p:pic>
        <p:nvPicPr>
          <p:cNvPr id="10" name="Picture 9">
            <a:extLst>
              <a:ext uri="{FF2B5EF4-FFF2-40B4-BE49-F238E27FC236}">
                <a16:creationId xmlns:a16="http://schemas.microsoft.com/office/drawing/2014/main" id="{961138D4-9775-4697-830C-B6393AF49E72}"/>
              </a:ext>
            </a:extLst>
          </p:cNvPr>
          <p:cNvPicPr>
            <a:picLocks noChangeAspect="1"/>
          </p:cNvPicPr>
          <p:nvPr/>
        </p:nvPicPr>
        <p:blipFill>
          <a:blip r:embed="rId4"/>
          <a:srcRect l="67600" t="2373" r="933" b="17627"/>
          <a:stretch/>
        </p:blipFill>
        <p:spPr>
          <a:xfrm>
            <a:off x="9105900" y="1628775"/>
            <a:ext cx="2381250" cy="2381250"/>
          </a:xfrm>
          <a:prstGeom prst="rect">
            <a:avLst/>
          </a:prstGeom>
        </p:spPr>
      </p:pic>
      <p:sp>
        <p:nvSpPr>
          <p:cNvPr id="11" name="Rectangle 10">
            <a:extLst>
              <a:ext uri="{FF2B5EF4-FFF2-40B4-BE49-F238E27FC236}">
                <a16:creationId xmlns:a16="http://schemas.microsoft.com/office/drawing/2014/main" id="{F003199C-CDCE-4C51-A6D3-417B4DF890F0}"/>
              </a:ext>
            </a:extLst>
          </p:cNvPr>
          <p:cNvSpPr>
            <a:spLocks noGrp="1"/>
          </p:cNvSpPr>
          <p:nvPr/>
        </p:nvSpPr>
        <p:spPr>
          <a:xfrm>
            <a:off x="9105900" y="4124325"/>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CLAHE clip 2</a:t>
            </a:r>
          </a:p>
        </p:txBody>
      </p:sp>
      <p:sp>
        <p:nvSpPr>
          <p:cNvPr id="12" name="Rectangle 11">
            <a:extLst>
              <a:ext uri="{FF2B5EF4-FFF2-40B4-BE49-F238E27FC236}">
                <a16:creationId xmlns:a16="http://schemas.microsoft.com/office/drawing/2014/main" id="{A6973DFC-7DDD-4996-A217-809C9CAF9553}"/>
              </a:ext>
            </a:extLst>
          </p:cNvPr>
          <p:cNvSpPr>
            <a:spLocks noGrp="1"/>
          </p:cNvSpPr>
          <p:nvPr/>
        </p:nvSpPr>
        <p:spPr>
          <a:xfrm>
            <a:off x="609600" y="4800600"/>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Gamma</a:t>
            </a:r>
          </a:p>
        </p:txBody>
      </p:sp>
      <p:sp>
        <p:nvSpPr>
          <p:cNvPr id="13" name="Rectangle 12">
            <a:extLst>
              <a:ext uri="{FF2B5EF4-FFF2-40B4-BE49-F238E27FC236}">
                <a16:creationId xmlns:a16="http://schemas.microsoft.com/office/drawing/2014/main" id="{1A5F0BA5-A8EF-4802-BC1D-77198591B4BD}"/>
              </a:ext>
            </a:extLst>
          </p:cNvPr>
          <p:cNvSpPr>
            <a:spLocks noGrp="1"/>
          </p:cNvSpPr>
          <p:nvPr/>
        </p:nvSpPr>
        <p:spPr>
          <a:xfrm>
            <a:off x="609600" y="5238750"/>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LUT theo số mũ 1 / gamma</a:t>
            </a:r>
          </a:p>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Gamma &gt; 1 nâng sáng</a:t>
            </a:r>
          </a:p>
        </p:txBody>
      </p:sp>
      <p:sp>
        <p:nvSpPr>
          <p:cNvPr id="14" name="Rectangle 13">
            <a:extLst>
              <a:ext uri="{FF2B5EF4-FFF2-40B4-BE49-F238E27FC236}">
                <a16:creationId xmlns:a16="http://schemas.microsoft.com/office/drawing/2014/main" id="{799B4DFE-75A3-4330-92B3-35956B29ADA9}"/>
              </a:ext>
            </a:extLst>
          </p:cNvPr>
          <p:cNvSpPr>
            <a:spLocks noGrp="1"/>
          </p:cNvSpPr>
          <p:nvPr/>
        </p:nvSpPr>
        <p:spPr>
          <a:xfrm>
            <a:off x="6343650" y="4800600"/>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CLAHE</a:t>
            </a:r>
          </a:p>
        </p:txBody>
      </p:sp>
      <p:sp>
        <p:nvSpPr>
          <p:cNvPr id="15" name="Rectangle 14">
            <a:extLst>
              <a:ext uri="{FF2B5EF4-FFF2-40B4-BE49-F238E27FC236}">
                <a16:creationId xmlns:a16="http://schemas.microsoft.com/office/drawing/2014/main" id="{64169C7E-B8D9-446A-ACAA-D12B837D9901}"/>
              </a:ext>
            </a:extLst>
          </p:cNvPr>
          <p:cNvSpPr>
            <a:spLocks noGrp="1"/>
          </p:cNvSpPr>
          <p:nvPr/>
        </p:nvSpPr>
        <p:spPr>
          <a:xfrm>
            <a:off x="6343650" y="5238750"/>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Kênh L trong LAB</a:t>
            </a:r>
          </a:p>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Lưới 8×8, giới hạn tương phản</a:t>
            </a:r>
          </a:p>
        </p:txBody>
      </p:sp>
      <p:sp>
        <p:nvSpPr>
          <p:cNvPr id="16" name="Rectangle 15">
            <a:extLst>
              <a:ext uri="{FF2B5EF4-FFF2-40B4-BE49-F238E27FC236}">
                <a16:creationId xmlns:a16="http://schemas.microsoft.com/office/drawing/2014/main" id="{2DA0D879-03FC-469B-9D8D-2E307F0A0F00}"/>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Nâng sáng chỉ làm rõ tín hiệu còn tồn tại, không phục hồi chi tiết đã clipping.</a:t>
            </a:r>
          </a:p>
        </p:txBody>
      </p:sp>
    </p:spTree>
    <p:extLst>
      <p:ext uri="{BB962C8B-B14F-4D97-AF65-F5344CB8AC3E}">
        <p14:creationId xmlns:p14="http://schemas.microsoft.com/office/powerpoint/2010/main" val="1519508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30E4EDE-77C8-4730-B427-ECDA64099869}"/>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3  XỬ LÝ ĐIỂM ẢNH CỔ ĐIỂN</a:t>
            </a:r>
          </a:p>
        </p:txBody>
      </p:sp>
      <p:sp>
        <p:nvSpPr>
          <p:cNvPr id="2" name="Rectangle 1">
            <a:extLst>
              <a:ext uri="{FF2B5EF4-FFF2-40B4-BE49-F238E27FC236}">
                <a16:creationId xmlns:a16="http://schemas.microsoft.com/office/drawing/2014/main" id="{45DA7D69-B2B2-41E9-AE9F-369018F07EFD}"/>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Tăng nét và điều chỉnh màu</a:t>
            </a:r>
          </a:p>
        </p:txBody>
      </p:sp>
      <p:sp>
        <p:nvSpPr>
          <p:cNvPr id="3" name="Rectangle 2">
            <a:extLst>
              <a:ext uri="{FF2B5EF4-FFF2-40B4-BE49-F238E27FC236}">
                <a16:creationId xmlns:a16="http://schemas.microsoft.com/office/drawing/2014/main" id="{66B05078-54FF-4084-B302-63A8B3C32C18}"/>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13</a:t>
            </a:r>
          </a:p>
        </p:txBody>
      </p:sp>
      <p:pic>
        <p:nvPicPr>
          <p:cNvPr id="4" name="Picture 3">
            <a:extLst>
              <a:ext uri="{FF2B5EF4-FFF2-40B4-BE49-F238E27FC236}">
                <a16:creationId xmlns:a16="http://schemas.microsoft.com/office/drawing/2014/main" id="{C2D8DD16-F9FD-4208-8B9A-E43DF5601CDE}"/>
              </a:ext>
            </a:extLst>
          </p:cNvPr>
          <p:cNvPicPr>
            <a:picLocks noChangeAspect="1"/>
          </p:cNvPicPr>
          <p:nvPr/>
        </p:nvPicPr>
        <p:blipFill>
          <a:blip r:embed="rId3"/>
          <a:srcRect l="25814" t="2692" r="50814" b="20000"/>
          <a:stretch/>
        </p:blipFill>
        <p:spPr>
          <a:xfrm>
            <a:off x="609600" y="1676400"/>
            <a:ext cx="2381250" cy="2381250"/>
          </a:xfrm>
          <a:prstGeom prst="rect">
            <a:avLst/>
          </a:prstGeom>
        </p:spPr>
      </p:pic>
      <p:sp>
        <p:nvSpPr>
          <p:cNvPr id="5" name="Rectangle 4">
            <a:extLst>
              <a:ext uri="{FF2B5EF4-FFF2-40B4-BE49-F238E27FC236}">
                <a16:creationId xmlns:a16="http://schemas.microsoft.com/office/drawing/2014/main" id="{5B6AEF95-C9E6-4F5C-B9BD-964F4A426539}"/>
              </a:ext>
            </a:extLst>
          </p:cNvPr>
          <p:cNvSpPr>
            <a:spLocks noGrp="1"/>
          </p:cNvSpPr>
          <p:nvPr/>
        </p:nvSpPr>
        <p:spPr>
          <a:xfrm>
            <a:off x="609600" y="4171950"/>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Mất nét nhẹ</a:t>
            </a:r>
          </a:p>
        </p:txBody>
      </p:sp>
      <p:pic>
        <p:nvPicPr>
          <p:cNvPr id="6" name="Picture 5">
            <a:extLst>
              <a:ext uri="{FF2B5EF4-FFF2-40B4-BE49-F238E27FC236}">
                <a16:creationId xmlns:a16="http://schemas.microsoft.com/office/drawing/2014/main" id="{F7B49EC8-480C-4BDF-B982-3DB100AFDE4D}"/>
              </a:ext>
            </a:extLst>
          </p:cNvPr>
          <p:cNvPicPr>
            <a:picLocks noChangeAspect="1"/>
          </p:cNvPicPr>
          <p:nvPr/>
        </p:nvPicPr>
        <p:blipFill>
          <a:blip r:embed="rId3"/>
          <a:srcRect l="50814" t="2692" r="25814" b="20000"/>
          <a:stretch/>
        </p:blipFill>
        <p:spPr>
          <a:xfrm>
            <a:off x="3371850" y="1676400"/>
            <a:ext cx="2381250" cy="2381250"/>
          </a:xfrm>
          <a:prstGeom prst="rect">
            <a:avLst/>
          </a:prstGeom>
        </p:spPr>
      </p:pic>
      <p:sp>
        <p:nvSpPr>
          <p:cNvPr id="7" name="Rectangle 6">
            <a:extLst>
              <a:ext uri="{FF2B5EF4-FFF2-40B4-BE49-F238E27FC236}">
                <a16:creationId xmlns:a16="http://schemas.microsoft.com/office/drawing/2014/main" id="{FE650B4A-4982-468E-8498-F24C8F240C40}"/>
              </a:ext>
            </a:extLst>
          </p:cNvPr>
          <p:cNvSpPr>
            <a:spLocks noGrp="1"/>
          </p:cNvSpPr>
          <p:nvPr/>
        </p:nvSpPr>
        <p:spPr>
          <a:xfrm>
            <a:off x="3371850" y="4171950"/>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Unsharp amount 0,8</a:t>
            </a:r>
          </a:p>
        </p:txBody>
      </p:sp>
      <p:pic>
        <p:nvPicPr>
          <p:cNvPr id="8" name="Picture 7">
            <a:extLst>
              <a:ext uri="{FF2B5EF4-FFF2-40B4-BE49-F238E27FC236}">
                <a16:creationId xmlns:a16="http://schemas.microsoft.com/office/drawing/2014/main" id="{4EDF585D-CB35-46AD-98E6-C4C8E3A61EBB}"/>
              </a:ext>
            </a:extLst>
          </p:cNvPr>
          <p:cNvPicPr>
            <a:picLocks noChangeAspect="1"/>
          </p:cNvPicPr>
          <p:nvPr/>
        </p:nvPicPr>
        <p:blipFill>
          <a:blip r:embed="rId4"/>
          <a:srcRect l="729" t="2456" r="75729" b="18246"/>
          <a:stretch/>
        </p:blipFill>
        <p:spPr>
          <a:xfrm>
            <a:off x="6343650" y="1676400"/>
            <a:ext cx="2381250" cy="2381250"/>
          </a:xfrm>
          <a:prstGeom prst="rect">
            <a:avLst/>
          </a:prstGeom>
        </p:spPr>
      </p:pic>
      <p:sp>
        <p:nvSpPr>
          <p:cNvPr id="9" name="Rectangle 8">
            <a:extLst>
              <a:ext uri="{FF2B5EF4-FFF2-40B4-BE49-F238E27FC236}">
                <a16:creationId xmlns:a16="http://schemas.microsoft.com/office/drawing/2014/main" id="{8C462A1B-05FB-4EDB-88A7-3F066F658DF6}"/>
              </a:ext>
            </a:extLst>
          </p:cNvPr>
          <p:cNvSpPr>
            <a:spLocks noGrp="1"/>
          </p:cNvSpPr>
          <p:nvPr/>
        </p:nvSpPr>
        <p:spPr>
          <a:xfrm>
            <a:off x="6343650" y="4171950"/>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Màu gốc</a:t>
            </a:r>
          </a:p>
        </p:txBody>
      </p:sp>
      <p:pic>
        <p:nvPicPr>
          <p:cNvPr id="10" name="Picture 9">
            <a:extLst>
              <a:ext uri="{FF2B5EF4-FFF2-40B4-BE49-F238E27FC236}">
                <a16:creationId xmlns:a16="http://schemas.microsoft.com/office/drawing/2014/main" id="{29B18571-4DB5-4B0E-9AF9-6BFE5DEC358B}"/>
              </a:ext>
            </a:extLst>
          </p:cNvPr>
          <p:cNvPicPr>
            <a:picLocks noChangeAspect="1"/>
          </p:cNvPicPr>
          <p:nvPr/>
        </p:nvPicPr>
        <p:blipFill>
          <a:blip r:embed="rId4"/>
          <a:srcRect l="50729" t="2456" r="25729" b="18246"/>
          <a:stretch/>
        </p:blipFill>
        <p:spPr>
          <a:xfrm>
            <a:off x="9105900" y="1676400"/>
            <a:ext cx="2381250" cy="2381250"/>
          </a:xfrm>
          <a:prstGeom prst="rect">
            <a:avLst/>
          </a:prstGeom>
        </p:spPr>
      </p:pic>
      <p:sp>
        <p:nvSpPr>
          <p:cNvPr id="11" name="Rectangle 10">
            <a:extLst>
              <a:ext uri="{FF2B5EF4-FFF2-40B4-BE49-F238E27FC236}">
                <a16:creationId xmlns:a16="http://schemas.microsoft.com/office/drawing/2014/main" id="{D3D816BC-33FA-46A5-A19E-093C238F8B3C}"/>
              </a:ext>
            </a:extLst>
          </p:cNvPr>
          <p:cNvSpPr>
            <a:spLocks noGrp="1"/>
          </p:cNvSpPr>
          <p:nvPr/>
        </p:nvSpPr>
        <p:spPr>
          <a:xfrm>
            <a:off x="9105900" y="4171950"/>
            <a:ext cx="2381250" cy="552450"/>
          </a:xfrm>
          <a:prstGeom prst="rect">
            <a:avLst/>
          </a:prstGeom>
          <a:noFill/>
          <a:ln w="0">
            <a:noFill/>
          </a:ln>
        </p:spPr>
        <p:txBody>
          <a:bodyPr wrap="square" lIns="0" tIns="0" rIns="0" bIns="0" anchor="t">
            <a:noAutofit/>
          </a:bodyPr>
          <a:lstStyle>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a:pPr algn="ctr">
              <a:lnSpc>
                <a:spcPct val="107000"/>
              </a:lnSpc>
              <a:buNone/>
              <a:defRPr sz="1725" b="0">
                <a:solidFill>
                  <a:srgbClr val="192F43"/>
                </a:solidFill>
                <a:latin typeface="Arial"/>
                <a:ea typeface="Arial"/>
                <a:cs typeface="Arial"/>
              </a:defRPr>
            </a:pPr>
            <a:r>
              <a:rPr sz="1725" b="0">
                <a:solidFill>
                  <a:srgbClr val="192F43"/>
                </a:solidFill>
                <a:latin typeface="Arial"/>
                <a:ea typeface="Arial"/>
                <a:cs typeface="Arial"/>
              </a:rPr>
              <a:t>Tông ấm t = +0,8</a:t>
            </a:r>
          </a:p>
        </p:txBody>
      </p:sp>
      <p:sp>
        <p:nvSpPr>
          <p:cNvPr id="12" name="Rectangle 11">
            <a:extLst>
              <a:ext uri="{FF2B5EF4-FFF2-40B4-BE49-F238E27FC236}">
                <a16:creationId xmlns:a16="http://schemas.microsoft.com/office/drawing/2014/main" id="{FBCA1580-73C2-45B8-8572-38EFB6265125}"/>
              </a:ext>
            </a:extLst>
          </p:cNvPr>
          <p:cNvSpPr>
            <a:spLocks noGrp="1"/>
          </p:cNvSpPr>
          <p:nvPr/>
        </p:nvSpPr>
        <p:spPr>
          <a:xfrm>
            <a:off x="609600" y="4829175"/>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Unsharp và Laplacian</a:t>
            </a:r>
          </a:p>
        </p:txBody>
      </p:sp>
      <p:sp>
        <p:nvSpPr>
          <p:cNvPr id="13" name="Rectangle 12">
            <a:extLst>
              <a:ext uri="{FF2B5EF4-FFF2-40B4-BE49-F238E27FC236}">
                <a16:creationId xmlns:a16="http://schemas.microsoft.com/office/drawing/2014/main" id="{2B9FED82-99A4-434F-86C0-A0EEF8785DBA}"/>
              </a:ext>
            </a:extLst>
          </p:cNvPr>
          <p:cNvSpPr>
            <a:spLocks noGrp="1"/>
          </p:cNvSpPr>
          <p:nvPr/>
        </p:nvSpPr>
        <p:spPr>
          <a:xfrm>
            <a:off x="609600" y="5267325"/>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Tăng tương phản biên</a:t>
            </a:r>
          </a:p>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Có thể tạo halo hoặc tăng nhiễu</a:t>
            </a:r>
          </a:p>
        </p:txBody>
      </p:sp>
      <p:sp>
        <p:nvSpPr>
          <p:cNvPr id="14" name="Rectangle 13">
            <a:extLst>
              <a:ext uri="{FF2B5EF4-FFF2-40B4-BE49-F238E27FC236}">
                <a16:creationId xmlns:a16="http://schemas.microsoft.com/office/drawing/2014/main" id="{4DC571DA-4648-4705-820C-4612FF0213DF}"/>
              </a:ext>
            </a:extLst>
          </p:cNvPr>
          <p:cNvSpPr>
            <a:spLocks noGrp="1"/>
          </p:cNvSpPr>
          <p:nvPr/>
        </p:nvSpPr>
        <p:spPr>
          <a:xfrm>
            <a:off x="6343650" y="4829175"/>
            <a:ext cx="523875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Color correction</a:t>
            </a:r>
          </a:p>
        </p:txBody>
      </p:sp>
      <p:sp>
        <p:nvSpPr>
          <p:cNvPr id="15" name="Rectangle 14">
            <a:extLst>
              <a:ext uri="{FF2B5EF4-FFF2-40B4-BE49-F238E27FC236}">
                <a16:creationId xmlns:a16="http://schemas.microsoft.com/office/drawing/2014/main" id="{3F041ADE-E785-4952-ADAF-C9BF9C22A0D0}"/>
              </a:ext>
            </a:extLst>
          </p:cNvPr>
          <p:cNvSpPr>
            <a:spLocks noGrp="1"/>
          </p:cNvSpPr>
          <p:nvPr/>
        </p:nvSpPr>
        <p:spPr>
          <a:xfrm>
            <a:off x="6343650" y="5267325"/>
            <a:ext cx="523875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Nhân saturation trong HSV</a:t>
            </a:r>
          </a:p>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Gain đỏ–lam điều khiển ấm lạnh</a:t>
            </a:r>
          </a:p>
        </p:txBody>
      </p:sp>
      <p:sp>
        <p:nvSpPr>
          <p:cNvPr id="16" name="Rectangle 15">
            <a:extLst>
              <a:ext uri="{FF2B5EF4-FFF2-40B4-BE49-F238E27FC236}">
                <a16:creationId xmlns:a16="http://schemas.microsoft.com/office/drawing/2014/main" id="{0FA51CD3-A623-4FD3-BC0D-CE8C432F1DB5}"/>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Sharpen chưa phải giải chập. Tham số tông ấm lạnh không phải Kelvin.</a:t>
            </a:r>
          </a:p>
        </p:txBody>
      </p:sp>
    </p:spTree>
    <p:extLst>
      <p:ext uri="{BB962C8B-B14F-4D97-AF65-F5344CB8AC3E}">
        <p14:creationId xmlns:p14="http://schemas.microsoft.com/office/powerpoint/2010/main" val="1003342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1CE0D-4612-4E26-AECF-1E80E59F7421}"/>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3  XỬ LÝ ĐIỂM ẢNH CỔ ĐIỂN</a:t>
            </a:r>
          </a:p>
        </p:txBody>
      </p:sp>
      <p:sp>
        <p:nvSpPr>
          <p:cNvPr id="2" name="Rectangle 1">
            <a:extLst>
              <a:ext uri="{FF2B5EF4-FFF2-40B4-BE49-F238E27FC236}">
                <a16:creationId xmlns:a16="http://schemas.microsoft.com/office/drawing/2014/main" id="{371E45D1-CF11-48DE-8D3D-D393D61561A6}"/>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Kết quả benchmark thành phần</a:t>
            </a:r>
          </a:p>
        </p:txBody>
      </p:sp>
      <p:sp>
        <p:nvSpPr>
          <p:cNvPr id="3" name="Rectangle 2">
            <a:extLst>
              <a:ext uri="{FF2B5EF4-FFF2-40B4-BE49-F238E27FC236}">
                <a16:creationId xmlns:a16="http://schemas.microsoft.com/office/drawing/2014/main" id="{1C8A3E3A-CD4C-4823-9C7C-FDA39F744D68}"/>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14</a:t>
            </a:r>
          </a:p>
        </p:txBody>
      </p:sp>
      <p:graphicFrame>
        <p:nvGraphicFramePr>
          <p:cNvPr id="4" name="Chart">
            <a:extLst>
              <a:ext uri="{FF2B5EF4-FFF2-40B4-BE49-F238E27FC236}">
                <a16:creationId xmlns:a16="http://schemas.microsoft.com/office/drawing/2014/main" id="{D1C4D2A1-344D-4722-9C68-4F5C21544E5B}"/>
              </a:ext>
            </a:extLst>
          </p:cNvPr>
          <p:cNvGraphicFramePr/>
          <p:nvPr/>
        </p:nvGraphicFramePr>
        <p:xfrm>
          <a:off x="609600" y="1590675"/>
          <a:ext cx="7810500" cy="39814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E0FD0DC8-7B91-4763-91E8-8B1D2B6740BE}"/>
              </a:ext>
            </a:extLst>
          </p:cNvPr>
          <p:cNvSpPr>
            <a:spLocks noGrp="1"/>
          </p:cNvSpPr>
          <p:nvPr/>
        </p:nvSpPr>
        <p:spPr>
          <a:xfrm>
            <a:off x="8953500" y="1962150"/>
            <a:ext cx="2571750" cy="552450"/>
          </a:xfrm>
          <a:prstGeom prst="rect">
            <a:avLst/>
          </a:prstGeom>
          <a:noFill/>
          <a:ln w="0">
            <a:noFill/>
          </a:ln>
        </p:spPr>
        <p:txBody>
          <a:bodyPr wrap="square" lIns="0" tIns="0" rIns="0" bIns="0" anchor="t">
            <a:noAutofit/>
          </a:bodyPr>
          <a:lstStyle>
            <a:defPPr algn="l">
              <a:defRPr sz="2775" b="1">
                <a:solidFill>
                  <a:srgbClr val="267C83"/>
                </a:solidFill>
                <a:latin typeface="Arial"/>
                <a:ea typeface="Arial"/>
                <a:cs typeface="Arial"/>
              </a:defRPr>
            </a:defPPr>
            <a:lvl1pPr algn="l">
              <a:defRPr sz="2775" b="1">
                <a:solidFill>
                  <a:srgbClr val="267C83"/>
                </a:solidFill>
                <a:latin typeface="Arial"/>
                <a:ea typeface="Arial"/>
                <a:cs typeface="Arial"/>
              </a:defRPr>
            </a:lvl1pPr>
            <a:lvl2pPr algn="l">
              <a:defRPr sz="2775" b="1">
                <a:solidFill>
                  <a:srgbClr val="267C83"/>
                </a:solidFill>
                <a:latin typeface="Arial"/>
                <a:ea typeface="Arial"/>
                <a:cs typeface="Arial"/>
              </a:defRPr>
            </a:lvl2pPr>
            <a:lvl3pPr algn="l">
              <a:defRPr sz="2775" b="1">
                <a:solidFill>
                  <a:srgbClr val="267C83"/>
                </a:solidFill>
                <a:latin typeface="Arial"/>
                <a:ea typeface="Arial"/>
                <a:cs typeface="Arial"/>
              </a:defRPr>
            </a:lvl3pPr>
            <a:lvl4pPr algn="l">
              <a:defRPr sz="2775" b="1">
                <a:solidFill>
                  <a:srgbClr val="267C83"/>
                </a:solidFill>
                <a:latin typeface="Arial"/>
                <a:ea typeface="Arial"/>
                <a:cs typeface="Arial"/>
              </a:defRPr>
            </a:lvl4pPr>
            <a:lvl5pPr algn="l">
              <a:defRPr sz="2775" b="1">
                <a:solidFill>
                  <a:srgbClr val="267C83"/>
                </a:solidFill>
                <a:latin typeface="Arial"/>
                <a:ea typeface="Arial"/>
                <a:cs typeface="Arial"/>
              </a:defRPr>
            </a:lvl5pPr>
            <a:lvl6pPr algn="l">
              <a:defRPr sz="2775" b="1">
                <a:solidFill>
                  <a:srgbClr val="267C83"/>
                </a:solidFill>
                <a:latin typeface="Arial"/>
                <a:ea typeface="Arial"/>
                <a:cs typeface="Arial"/>
              </a:defRPr>
            </a:lvl6pPr>
            <a:lvl7pPr algn="l">
              <a:defRPr sz="2775" b="1">
                <a:solidFill>
                  <a:srgbClr val="267C83"/>
                </a:solidFill>
                <a:latin typeface="Arial"/>
                <a:ea typeface="Arial"/>
                <a:cs typeface="Arial"/>
              </a:defRPr>
            </a:lvl7pPr>
            <a:lvl8pPr algn="l">
              <a:defRPr sz="2775" b="1">
                <a:solidFill>
                  <a:srgbClr val="267C83"/>
                </a:solidFill>
                <a:latin typeface="Arial"/>
                <a:ea typeface="Arial"/>
                <a:cs typeface="Arial"/>
              </a:defRPr>
            </a:lvl8pPr>
            <a:lvl9pPr algn="l">
              <a:defRPr sz="2775" b="1">
                <a:solidFill>
                  <a:srgbClr val="267C83"/>
                </a:solidFill>
                <a:latin typeface="Arial"/>
                <a:ea typeface="Arial"/>
                <a:cs typeface="Arial"/>
              </a:defRPr>
            </a:lvl9pPr>
          </a:lstStyle>
          <a:p>
            <a:pPr algn="l">
              <a:lnSpc>
                <a:spcPct val="107000"/>
              </a:lnSpc>
              <a:buNone/>
              <a:defRPr sz="2775" b="1">
                <a:solidFill>
                  <a:srgbClr val="267C83"/>
                </a:solidFill>
                <a:latin typeface="Arial"/>
                <a:ea typeface="Arial"/>
                <a:cs typeface="Arial"/>
              </a:defRPr>
            </a:pPr>
            <a:r>
              <a:rPr sz="2775" b="1">
                <a:solidFill>
                  <a:srgbClr val="267C83"/>
                </a:solidFill>
                <a:latin typeface="Arial"/>
                <a:ea typeface="Arial"/>
                <a:cs typeface="Arial"/>
              </a:rPr>
              <a:t>4 ảnh mẫu</a:t>
            </a:r>
          </a:p>
        </p:txBody>
      </p:sp>
      <p:sp>
        <p:nvSpPr>
          <p:cNvPr id="6" name="Rectangle 5">
            <a:extLst>
              <a:ext uri="{FF2B5EF4-FFF2-40B4-BE49-F238E27FC236}">
                <a16:creationId xmlns:a16="http://schemas.microsoft.com/office/drawing/2014/main" id="{6FA249C8-C583-49D4-87B7-C994BD125BFF}"/>
              </a:ext>
            </a:extLst>
          </p:cNvPr>
          <p:cNvSpPr>
            <a:spLocks noGrp="1"/>
          </p:cNvSpPr>
          <p:nvPr/>
        </p:nvSpPr>
        <p:spPr>
          <a:xfrm>
            <a:off x="8953500" y="2724150"/>
            <a:ext cx="2609850" cy="1104900"/>
          </a:xfrm>
          <a:prstGeom prst="rect">
            <a:avLst/>
          </a:prstGeom>
          <a:noFill/>
          <a:ln w="0">
            <a:noFill/>
          </a:ln>
        </p:spPr>
        <p:txBody>
          <a:bodyPr wrap="square" lIns="0" tIns="0" rIns="0" bIns="0" anchor="t">
            <a:noAutofit/>
          </a:bodyPr>
          <a:lstStyle>
            <a:defPPr algn="l">
              <a:defRPr sz="2025" b="0">
                <a:solidFill>
                  <a:srgbClr val="192F43"/>
                </a:solidFill>
                <a:latin typeface="Arial"/>
                <a:ea typeface="Arial"/>
                <a:cs typeface="Arial"/>
              </a:defRPr>
            </a:defPPr>
            <a:lvl1pPr algn="l">
              <a:defRPr sz="2025" b="0">
                <a:solidFill>
                  <a:srgbClr val="192F43"/>
                </a:solidFill>
                <a:latin typeface="Arial"/>
                <a:ea typeface="Arial"/>
                <a:cs typeface="Arial"/>
              </a:defRPr>
            </a:lvl1pPr>
            <a:lvl2pPr algn="l">
              <a:defRPr sz="2025" b="0">
                <a:solidFill>
                  <a:srgbClr val="192F43"/>
                </a:solidFill>
                <a:latin typeface="Arial"/>
                <a:ea typeface="Arial"/>
                <a:cs typeface="Arial"/>
              </a:defRPr>
            </a:lvl2pPr>
            <a:lvl3pPr algn="l">
              <a:defRPr sz="2025" b="0">
                <a:solidFill>
                  <a:srgbClr val="192F43"/>
                </a:solidFill>
                <a:latin typeface="Arial"/>
                <a:ea typeface="Arial"/>
                <a:cs typeface="Arial"/>
              </a:defRPr>
            </a:lvl3pPr>
            <a:lvl4pPr algn="l">
              <a:defRPr sz="2025" b="0">
                <a:solidFill>
                  <a:srgbClr val="192F43"/>
                </a:solidFill>
                <a:latin typeface="Arial"/>
                <a:ea typeface="Arial"/>
                <a:cs typeface="Arial"/>
              </a:defRPr>
            </a:lvl4pPr>
            <a:lvl5pPr algn="l">
              <a:defRPr sz="2025" b="0">
                <a:solidFill>
                  <a:srgbClr val="192F43"/>
                </a:solidFill>
                <a:latin typeface="Arial"/>
                <a:ea typeface="Arial"/>
                <a:cs typeface="Arial"/>
              </a:defRPr>
            </a:lvl5pPr>
            <a:lvl6pPr algn="l">
              <a:defRPr sz="2025" b="0">
                <a:solidFill>
                  <a:srgbClr val="192F43"/>
                </a:solidFill>
                <a:latin typeface="Arial"/>
                <a:ea typeface="Arial"/>
                <a:cs typeface="Arial"/>
              </a:defRPr>
            </a:lvl6pPr>
            <a:lvl7pPr algn="l">
              <a:defRPr sz="2025" b="0">
                <a:solidFill>
                  <a:srgbClr val="192F43"/>
                </a:solidFill>
                <a:latin typeface="Arial"/>
                <a:ea typeface="Arial"/>
                <a:cs typeface="Arial"/>
              </a:defRPr>
            </a:lvl7pPr>
            <a:lvl8pPr algn="l">
              <a:defRPr sz="2025" b="0">
                <a:solidFill>
                  <a:srgbClr val="192F43"/>
                </a:solidFill>
                <a:latin typeface="Arial"/>
                <a:ea typeface="Arial"/>
                <a:cs typeface="Arial"/>
              </a:defRPr>
            </a:lvl8pPr>
            <a:lvl9pPr algn="l">
              <a:defRPr sz="2025" b="0">
                <a:solidFill>
                  <a:srgbClr val="192F43"/>
                </a:solidFill>
                <a:latin typeface="Arial"/>
                <a:ea typeface="Arial"/>
                <a:cs typeface="Arial"/>
              </a:defRPr>
            </a:lvl9pPr>
          </a:lstStyle>
          <a:p>
            <a:pPr algn="l">
              <a:lnSpc>
                <a:spcPct val="107000"/>
              </a:lnSpc>
              <a:buNone/>
              <a:defRPr sz="2025" b="0">
                <a:solidFill>
                  <a:srgbClr val="192F43"/>
                </a:solidFill>
                <a:latin typeface="Arial"/>
                <a:ea typeface="Arial"/>
                <a:cs typeface="Arial"/>
              </a:defRPr>
            </a:pPr>
            <a:r>
              <a:rPr sz="2025" b="0">
                <a:solidFill>
                  <a:srgbClr val="192F43"/>
                </a:solidFill>
                <a:latin typeface="Arial"/>
                <a:ea typeface="Arial"/>
                <a:cs typeface="Arial"/>
              </a:rPr>
              <a:t>384 px, seed 2026</a:t>
            </a:r>
          </a:p>
          <a:p>
            <a:pPr algn="l">
              <a:lnSpc>
                <a:spcPct val="107000"/>
              </a:lnSpc>
              <a:buNone/>
              <a:defRPr sz="2025" b="0">
                <a:solidFill>
                  <a:srgbClr val="192F43"/>
                </a:solidFill>
                <a:latin typeface="Arial"/>
                <a:ea typeface="Arial"/>
                <a:cs typeface="Arial"/>
              </a:defRPr>
            </a:pPr>
            <a:r>
              <a:rPr sz="2025" b="0">
                <a:solidFill>
                  <a:srgbClr val="192F43"/>
                </a:solidFill>
                <a:latin typeface="Arial"/>
                <a:ea typeface="Arial"/>
                <a:cs typeface="Arial"/>
              </a:rPr>
              <a:t>Quét tham số có GT</a:t>
            </a:r>
          </a:p>
        </p:txBody>
      </p:sp>
      <p:sp>
        <p:nvSpPr>
          <p:cNvPr id="7" name="Rectangle 6">
            <a:extLst>
              <a:ext uri="{FF2B5EF4-FFF2-40B4-BE49-F238E27FC236}">
                <a16:creationId xmlns:a16="http://schemas.microsoft.com/office/drawing/2014/main" id="{56D1E6B1-D46F-4192-8AE5-788C4DB24016}"/>
              </a:ext>
            </a:extLst>
          </p:cNvPr>
          <p:cNvSpPr>
            <a:spLocks noGrp="1"/>
          </p:cNvSpPr>
          <p:nvPr/>
        </p:nvSpPr>
        <p:spPr>
          <a:xfrm>
            <a:off x="609600" y="5848350"/>
            <a:ext cx="10972800" cy="409575"/>
          </a:xfrm>
          <a:prstGeom prst="rect">
            <a:avLst/>
          </a:prstGeom>
          <a:noFill/>
          <a:ln w="0">
            <a:noFill/>
          </a:ln>
        </p:spPr>
        <p:txBody>
          <a:bodyPr wrap="square" lIns="0" tIns="0" rIns="0" bIns="0" anchor="t">
            <a:noAutofit/>
          </a:bodyPr>
          <a:lstStyle>
            <a:defPPr algn="l">
              <a:defRPr sz="1875" b="1">
                <a:solidFill>
                  <a:srgbClr val="267C83"/>
                </a:solidFill>
                <a:latin typeface="Arial"/>
                <a:ea typeface="Arial"/>
                <a:cs typeface="Arial"/>
              </a:defRPr>
            </a:defPPr>
            <a:lvl1pPr algn="l">
              <a:defRPr sz="1875" b="1">
                <a:solidFill>
                  <a:srgbClr val="267C83"/>
                </a:solidFill>
                <a:latin typeface="Arial"/>
                <a:ea typeface="Arial"/>
                <a:cs typeface="Arial"/>
              </a:defRPr>
            </a:lvl1pPr>
            <a:lvl2pPr algn="l">
              <a:defRPr sz="1875" b="1">
                <a:solidFill>
                  <a:srgbClr val="267C83"/>
                </a:solidFill>
                <a:latin typeface="Arial"/>
                <a:ea typeface="Arial"/>
                <a:cs typeface="Arial"/>
              </a:defRPr>
            </a:lvl2pPr>
            <a:lvl3pPr algn="l">
              <a:defRPr sz="1875" b="1">
                <a:solidFill>
                  <a:srgbClr val="267C83"/>
                </a:solidFill>
                <a:latin typeface="Arial"/>
                <a:ea typeface="Arial"/>
                <a:cs typeface="Arial"/>
              </a:defRPr>
            </a:lvl3pPr>
            <a:lvl4pPr algn="l">
              <a:defRPr sz="1875" b="1">
                <a:solidFill>
                  <a:srgbClr val="267C83"/>
                </a:solidFill>
                <a:latin typeface="Arial"/>
                <a:ea typeface="Arial"/>
                <a:cs typeface="Arial"/>
              </a:defRPr>
            </a:lvl4pPr>
            <a:lvl5pPr algn="l">
              <a:defRPr sz="1875" b="1">
                <a:solidFill>
                  <a:srgbClr val="267C83"/>
                </a:solidFill>
                <a:latin typeface="Arial"/>
                <a:ea typeface="Arial"/>
                <a:cs typeface="Arial"/>
              </a:defRPr>
            </a:lvl5pPr>
            <a:lvl6pPr algn="l">
              <a:defRPr sz="1875" b="1">
                <a:solidFill>
                  <a:srgbClr val="267C83"/>
                </a:solidFill>
                <a:latin typeface="Arial"/>
                <a:ea typeface="Arial"/>
                <a:cs typeface="Arial"/>
              </a:defRPr>
            </a:lvl6pPr>
            <a:lvl7pPr algn="l">
              <a:defRPr sz="1875" b="1">
                <a:solidFill>
                  <a:srgbClr val="267C83"/>
                </a:solidFill>
                <a:latin typeface="Arial"/>
                <a:ea typeface="Arial"/>
                <a:cs typeface="Arial"/>
              </a:defRPr>
            </a:lvl7pPr>
            <a:lvl8pPr algn="l">
              <a:defRPr sz="1875" b="1">
                <a:solidFill>
                  <a:srgbClr val="267C83"/>
                </a:solidFill>
                <a:latin typeface="Arial"/>
                <a:ea typeface="Arial"/>
                <a:cs typeface="Arial"/>
              </a:defRPr>
            </a:lvl8pPr>
            <a:lvl9pPr algn="l">
              <a:defRPr sz="1875" b="1">
                <a:solidFill>
                  <a:srgbClr val="267C83"/>
                </a:solidFill>
                <a:latin typeface="Arial"/>
                <a:ea typeface="Arial"/>
                <a:cs typeface="Arial"/>
              </a:defRPr>
            </a:lvl9pPr>
          </a:lstStyle>
          <a:p>
            <a:pPr algn="l">
              <a:lnSpc>
                <a:spcPct val="107000"/>
              </a:lnSpc>
              <a:buNone/>
              <a:defRPr sz="1875" b="1">
                <a:solidFill>
                  <a:srgbClr val="267C83"/>
                </a:solidFill>
                <a:latin typeface="Arial"/>
                <a:ea typeface="Arial"/>
                <a:cs typeface="Arial"/>
              </a:defRPr>
            </a:pPr>
            <a:r>
              <a:rPr sz="1875" b="1">
                <a:solidFill>
                  <a:srgbClr val="267C83"/>
                </a:solidFill>
                <a:latin typeface="Arial"/>
                <a:ea typeface="Arial"/>
                <a:cs typeface="Arial"/>
              </a:rPr>
              <a:t>Tiếp theo: Module 4 chọn công cụ và điều phối vòng lặp</a:t>
            </a:r>
          </a:p>
        </p:txBody>
      </p:sp>
      <p:sp>
        <p:nvSpPr>
          <p:cNvPr id="8" name="Rectangle 7">
            <a:extLst>
              <a:ext uri="{FF2B5EF4-FFF2-40B4-BE49-F238E27FC236}">
                <a16:creationId xmlns:a16="http://schemas.microsoft.com/office/drawing/2014/main" id="{CB201560-EF6F-4087-B179-709DE54FB29C}"/>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Benchmark từng thuật toán có tham số chọn tốt nhất. Chưa đại diện toàn pipeline VLM.</a:t>
            </a:r>
          </a:p>
        </p:txBody>
      </p:sp>
    </p:spTree>
    <p:extLst>
      <p:ext uri="{BB962C8B-B14F-4D97-AF65-F5344CB8AC3E}">
        <p14:creationId xmlns:p14="http://schemas.microsoft.com/office/powerpoint/2010/main" val="1069843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0" name="Straight Arrow Connector 19">
            <a:extLst>
              <a:ext uri="{FF2B5EF4-FFF2-40B4-BE49-F238E27FC236}">
                <a16:creationId xmlns:a16="http://schemas.microsoft.com/office/drawing/2014/main" id="{5A4DA95E-AB5B-4748-9CA4-31880B221F0C}"/>
              </a:ext>
            </a:extLst>
          </p:cNvPr>
          <p:cNvCxnSpPr>
            <a:stCxn id="11" idx="3"/>
            <a:endCxn id="12" idx="1"/>
          </p:cNvCxnSpPr>
          <p:nvPr/>
        </p:nvCxnSpPr>
        <p:spPr>
          <a:xfrm>
            <a:off x="7486650" y="5486400"/>
            <a:ext cx="1314450" cy="0"/>
          </a:xfrm>
          <a:prstGeom prst="straightConnector1">
            <a:avLst/>
          </a:prstGeom>
          <a:ln w="19050">
            <a:solidFill>
              <a:srgbClr val="617E8F"/>
            </a:solidFill>
            <a:tailEnd type="triangle" w="med" len="med"/>
          </a:ln>
        </p:spPr>
      </p:cxnSp>
      <p:cxnSp>
        <p:nvCxnSpPr>
          <p:cNvPr id="19" name="Straight Arrow Connector 18">
            <a:extLst>
              <a:ext uri="{FF2B5EF4-FFF2-40B4-BE49-F238E27FC236}">
                <a16:creationId xmlns:a16="http://schemas.microsoft.com/office/drawing/2014/main" id="{15F5E8F3-3787-4F2B-B644-1661953B995A}"/>
              </a:ext>
            </a:extLst>
          </p:cNvPr>
          <p:cNvCxnSpPr>
            <a:stCxn id="10" idx="3"/>
            <a:endCxn id="11" idx="1"/>
          </p:cNvCxnSpPr>
          <p:nvPr/>
        </p:nvCxnSpPr>
        <p:spPr>
          <a:xfrm>
            <a:off x="3390900" y="5486400"/>
            <a:ext cx="1314450" cy="0"/>
          </a:xfrm>
          <a:prstGeom prst="straightConnector1">
            <a:avLst/>
          </a:prstGeom>
          <a:ln w="19050">
            <a:solidFill>
              <a:srgbClr val="617E8F"/>
            </a:solidFill>
            <a:tailEnd type="triangle" w="med" len="med"/>
          </a:ln>
        </p:spPr>
      </p:cxnSp>
      <p:cxnSp>
        <p:nvCxnSpPr>
          <p:cNvPr id="18" name="Straight Arrow Connector 17">
            <a:extLst>
              <a:ext uri="{FF2B5EF4-FFF2-40B4-BE49-F238E27FC236}">
                <a16:creationId xmlns:a16="http://schemas.microsoft.com/office/drawing/2014/main" id="{2E69871A-B2DF-4A48-A535-D5E776C62001}"/>
              </a:ext>
            </a:extLst>
          </p:cNvPr>
          <p:cNvCxnSpPr>
            <a:stCxn id="9" idx="2"/>
            <a:endCxn id="10" idx="0"/>
          </p:cNvCxnSpPr>
          <p:nvPr/>
        </p:nvCxnSpPr>
        <p:spPr>
          <a:xfrm>
            <a:off x="2000250" y="4248150"/>
            <a:ext cx="0" cy="762000"/>
          </a:xfrm>
          <a:prstGeom prst="straightConnector1">
            <a:avLst/>
          </a:prstGeom>
          <a:ln w="19050">
            <a:solidFill>
              <a:srgbClr val="617E8F"/>
            </a:solidFill>
            <a:tailEnd type="triangle" w="med" len="med"/>
          </a:ln>
        </p:spPr>
      </p:cxnSp>
      <p:cxnSp>
        <p:nvCxnSpPr>
          <p:cNvPr id="17" name="Straight Arrow Connector 16">
            <a:extLst>
              <a:ext uri="{FF2B5EF4-FFF2-40B4-BE49-F238E27FC236}">
                <a16:creationId xmlns:a16="http://schemas.microsoft.com/office/drawing/2014/main" id="{B5E55474-A05C-4209-B15E-6A1F44F00DE7}"/>
              </a:ext>
            </a:extLst>
          </p:cNvPr>
          <p:cNvCxnSpPr>
            <a:stCxn id="8" idx="1"/>
            <a:endCxn id="9" idx="3"/>
          </p:cNvCxnSpPr>
          <p:nvPr/>
        </p:nvCxnSpPr>
        <p:spPr>
          <a:xfrm flipH="1">
            <a:off x="3390900" y="3771900"/>
            <a:ext cx="1314450" cy="0"/>
          </a:xfrm>
          <a:prstGeom prst="straightConnector1">
            <a:avLst/>
          </a:prstGeom>
          <a:ln w="19050">
            <a:solidFill>
              <a:srgbClr val="617E8F"/>
            </a:solidFill>
            <a:tailEnd type="triangle" w="med" len="med"/>
          </a:ln>
        </p:spPr>
      </p:cxnSp>
      <p:cxnSp>
        <p:nvCxnSpPr>
          <p:cNvPr id="16" name="Straight Arrow Connector 15">
            <a:extLst>
              <a:ext uri="{FF2B5EF4-FFF2-40B4-BE49-F238E27FC236}">
                <a16:creationId xmlns:a16="http://schemas.microsoft.com/office/drawing/2014/main" id="{E48B88AA-62DB-4259-80C3-DBFA180971B3}"/>
              </a:ext>
            </a:extLst>
          </p:cNvPr>
          <p:cNvCxnSpPr>
            <a:stCxn id="7" idx="1"/>
            <a:endCxn id="8" idx="3"/>
          </p:cNvCxnSpPr>
          <p:nvPr/>
        </p:nvCxnSpPr>
        <p:spPr>
          <a:xfrm flipH="1">
            <a:off x="7486650" y="3771900"/>
            <a:ext cx="1314450" cy="0"/>
          </a:xfrm>
          <a:prstGeom prst="straightConnector1">
            <a:avLst/>
          </a:prstGeom>
          <a:ln w="19050">
            <a:solidFill>
              <a:srgbClr val="617E8F"/>
            </a:solidFill>
            <a:tailEnd type="triangle" w="med" len="med"/>
          </a:ln>
        </p:spPr>
      </p:cxnSp>
      <p:cxnSp>
        <p:nvCxnSpPr>
          <p:cNvPr id="15" name="Straight Arrow Connector 14">
            <a:extLst>
              <a:ext uri="{FF2B5EF4-FFF2-40B4-BE49-F238E27FC236}">
                <a16:creationId xmlns:a16="http://schemas.microsoft.com/office/drawing/2014/main" id="{829DE9E9-0970-4D7E-828E-9DCCC5971735}"/>
              </a:ext>
            </a:extLst>
          </p:cNvPr>
          <p:cNvCxnSpPr>
            <a:stCxn id="6" idx="2"/>
            <a:endCxn id="7" idx="0"/>
          </p:cNvCxnSpPr>
          <p:nvPr/>
        </p:nvCxnSpPr>
        <p:spPr>
          <a:xfrm>
            <a:off x="10191750" y="2533650"/>
            <a:ext cx="0" cy="762000"/>
          </a:xfrm>
          <a:prstGeom prst="straightConnector1">
            <a:avLst/>
          </a:prstGeom>
          <a:ln w="19050">
            <a:solidFill>
              <a:srgbClr val="617E8F"/>
            </a:solidFill>
            <a:tailEnd type="triangle" w="med" len="med"/>
          </a:ln>
        </p:spPr>
      </p:cxnSp>
      <p:cxnSp>
        <p:nvCxnSpPr>
          <p:cNvPr id="14" name="Straight Arrow Connector 13">
            <a:extLst>
              <a:ext uri="{FF2B5EF4-FFF2-40B4-BE49-F238E27FC236}">
                <a16:creationId xmlns:a16="http://schemas.microsoft.com/office/drawing/2014/main" id="{EA64DF0C-D0BE-471E-A4B8-9D13AD6402D8}"/>
              </a:ext>
            </a:extLst>
          </p:cNvPr>
          <p:cNvCxnSpPr>
            <a:stCxn id="5" idx="3"/>
            <a:endCxn id="6" idx="1"/>
          </p:cNvCxnSpPr>
          <p:nvPr/>
        </p:nvCxnSpPr>
        <p:spPr>
          <a:xfrm>
            <a:off x="7486650" y="2057400"/>
            <a:ext cx="1314450" cy="0"/>
          </a:xfrm>
          <a:prstGeom prst="straightConnector1">
            <a:avLst/>
          </a:prstGeom>
          <a:ln w="19050">
            <a:solidFill>
              <a:srgbClr val="617E8F"/>
            </a:solidFill>
            <a:tailEnd type="triangle" w="med" len="med"/>
          </a:ln>
        </p:spPr>
      </p:cxnSp>
      <p:cxnSp>
        <p:nvCxnSpPr>
          <p:cNvPr id="13" name="Straight Arrow Connector 12">
            <a:extLst>
              <a:ext uri="{FF2B5EF4-FFF2-40B4-BE49-F238E27FC236}">
                <a16:creationId xmlns:a16="http://schemas.microsoft.com/office/drawing/2014/main" id="{496A34A3-1874-410A-BC79-9AEF6DE15AD0}"/>
              </a:ext>
            </a:extLst>
          </p:cNvPr>
          <p:cNvCxnSpPr>
            <a:stCxn id="4" idx="3"/>
            <a:endCxn id="5" idx="1"/>
          </p:cNvCxnSpPr>
          <p:nvPr/>
        </p:nvCxnSpPr>
        <p:spPr>
          <a:xfrm>
            <a:off x="3390900" y="2057400"/>
            <a:ext cx="1314450" cy="0"/>
          </a:xfrm>
          <a:prstGeom prst="straightConnector1">
            <a:avLst/>
          </a:prstGeom>
          <a:ln w="19050">
            <a:solidFill>
              <a:srgbClr val="617E8F"/>
            </a:solidFill>
            <a:tailEnd type="triangle" w="med" len="med"/>
          </a:ln>
        </p:spPr>
      </p:cxnSp>
      <p:sp>
        <p:nvSpPr>
          <p:cNvPr id="27" name="Rectangle 26">
            <a:extLst>
              <a:ext uri="{FF2B5EF4-FFF2-40B4-BE49-F238E27FC236}">
                <a16:creationId xmlns:a16="http://schemas.microsoft.com/office/drawing/2014/main" id="{BBE8A622-58CC-4644-BDE9-8599233D33AB}"/>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4  ĐIỀU PHỐI VÀ ỨNG DỤNG</a:t>
            </a:r>
          </a:p>
        </p:txBody>
      </p:sp>
      <p:sp>
        <p:nvSpPr>
          <p:cNvPr id="2" name="Rectangle 1">
            <a:extLst>
              <a:ext uri="{FF2B5EF4-FFF2-40B4-BE49-F238E27FC236}">
                <a16:creationId xmlns:a16="http://schemas.microsoft.com/office/drawing/2014/main" id="{414E3072-1293-4AF4-B4FF-04365B7451A7}"/>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LangGraph kết nối bốn module</a:t>
            </a:r>
          </a:p>
        </p:txBody>
      </p:sp>
      <p:sp>
        <p:nvSpPr>
          <p:cNvPr id="3" name="Rectangle 2">
            <a:extLst>
              <a:ext uri="{FF2B5EF4-FFF2-40B4-BE49-F238E27FC236}">
                <a16:creationId xmlns:a16="http://schemas.microsoft.com/office/drawing/2014/main" id="{37FDD541-8E54-4CFE-ABE6-7BCAB700A17B}"/>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15</a:t>
            </a:r>
          </a:p>
        </p:txBody>
      </p:sp>
      <p:sp>
        <p:nvSpPr>
          <p:cNvPr id="4" name="Rectangle 3">
            <a:extLst>
              <a:ext uri="{FF2B5EF4-FFF2-40B4-BE49-F238E27FC236}">
                <a16:creationId xmlns:a16="http://schemas.microsoft.com/office/drawing/2014/main" id="{42CCCD53-8D23-47F1-82B0-5DCBFF6CA813}"/>
              </a:ext>
            </a:extLst>
          </p:cNvPr>
          <p:cNvSpPr>
            <a:spLocks noGrp="1"/>
          </p:cNvSpPr>
          <p:nvPr/>
        </p:nvSpPr>
        <p:spPr>
          <a:xfrm>
            <a:off x="609600" y="1581150"/>
            <a:ext cx="27813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Analyze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M1 đo ảnh</a:t>
            </a:r>
          </a:p>
        </p:txBody>
      </p:sp>
      <p:sp>
        <p:nvSpPr>
          <p:cNvPr id="5" name="Rectangle 4">
            <a:extLst>
              <a:ext uri="{FF2B5EF4-FFF2-40B4-BE49-F238E27FC236}">
                <a16:creationId xmlns:a16="http://schemas.microsoft.com/office/drawing/2014/main" id="{756CEB16-DBB3-41C8-A996-8AF37006320C}"/>
              </a:ext>
            </a:extLst>
          </p:cNvPr>
          <p:cNvSpPr>
            <a:spLocks noGrp="1"/>
          </p:cNvSpPr>
          <p:nvPr/>
        </p:nvSpPr>
        <p:spPr>
          <a:xfrm>
            <a:off x="4705350" y="1581150"/>
            <a:ext cx="27813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Perceive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VLM và fusion</a:t>
            </a:r>
          </a:p>
        </p:txBody>
      </p:sp>
      <p:sp>
        <p:nvSpPr>
          <p:cNvPr id="6" name="Rectangle 5">
            <a:extLst>
              <a:ext uri="{FF2B5EF4-FFF2-40B4-BE49-F238E27FC236}">
                <a16:creationId xmlns:a16="http://schemas.microsoft.com/office/drawing/2014/main" id="{F964A64A-6CD1-4A30-9A83-16F0BC300D71}"/>
              </a:ext>
            </a:extLst>
          </p:cNvPr>
          <p:cNvSpPr>
            <a:spLocks noGrp="1"/>
          </p:cNvSpPr>
          <p:nvPr/>
        </p:nvSpPr>
        <p:spPr>
          <a:xfrm>
            <a:off x="8801100" y="1581150"/>
            <a:ext cx="27813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Clarify</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Ý định người dùng</a:t>
            </a:r>
          </a:p>
        </p:txBody>
      </p:sp>
      <p:sp>
        <p:nvSpPr>
          <p:cNvPr id="7" name="Rectangle 6">
            <a:extLst>
              <a:ext uri="{FF2B5EF4-FFF2-40B4-BE49-F238E27FC236}">
                <a16:creationId xmlns:a16="http://schemas.microsoft.com/office/drawing/2014/main" id="{1135936D-46A5-4828-AB54-DD19E9B4C28D}"/>
              </a:ext>
            </a:extLst>
          </p:cNvPr>
          <p:cNvSpPr>
            <a:spLocks noGrp="1"/>
          </p:cNvSpPr>
          <p:nvPr/>
        </p:nvSpPr>
        <p:spPr>
          <a:xfrm>
            <a:off x="8801100" y="3295650"/>
            <a:ext cx="27813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Diagnose and Plan</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Phác đồ có kiểm tra</a:t>
            </a:r>
          </a:p>
        </p:txBody>
      </p:sp>
      <p:sp>
        <p:nvSpPr>
          <p:cNvPr id="8" name="Rectangle 7">
            <a:extLst>
              <a:ext uri="{FF2B5EF4-FFF2-40B4-BE49-F238E27FC236}">
                <a16:creationId xmlns:a16="http://schemas.microsoft.com/office/drawing/2014/main" id="{79D110BB-6086-4E3C-BC30-5E6EACAFC036}"/>
              </a:ext>
            </a:extLst>
          </p:cNvPr>
          <p:cNvSpPr>
            <a:spLocks noGrp="1"/>
          </p:cNvSpPr>
          <p:nvPr/>
        </p:nvSpPr>
        <p:spPr>
          <a:xfrm>
            <a:off x="4705350" y="3295650"/>
            <a:ext cx="2781300" cy="9525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Process</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M2 tạo mask, M3 xử lý</a:t>
            </a:r>
          </a:p>
        </p:txBody>
      </p:sp>
      <p:sp>
        <p:nvSpPr>
          <p:cNvPr id="9" name="Rectangle 8">
            <a:extLst>
              <a:ext uri="{FF2B5EF4-FFF2-40B4-BE49-F238E27FC236}">
                <a16:creationId xmlns:a16="http://schemas.microsoft.com/office/drawing/2014/main" id="{3BB011B7-2402-4851-A456-119952763F8D}"/>
              </a:ext>
            </a:extLst>
          </p:cNvPr>
          <p:cNvSpPr>
            <a:spLocks noGrp="1"/>
          </p:cNvSpPr>
          <p:nvPr/>
        </p:nvSpPr>
        <p:spPr>
          <a:xfrm>
            <a:off x="609600" y="3295650"/>
            <a:ext cx="27813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Evaluate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M1 đánh giá ứng viên</a:t>
            </a:r>
          </a:p>
        </p:txBody>
      </p:sp>
      <p:sp>
        <p:nvSpPr>
          <p:cNvPr id="10" name="Rectangle 9">
            <a:extLst>
              <a:ext uri="{FF2B5EF4-FFF2-40B4-BE49-F238E27FC236}">
                <a16:creationId xmlns:a16="http://schemas.microsoft.com/office/drawing/2014/main" id="{D6049CE0-E29B-4E8C-85DD-C04C954B1EC2}"/>
              </a:ext>
            </a:extLst>
          </p:cNvPr>
          <p:cNvSpPr>
            <a:spLocks noGrp="1"/>
          </p:cNvSpPr>
          <p:nvPr/>
        </p:nvSpPr>
        <p:spPr>
          <a:xfrm>
            <a:off x="609600" y="5010150"/>
            <a:ext cx="2781300" cy="952500"/>
          </a:xfrm>
          <a:prstGeom prst="rect">
            <a:avLst/>
          </a:prstGeom>
          <a:solidFill>
            <a:srgbClr val="F9EFDF"/>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Decide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Tiếp tục hoặc dừng</a:t>
            </a:r>
          </a:p>
        </p:txBody>
      </p:sp>
      <p:sp>
        <p:nvSpPr>
          <p:cNvPr id="11" name="Rectangle 10">
            <a:extLst>
              <a:ext uri="{FF2B5EF4-FFF2-40B4-BE49-F238E27FC236}">
                <a16:creationId xmlns:a16="http://schemas.microsoft.com/office/drawing/2014/main" id="{729ADB22-B354-4796-8317-E5ED35F29C50}"/>
              </a:ext>
            </a:extLst>
          </p:cNvPr>
          <p:cNvSpPr>
            <a:spLocks noGrp="1"/>
          </p:cNvSpPr>
          <p:nvPr/>
        </p:nvSpPr>
        <p:spPr>
          <a:xfrm>
            <a:off x="4705350" y="5010150"/>
            <a:ext cx="27813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Review</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Duyệt đúng ảnh trả</a:t>
            </a:r>
          </a:p>
        </p:txBody>
      </p:sp>
      <p:sp>
        <p:nvSpPr>
          <p:cNvPr id="12" name="Rectangle 11">
            <a:extLst>
              <a:ext uri="{FF2B5EF4-FFF2-40B4-BE49-F238E27FC236}">
                <a16:creationId xmlns:a16="http://schemas.microsoft.com/office/drawing/2014/main" id="{8FC62DB4-C256-49A7-A748-747A03BB3F21}"/>
              </a:ext>
            </a:extLst>
          </p:cNvPr>
          <p:cNvSpPr>
            <a:spLocks noGrp="1"/>
          </p:cNvSpPr>
          <p:nvPr/>
        </p:nvSpPr>
        <p:spPr>
          <a:xfrm>
            <a:off x="8801100" y="5010150"/>
            <a:ext cx="27813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Finalize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Kết cục cuối</a:t>
            </a:r>
          </a:p>
        </p:txBody>
      </p:sp>
      <p:cxnSp>
        <p:nvCxnSpPr>
          <p:cNvPr id="21" name="Straight Arrow Connector 20">
            <a:extLst>
              <a:ext uri="{FF2B5EF4-FFF2-40B4-BE49-F238E27FC236}">
                <a16:creationId xmlns:a16="http://schemas.microsoft.com/office/drawing/2014/main" id="{F06A10B8-3A99-4D55-B060-3D8F669BA41B}"/>
              </a:ext>
            </a:extLst>
          </p:cNvPr>
          <p:cNvCxnSpPr/>
          <p:nvPr/>
        </p:nvCxnSpPr>
        <p:spPr>
          <a:xfrm>
            <a:off x="285750" y="5486400"/>
            <a:ext cx="323850" cy="0"/>
          </a:xfrm>
          <a:prstGeom prst="straightConnector1">
            <a:avLst/>
          </a:prstGeom>
          <a:ln w="19050">
            <a:solidFill>
              <a:srgbClr val="617E8F"/>
            </a:solidFill>
          </a:ln>
        </p:spPr>
      </p:cxnSp>
      <p:cxnSp>
        <p:nvCxnSpPr>
          <p:cNvPr id="22" name="Straight Arrow Connector 21">
            <a:extLst>
              <a:ext uri="{FF2B5EF4-FFF2-40B4-BE49-F238E27FC236}">
                <a16:creationId xmlns:a16="http://schemas.microsoft.com/office/drawing/2014/main" id="{142A8C1D-D68D-47EA-B547-22EA783DA556}"/>
              </a:ext>
            </a:extLst>
          </p:cNvPr>
          <p:cNvCxnSpPr/>
          <p:nvPr/>
        </p:nvCxnSpPr>
        <p:spPr>
          <a:xfrm>
            <a:off x="285750" y="2057400"/>
            <a:ext cx="0" cy="3429000"/>
          </a:xfrm>
          <a:prstGeom prst="straightConnector1">
            <a:avLst/>
          </a:prstGeom>
          <a:ln w="19050">
            <a:solidFill>
              <a:srgbClr val="617E8F"/>
            </a:solidFill>
          </a:ln>
        </p:spPr>
      </p:cxnSp>
      <p:cxnSp>
        <p:nvCxnSpPr>
          <p:cNvPr id="23" name="Straight Arrow Connector 22">
            <a:extLst>
              <a:ext uri="{FF2B5EF4-FFF2-40B4-BE49-F238E27FC236}">
                <a16:creationId xmlns:a16="http://schemas.microsoft.com/office/drawing/2014/main" id="{2991D31C-EA59-4ADF-8E8C-DB16D4C6C829}"/>
              </a:ext>
            </a:extLst>
          </p:cNvPr>
          <p:cNvCxnSpPr/>
          <p:nvPr/>
        </p:nvCxnSpPr>
        <p:spPr>
          <a:xfrm>
            <a:off x="285750" y="2057400"/>
            <a:ext cx="323850" cy="0"/>
          </a:xfrm>
          <a:prstGeom prst="straightConnector1">
            <a:avLst/>
          </a:prstGeom>
          <a:ln w="19050">
            <a:solidFill>
              <a:srgbClr val="617E8F"/>
            </a:solidFill>
            <a:tailEnd type="triangle" w="med" len="med"/>
          </a:ln>
        </p:spPr>
      </p:cxnSp>
      <p:sp>
        <p:nvSpPr>
          <p:cNvPr id="24" name="Rectangle 23">
            <a:extLst>
              <a:ext uri="{FF2B5EF4-FFF2-40B4-BE49-F238E27FC236}">
                <a16:creationId xmlns:a16="http://schemas.microsoft.com/office/drawing/2014/main" id="{37587C72-12DF-4F9F-9F37-703B510DE7BA}"/>
              </a:ext>
            </a:extLst>
          </p:cNvPr>
          <p:cNvSpPr>
            <a:spLocks noGrp="1"/>
          </p:cNvSpPr>
          <p:nvPr/>
        </p:nvSpPr>
        <p:spPr>
          <a:xfrm>
            <a:off x="3781425" y="5181600"/>
            <a:ext cx="762000" cy="285750"/>
          </a:xfrm>
          <a:prstGeom prst="rect">
            <a:avLst/>
          </a:prstGeom>
          <a:noFill/>
          <a:ln w="0">
            <a:noFill/>
          </a:ln>
        </p:spPr>
        <p:txBody>
          <a:bodyPr wrap="square" lIns="0" tIns="0" rIns="0" bIns="0" anchor="t">
            <a:noAutofit/>
          </a:bodyPr>
          <a:lstStyle>
            <a:defPPr algn="l">
              <a:defRPr sz="1500" b="0">
                <a:solidFill>
                  <a:srgbClr val="526779"/>
                </a:solidFill>
                <a:latin typeface="Arial"/>
                <a:ea typeface="Arial"/>
                <a:cs typeface="Arial"/>
              </a:defRPr>
            </a:defPPr>
            <a:lvl1pPr algn="l">
              <a:defRPr sz="1500" b="0">
                <a:solidFill>
                  <a:srgbClr val="526779"/>
                </a:solidFill>
                <a:latin typeface="Arial"/>
                <a:ea typeface="Arial"/>
                <a:cs typeface="Arial"/>
              </a:defRPr>
            </a:lvl1pPr>
            <a:lvl2pPr algn="l">
              <a:defRPr sz="1500" b="0">
                <a:solidFill>
                  <a:srgbClr val="526779"/>
                </a:solidFill>
                <a:latin typeface="Arial"/>
                <a:ea typeface="Arial"/>
                <a:cs typeface="Arial"/>
              </a:defRPr>
            </a:lvl2pPr>
            <a:lvl3pPr algn="l">
              <a:defRPr sz="1500" b="0">
                <a:solidFill>
                  <a:srgbClr val="526779"/>
                </a:solidFill>
                <a:latin typeface="Arial"/>
                <a:ea typeface="Arial"/>
                <a:cs typeface="Arial"/>
              </a:defRPr>
            </a:lvl3pPr>
            <a:lvl4pPr algn="l">
              <a:defRPr sz="1500" b="0">
                <a:solidFill>
                  <a:srgbClr val="526779"/>
                </a:solidFill>
                <a:latin typeface="Arial"/>
                <a:ea typeface="Arial"/>
                <a:cs typeface="Arial"/>
              </a:defRPr>
            </a:lvl4pPr>
            <a:lvl5pPr algn="l">
              <a:defRPr sz="1500" b="0">
                <a:solidFill>
                  <a:srgbClr val="526779"/>
                </a:solidFill>
                <a:latin typeface="Arial"/>
                <a:ea typeface="Arial"/>
                <a:cs typeface="Arial"/>
              </a:defRPr>
            </a:lvl5pPr>
            <a:lvl6pPr algn="l">
              <a:defRPr sz="1500" b="0">
                <a:solidFill>
                  <a:srgbClr val="526779"/>
                </a:solidFill>
                <a:latin typeface="Arial"/>
                <a:ea typeface="Arial"/>
                <a:cs typeface="Arial"/>
              </a:defRPr>
            </a:lvl6pPr>
            <a:lvl7pPr algn="l">
              <a:defRPr sz="1500" b="0">
                <a:solidFill>
                  <a:srgbClr val="526779"/>
                </a:solidFill>
                <a:latin typeface="Arial"/>
                <a:ea typeface="Arial"/>
                <a:cs typeface="Arial"/>
              </a:defRPr>
            </a:lvl7pPr>
            <a:lvl8pPr algn="l">
              <a:defRPr sz="1500" b="0">
                <a:solidFill>
                  <a:srgbClr val="526779"/>
                </a:solidFill>
                <a:latin typeface="Arial"/>
                <a:ea typeface="Arial"/>
                <a:cs typeface="Arial"/>
              </a:defRPr>
            </a:lvl8pPr>
            <a:lvl9pPr algn="l">
              <a:defRPr sz="1500" b="0">
                <a:solidFill>
                  <a:srgbClr val="526779"/>
                </a:solidFill>
                <a:latin typeface="Arial"/>
                <a:ea typeface="Arial"/>
                <a:cs typeface="Arial"/>
              </a:defRPr>
            </a:lvl9pPr>
          </a:lstStyle>
          <a:p>
            <a:pPr algn="l">
              <a:lnSpc>
                <a:spcPct val="107000"/>
              </a:lnSpc>
              <a:buNone/>
              <a:defRPr sz="1500" b="0">
                <a:solidFill>
                  <a:srgbClr val="526779"/>
                </a:solidFill>
                <a:latin typeface="Arial"/>
                <a:ea typeface="Arial"/>
                <a:cs typeface="Arial"/>
              </a:defRPr>
            </a:pPr>
            <a:r>
              <a:rPr sz="1500" b="0">
                <a:solidFill>
                  <a:srgbClr val="526779"/>
                </a:solidFill>
                <a:latin typeface="Arial"/>
                <a:ea typeface="Arial"/>
                <a:cs typeface="Arial"/>
              </a:rPr>
              <a:t>Dừng</a:t>
            </a:r>
          </a:p>
        </p:txBody>
      </p:sp>
      <p:sp>
        <p:nvSpPr>
          <p:cNvPr id="25" name="Rectangle 24">
            <a:extLst>
              <a:ext uri="{FF2B5EF4-FFF2-40B4-BE49-F238E27FC236}">
                <a16:creationId xmlns:a16="http://schemas.microsoft.com/office/drawing/2014/main" id="{33840CAE-D4DD-4234-99C5-38B34E294E15}"/>
              </a:ext>
            </a:extLst>
          </p:cNvPr>
          <p:cNvSpPr>
            <a:spLocks noGrp="1"/>
          </p:cNvSpPr>
          <p:nvPr/>
        </p:nvSpPr>
        <p:spPr>
          <a:xfrm>
            <a:off x="609600" y="6019800"/>
            <a:ext cx="3714750" cy="247650"/>
          </a:xfrm>
          <a:prstGeom prst="rect">
            <a:avLst/>
          </a:prstGeom>
          <a:noFill/>
          <a:ln w="0">
            <a:noFill/>
          </a:ln>
        </p:spPr>
        <p:txBody>
          <a:bodyPr wrap="square" lIns="0" tIns="0" rIns="0" bIns="0" anchor="t">
            <a:noAutofit/>
          </a:bodyPr>
          <a:lstStyle>
            <a:defPPr algn="l">
              <a:defRPr sz="1500" b="0">
                <a:solidFill>
                  <a:srgbClr val="267C83"/>
                </a:solidFill>
                <a:latin typeface="Arial"/>
                <a:ea typeface="Arial"/>
                <a:cs typeface="Arial"/>
              </a:defRPr>
            </a:defPPr>
            <a:lvl1pPr algn="l">
              <a:defRPr sz="1500" b="0">
                <a:solidFill>
                  <a:srgbClr val="267C83"/>
                </a:solidFill>
                <a:latin typeface="Arial"/>
                <a:ea typeface="Arial"/>
                <a:cs typeface="Arial"/>
              </a:defRPr>
            </a:lvl1pPr>
            <a:lvl2pPr algn="l">
              <a:defRPr sz="1500" b="0">
                <a:solidFill>
                  <a:srgbClr val="267C83"/>
                </a:solidFill>
                <a:latin typeface="Arial"/>
                <a:ea typeface="Arial"/>
                <a:cs typeface="Arial"/>
              </a:defRPr>
            </a:lvl2pPr>
            <a:lvl3pPr algn="l">
              <a:defRPr sz="1500" b="0">
                <a:solidFill>
                  <a:srgbClr val="267C83"/>
                </a:solidFill>
                <a:latin typeface="Arial"/>
                <a:ea typeface="Arial"/>
                <a:cs typeface="Arial"/>
              </a:defRPr>
            </a:lvl3pPr>
            <a:lvl4pPr algn="l">
              <a:defRPr sz="1500" b="0">
                <a:solidFill>
                  <a:srgbClr val="267C83"/>
                </a:solidFill>
                <a:latin typeface="Arial"/>
                <a:ea typeface="Arial"/>
                <a:cs typeface="Arial"/>
              </a:defRPr>
            </a:lvl4pPr>
            <a:lvl5pPr algn="l">
              <a:defRPr sz="1500" b="0">
                <a:solidFill>
                  <a:srgbClr val="267C83"/>
                </a:solidFill>
                <a:latin typeface="Arial"/>
                <a:ea typeface="Arial"/>
                <a:cs typeface="Arial"/>
              </a:defRPr>
            </a:lvl5pPr>
            <a:lvl6pPr algn="l">
              <a:defRPr sz="1500" b="0">
                <a:solidFill>
                  <a:srgbClr val="267C83"/>
                </a:solidFill>
                <a:latin typeface="Arial"/>
                <a:ea typeface="Arial"/>
                <a:cs typeface="Arial"/>
              </a:defRPr>
            </a:lvl6pPr>
            <a:lvl7pPr algn="l">
              <a:defRPr sz="1500" b="0">
                <a:solidFill>
                  <a:srgbClr val="267C83"/>
                </a:solidFill>
                <a:latin typeface="Arial"/>
                <a:ea typeface="Arial"/>
                <a:cs typeface="Arial"/>
              </a:defRPr>
            </a:lvl7pPr>
            <a:lvl8pPr algn="l">
              <a:defRPr sz="1500" b="0">
                <a:solidFill>
                  <a:srgbClr val="267C83"/>
                </a:solidFill>
                <a:latin typeface="Arial"/>
                <a:ea typeface="Arial"/>
                <a:cs typeface="Arial"/>
              </a:defRPr>
            </a:lvl8pPr>
            <a:lvl9pPr algn="l">
              <a:defRPr sz="1500" b="0">
                <a:solidFill>
                  <a:srgbClr val="267C83"/>
                </a:solidFill>
                <a:latin typeface="Arial"/>
                <a:ea typeface="Arial"/>
                <a:cs typeface="Arial"/>
              </a:defRPr>
            </a:lvl9pPr>
          </a:lstStyle>
          <a:p>
            <a:pPr algn="l">
              <a:lnSpc>
                <a:spcPct val="107000"/>
              </a:lnSpc>
              <a:buNone/>
              <a:defRPr sz="1500" b="0">
                <a:solidFill>
                  <a:srgbClr val="267C83"/>
                </a:solidFill>
                <a:latin typeface="Arial"/>
                <a:ea typeface="Arial"/>
                <a:cs typeface="Arial"/>
              </a:defRPr>
            </a:pPr>
            <a:r>
              <a:rPr sz="1500" b="0">
                <a:solidFill>
                  <a:srgbClr val="267C83"/>
                </a:solidFill>
                <a:latin typeface="Arial"/>
                <a:ea typeface="Arial"/>
                <a:cs typeface="Arial"/>
              </a:rPr>
              <a:t>RE_PROCESS về Analyze</a:t>
            </a:r>
          </a:p>
        </p:txBody>
      </p:sp>
      <p:sp>
        <p:nvSpPr>
          <p:cNvPr id="26" name="Rectangle 25">
            <a:extLst>
              <a:ext uri="{FF2B5EF4-FFF2-40B4-BE49-F238E27FC236}">
                <a16:creationId xmlns:a16="http://schemas.microsoft.com/office/drawing/2014/main" id="{EB272A87-C5AF-4CA0-9848-C469B4426BE0}"/>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DoctorState giữ ảnh gốc, ảnh hiện tại, ảnh trước vòng và lịch sử.</a:t>
            </a:r>
          </a:p>
        </p:txBody>
      </p:sp>
    </p:spTree>
    <p:extLst>
      <p:ext uri="{BB962C8B-B14F-4D97-AF65-F5344CB8AC3E}">
        <p14:creationId xmlns:p14="http://schemas.microsoft.com/office/powerpoint/2010/main" val="686113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5CBA417F-717D-4D3F-954D-6B8BEC0A4FBB}"/>
              </a:ext>
            </a:extLst>
          </p:cNvPr>
          <p:cNvCxnSpPr>
            <a:stCxn id="5" idx="3"/>
            <a:endCxn id="6" idx="1"/>
          </p:cNvCxnSpPr>
          <p:nvPr/>
        </p:nvCxnSpPr>
        <p:spPr>
          <a:xfrm>
            <a:off x="7620000" y="2562225"/>
            <a:ext cx="914400" cy="0"/>
          </a:xfrm>
          <a:prstGeom prst="straightConnector1">
            <a:avLst/>
          </a:prstGeom>
          <a:ln w="19050">
            <a:solidFill>
              <a:srgbClr val="617E8F"/>
            </a:solidFill>
            <a:tailEnd type="triangle" w="med" len="med"/>
          </a:ln>
        </p:spPr>
      </p:cxnSp>
      <p:cxnSp>
        <p:nvCxnSpPr>
          <p:cNvPr id="7" name="Straight Arrow Connector 6">
            <a:extLst>
              <a:ext uri="{FF2B5EF4-FFF2-40B4-BE49-F238E27FC236}">
                <a16:creationId xmlns:a16="http://schemas.microsoft.com/office/drawing/2014/main" id="{CE7B62FE-88C6-4E33-9294-C0D95CA31346}"/>
              </a:ext>
            </a:extLst>
          </p:cNvPr>
          <p:cNvCxnSpPr>
            <a:stCxn id="4" idx="3"/>
            <a:endCxn id="5" idx="1"/>
          </p:cNvCxnSpPr>
          <p:nvPr/>
        </p:nvCxnSpPr>
        <p:spPr>
          <a:xfrm>
            <a:off x="3657600" y="2562225"/>
            <a:ext cx="914400" cy="0"/>
          </a:xfrm>
          <a:prstGeom prst="straightConnector1">
            <a:avLst/>
          </a:prstGeom>
          <a:ln w="19050">
            <a:solidFill>
              <a:srgbClr val="617E8F"/>
            </a:solidFill>
            <a:tailEnd type="triangle" w="med" len="med"/>
          </a:ln>
        </p:spPr>
      </p:cxnSp>
      <p:sp>
        <p:nvSpPr>
          <p:cNvPr id="13" name="Rectangle 12">
            <a:extLst>
              <a:ext uri="{FF2B5EF4-FFF2-40B4-BE49-F238E27FC236}">
                <a16:creationId xmlns:a16="http://schemas.microsoft.com/office/drawing/2014/main" id="{163B4C4E-4EF7-42BD-BFEE-106C235847FF}"/>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4  ĐIỀU PHỐI VÀ ỨNG DỤNG</a:t>
            </a:r>
          </a:p>
        </p:txBody>
      </p:sp>
      <p:sp>
        <p:nvSpPr>
          <p:cNvPr id="2" name="Rectangle 1">
            <a:extLst>
              <a:ext uri="{FF2B5EF4-FFF2-40B4-BE49-F238E27FC236}">
                <a16:creationId xmlns:a16="http://schemas.microsoft.com/office/drawing/2014/main" id="{C119697A-A4D3-407B-A169-3CDAA33B06BA}"/>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Gemini đề xuất, chương trình kiểm tra</a:t>
            </a:r>
          </a:p>
        </p:txBody>
      </p:sp>
      <p:sp>
        <p:nvSpPr>
          <p:cNvPr id="3" name="Rectangle 2">
            <a:extLst>
              <a:ext uri="{FF2B5EF4-FFF2-40B4-BE49-F238E27FC236}">
                <a16:creationId xmlns:a16="http://schemas.microsoft.com/office/drawing/2014/main" id="{35E598A3-C732-4F11-8C38-20698068CCEE}"/>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16</a:t>
            </a:r>
          </a:p>
        </p:txBody>
      </p:sp>
      <p:sp>
        <p:nvSpPr>
          <p:cNvPr id="4" name="Rectangle 3">
            <a:extLst>
              <a:ext uri="{FF2B5EF4-FFF2-40B4-BE49-F238E27FC236}">
                <a16:creationId xmlns:a16="http://schemas.microsoft.com/office/drawing/2014/main" id="{9CFF4204-116E-466B-9295-B8ADF64364AC}"/>
              </a:ext>
            </a:extLst>
          </p:cNvPr>
          <p:cNvSpPr>
            <a:spLocks noGrp="1"/>
          </p:cNvSpPr>
          <p:nvPr/>
        </p:nvSpPr>
        <p:spPr>
          <a:xfrm>
            <a:off x="609600" y="1819275"/>
            <a:ext cx="3048000" cy="14859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Perceive và Fusion</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Ảnh, số đo và crop</a:t>
            </a:r>
            <a:br>
              <a:rPr sz="1800">
                <a:solidFill>
                  <a:srgbClr val="192F43"/>
                </a:solidFill>
                <a:latin typeface="Arial"/>
                <a:ea typeface="Arial"/>
                <a:cs typeface="Arial"/>
              </a:rPr>
            </a:br>
            <a:r>
              <a:rPr sz="1800">
                <a:solidFill>
                  <a:srgbClr val="192F43"/>
                </a:solidFill>
                <a:latin typeface="Arial"/>
                <a:ea typeface="Arial"/>
                <a:cs typeface="Arial"/>
              </a:rPr>
              <a:t>Lỗi theo vùng, preserve</a:t>
            </a:r>
          </a:p>
        </p:txBody>
      </p:sp>
      <p:sp>
        <p:nvSpPr>
          <p:cNvPr id="5" name="Rectangle 4">
            <a:extLst>
              <a:ext uri="{FF2B5EF4-FFF2-40B4-BE49-F238E27FC236}">
                <a16:creationId xmlns:a16="http://schemas.microsoft.com/office/drawing/2014/main" id="{78DC79CF-5752-4C85-BB4F-3523A1CD56AD}"/>
              </a:ext>
            </a:extLst>
          </p:cNvPr>
          <p:cNvSpPr>
            <a:spLocks noGrp="1"/>
          </p:cNvSpPr>
          <p:nvPr/>
        </p:nvSpPr>
        <p:spPr>
          <a:xfrm>
            <a:off x="4572000" y="1819275"/>
            <a:ext cx="3048000" cy="14859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Plan JSON</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Ý định và playbook</a:t>
            </a:r>
            <a:br>
              <a:rPr sz="1800">
                <a:solidFill>
                  <a:srgbClr val="192F43"/>
                </a:solidFill>
                <a:latin typeface="Arial"/>
                <a:ea typeface="Arial"/>
                <a:cs typeface="Arial"/>
              </a:rPr>
            </a:br>
            <a:r>
              <a:rPr sz="1800">
                <a:solidFill>
                  <a:srgbClr val="192F43"/>
                </a:solidFill>
                <a:latin typeface="Arial"/>
                <a:ea typeface="Arial"/>
                <a:cs typeface="Arial"/>
              </a:rPr>
              <a:t>Công cụ, vùng, tham số</a:t>
            </a:r>
          </a:p>
        </p:txBody>
      </p:sp>
      <p:sp>
        <p:nvSpPr>
          <p:cNvPr id="6" name="Rectangle 5">
            <a:extLst>
              <a:ext uri="{FF2B5EF4-FFF2-40B4-BE49-F238E27FC236}">
                <a16:creationId xmlns:a16="http://schemas.microsoft.com/office/drawing/2014/main" id="{CF6A595C-497A-428F-ABC0-A9DEB93A26DB}"/>
              </a:ext>
            </a:extLst>
          </p:cNvPr>
          <p:cNvSpPr>
            <a:spLocks noGrp="1"/>
          </p:cNvSpPr>
          <p:nvPr/>
        </p:nvSpPr>
        <p:spPr>
          <a:xfrm>
            <a:off x="8534400" y="1819275"/>
            <a:ext cx="3048000" cy="1485900"/>
          </a:xfrm>
          <a:prstGeom prst="rect">
            <a:avLst/>
          </a:prstGeom>
          <a:solidFill>
            <a:srgbClr val="F9EFDF"/>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Validator</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Kẹp tham số</a:t>
            </a:r>
            <a:br>
              <a:rPr sz="1800">
                <a:solidFill>
                  <a:srgbClr val="192F43"/>
                </a:solidFill>
                <a:latin typeface="Arial"/>
                <a:ea typeface="Arial"/>
                <a:cs typeface="Arial"/>
              </a:rPr>
            </a:br>
            <a:r>
              <a:rPr sz="1800">
                <a:solidFill>
                  <a:srgbClr val="192F43"/>
                </a:solidFill>
                <a:latin typeface="Arial"/>
                <a:ea typeface="Arial"/>
                <a:cs typeface="Arial"/>
              </a:rPr>
              <a:t>Giữ phong cách và thứ tự</a:t>
            </a:r>
          </a:p>
        </p:txBody>
      </p:sp>
      <p:sp>
        <p:nvSpPr>
          <p:cNvPr id="9" name="Rectangle 8">
            <a:extLst>
              <a:ext uri="{FF2B5EF4-FFF2-40B4-BE49-F238E27FC236}">
                <a16:creationId xmlns:a16="http://schemas.microsoft.com/office/drawing/2014/main" id="{6EA66A9F-1D27-453C-B18C-ED6970A07A74}"/>
              </a:ext>
            </a:extLst>
          </p:cNvPr>
          <p:cNvSpPr>
            <a:spLocks noGrp="1"/>
          </p:cNvSpPr>
          <p:nvPr/>
        </p:nvSpPr>
        <p:spPr>
          <a:xfrm>
            <a:off x="609600" y="4019550"/>
            <a:ext cx="10858500" cy="400050"/>
          </a:xfrm>
          <a:prstGeom prst="rect">
            <a:avLst/>
          </a:prstGeom>
          <a:noFill/>
          <a:ln w="0">
            <a:noFill/>
          </a:ln>
        </p:spPr>
        <p:txBody>
          <a:bodyPr wrap="square" lIns="0" tIns="0" rIns="0" bIns="0" anchor="t">
            <a:noAutofit/>
          </a:bodyPr>
          <a:lstStyle>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a:pPr algn="l">
              <a:lnSpc>
                <a:spcPct val="107000"/>
              </a:lnSpc>
              <a:buNone/>
              <a:defRPr sz="2175" b="1">
                <a:solidFill>
                  <a:srgbClr val="192F43"/>
                </a:solidFill>
                <a:latin typeface="Arial"/>
                <a:ea typeface="Arial"/>
                <a:cs typeface="Arial"/>
              </a:defRPr>
            </a:pPr>
            <a:r>
              <a:rPr sz="2175" b="1">
                <a:solidFill>
                  <a:srgbClr val="192F43"/>
                </a:solidFill>
                <a:latin typeface="Arial"/>
                <a:ea typeface="Arial"/>
                <a:cs typeface="Arial"/>
              </a:rPr>
              <a:t>Vòng sau nhìn lại kết quả</a:t>
            </a:r>
          </a:p>
        </p:txBody>
      </p:sp>
      <p:sp>
        <p:nvSpPr>
          <p:cNvPr id="10" name="Rectangle 9">
            <a:extLst>
              <a:ext uri="{FF2B5EF4-FFF2-40B4-BE49-F238E27FC236}">
                <a16:creationId xmlns:a16="http://schemas.microsoft.com/office/drawing/2014/main" id="{3FC1704C-DF36-4099-A517-DE3EF9B5649C}"/>
              </a:ext>
            </a:extLst>
          </p:cNvPr>
          <p:cNvSpPr>
            <a:spLocks noGrp="1"/>
          </p:cNvSpPr>
          <p:nvPr/>
        </p:nvSpPr>
        <p:spPr>
          <a:xfrm>
            <a:off x="609600" y="4457700"/>
            <a:ext cx="10858500" cy="952500"/>
          </a:xfrm>
          <a:prstGeom prst="rect">
            <a:avLst/>
          </a:prstGeom>
          <a:noFill/>
          <a:ln w="0">
            <a:noFill/>
          </a:ln>
        </p:spPr>
        <p:txBody>
          <a:bodyPr wrap="square" lIns="0" tIns="0" rIns="0" bIns="0" anchor="t">
            <a:noAutofit/>
          </a:bodyPr>
          <a:lstStyle>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a:pPr algn="l">
              <a:lnSpc>
                <a:spcPct val="107000"/>
              </a:lnSpc>
              <a:buNone/>
              <a:defRPr sz="2025" b="0">
                <a:solidFill>
                  <a:srgbClr val="526779"/>
                </a:solidFill>
                <a:latin typeface="Arial"/>
                <a:ea typeface="Arial"/>
                <a:cs typeface="Arial"/>
              </a:defRPr>
            </a:pPr>
            <a:r>
              <a:rPr sz="2025" b="0">
                <a:solidFill>
                  <a:srgbClr val="526779"/>
                </a:solidFill>
                <a:latin typeface="Arial"/>
                <a:ea typeface="Arial"/>
                <a:cs typeface="Arial"/>
              </a:rPr>
              <a:t>Ưu tiên đo lại, chỉ hỏi VLM thêm khi cần</a:t>
            </a:r>
          </a:p>
        </p:txBody>
      </p:sp>
      <p:sp>
        <p:nvSpPr>
          <p:cNvPr id="11" name="Rectangle 10">
            <a:extLst>
              <a:ext uri="{FF2B5EF4-FFF2-40B4-BE49-F238E27FC236}">
                <a16:creationId xmlns:a16="http://schemas.microsoft.com/office/drawing/2014/main" id="{33E6E045-3D02-4CE5-B972-59F0CB8F920B}"/>
              </a:ext>
            </a:extLst>
          </p:cNvPr>
          <p:cNvSpPr>
            <a:spLocks noGrp="1"/>
          </p:cNvSpPr>
          <p:nvPr/>
        </p:nvSpPr>
        <p:spPr>
          <a:xfrm>
            <a:off x="609600" y="5381625"/>
            <a:ext cx="10858500" cy="533400"/>
          </a:xfrm>
          <a:prstGeom prst="rect">
            <a:avLst/>
          </a:prstGeom>
          <a:noFill/>
          <a:ln w="0">
            <a:noFill/>
          </a:ln>
        </p:spPr>
        <p:txBody>
          <a:bodyPr wrap="square" lIns="0" tIns="0" rIns="0" bIns="0" anchor="t">
            <a:noAutofit/>
          </a:bodyPr>
          <a:lstStyle>
            <a:defPPr algn="l">
              <a:defRPr sz="2175" b="1">
                <a:solidFill>
                  <a:srgbClr val="267C83"/>
                </a:solidFill>
                <a:latin typeface="Arial"/>
                <a:ea typeface="Arial"/>
                <a:cs typeface="Arial"/>
              </a:defRPr>
            </a:defPPr>
            <a:lvl1pPr algn="l">
              <a:defRPr sz="2175" b="1">
                <a:solidFill>
                  <a:srgbClr val="267C83"/>
                </a:solidFill>
                <a:latin typeface="Arial"/>
                <a:ea typeface="Arial"/>
                <a:cs typeface="Arial"/>
              </a:defRPr>
            </a:lvl1pPr>
            <a:lvl2pPr algn="l">
              <a:defRPr sz="2175" b="1">
                <a:solidFill>
                  <a:srgbClr val="267C83"/>
                </a:solidFill>
                <a:latin typeface="Arial"/>
                <a:ea typeface="Arial"/>
                <a:cs typeface="Arial"/>
              </a:defRPr>
            </a:lvl2pPr>
            <a:lvl3pPr algn="l">
              <a:defRPr sz="2175" b="1">
                <a:solidFill>
                  <a:srgbClr val="267C83"/>
                </a:solidFill>
                <a:latin typeface="Arial"/>
                <a:ea typeface="Arial"/>
                <a:cs typeface="Arial"/>
              </a:defRPr>
            </a:lvl3pPr>
            <a:lvl4pPr algn="l">
              <a:defRPr sz="2175" b="1">
                <a:solidFill>
                  <a:srgbClr val="267C83"/>
                </a:solidFill>
                <a:latin typeface="Arial"/>
                <a:ea typeface="Arial"/>
                <a:cs typeface="Arial"/>
              </a:defRPr>
            </a:lvl4pPr>
            <a:lvl5pPr algn="l">
              <a:defRPr sz="2175" b="1">
                <a:solidFill>
                  <a:srgbClr val="267C83"/>
                </a:solidFill>
                <a:latin typeface="Arial"/>
                <a:ea typeface="Arial"/>
                <a:cs typeface="Arial"/>
              </a:defRPr>
            </a:lvl5pPr>
            <a:lvl6pPr algn="l">
              <a:defRPr sz="2175" b="1">
                <a:solidFill>
                  <a:srgbClr val="267C83"/>
                </a:solidFill>
                <a:latin typeface="Arial"/>
                <a:ea typeface="Arial"/>
                <a:cs typeface="Arial"/>
              </a:defRPr>
            </a:lvl6pPr>
            <a:lvl7pPr algn="l">
              <a:defRPr sz="2175" b="1">
                <a:solidFill>
                  <a:srgbClr val="267C83"/>
                </a:solidFill>
                <a:latin typeface="Arial"/>
                <a:ea typeface="Arial"/>
                <a:cs typeface="Arial"/>
              </a:defRPr>
            </a:lvl7pPr>
            <a:lvl8pPr algn="l">
              <a:defRPr sz="2175" b="1">
                <a:solidFill>
                  <a:srgbClr val="267C83"/>
                </a:solidFill>
                <a:latin typeface="Arial"/>
                <a:ea typeface="Arial"/>
                <a:cs typeface="Arial"/>
              </a:defRPr>
            </a:lvl8pPr>
            <a:lvl9pPr algn="l">
              <a:defRPr sz="2175" b="1">
                <a:solidFill>
                  <a:srgbClr val="267C83"/>
                </a:solidFill>
                <a:latin typeface="Arial"/>
                <a:ea typeface="Arial"/>
                <a:cs typeface="Arial"/>
              </a:defRPr>
            </a:lvl9pPr>
          </a:lstStyle>
          <a:p>
            <a:pPr algn="l">
              <a:lnSpc>
                <a:spcPct val="107000"/>
              </a:lnSpc>
              <a:buNone/>
              <a:defRPr sz="2175" b="1">
                <a:solidFill>
                  <a:srgbClr val="267C83"/>
                </a:solidFill>
                <a:latin typeface="Arial"/>
                <a:ea typeface="Arial"/>
                <a:cs typeface="Arial"/>
              </a:defRPr>
            </a:pPr>
            <a:r>
              <a:rPr sz="2175" b="1">
                <a:solidFill>
                  <a:srgbClr val="267C83"/>
                </a:solidFill>
                <a:latin typeface="Arial"/>
                <a:ea typeface="Arial"/>
                <a:cs typeface="Arial"/>
              </a:rPr>
              <a:t>Không có khóa hoặc gọi lỗi: dùng luật và ghi nguồn</a:t>
            </a:r>
          </a:p>
        </p:txBody>
      </p:sp>
      <p:sp>
        <p:nvSpPr>
          <p:cNvPr id="12" name="Rectangle 11">
            <a:extLst>
              <a:ext uri="{FF2B5EF4-FFF2-40B4-BE49-F238E27FC236}">
                <a16:creationId xmlns:a16="http://schemas.microsoft.com/office/drawing/2014/main" id="{41879206-310A-4550-934C-A219E84C2585}"/>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Structured JSON là dữ liệu kế hoạch. Python mới là thành phần gọi hàm xử lý.</a:t>
            </a:r>
          </a:p>
        </p:txBody>
      </p:sp>
    </p:spTree>
    <p:extLst>
      <p:ext uri="{BB962C8B-B14F-4D97-AF65-F5344CB8AC3E}">
        <p14:creationId xmlns:p14="http://schemas.microsoft.com/office/powerpoint/2010/main" val="53350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C64735F-7C57-4414-B7EB-5E3C543A7A1B}"/>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4  ĐIỀU PHỐI VÀ ỨNG DỤNG</a:t>
            </a:r>
          </a:p>
        </p:txBody>
      </p:sp>
      <p:sp>
        <p:nvSpPr>
          <p:cNvPr id="2" name="Rectangle 1">
            <a:extLst>
              <a:ext uri="{FF2B5EF4-FFF2-40B4-BE49-F238E27FC236}">
                <a16:creationId xmlns:a16="http://schemas.microsoft.com/office/drawing/2014/main" id="{6F87B779-74C6-4616-A81E-C6CB238C0E35}"/>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Kiểm soát dừng và hoàn tác</a:t>
            </a:r>
          </a:p>
        </p:txBody>
      </p:sp>
      <p:sp>
        <p:nvSpPr>
          <p:cNvPr id="3" name="Rectangle 2">
            <a:extLst>
              <a:ext uri="{FF2B5EF4-FFF2-40B4-BE49-F238E27FC236}">
                <a16:creationId xmlns:a16="http://schemas.microsoft.com/office/drawing/2014/main" id="{E572C0AA-D26E-4B1B-A0FD-271544B3BF0D}"/>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17</a:t>
            </a:r>
          </a:p>
        </p:txBody>
      </p:sp>
      <p:sp>
        <p:nvSpPr>
          <p:cNvPr id="4" name="Rectangle 3">
            <a:extLst>
              <a:ext uri="{FF2B5EF4-FFF2-40B4-BE49-F238E27FC236}">
                <a16:creationId xmlns:a16="http://schemas.microsoft.com/office/drawing/2014/main" id="{AD1B6855-2ABC-4100-9AF9-CC4854C748A4}"/>
              </a:ext>
            </a:extLst>
          </p:cNvPr>
          <p:cNvSpPr>
            <a:spLocks noGrp="1"/>
          </p:cNvSpPr>
          <p:nvPr/>
        </p:nvSpPr>
        <p:spPr>
          <a:xfrm>
            <a:off x="4095750" y="1514475"/>
            <a:ext cx="4000500" cy="95250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Đánh giá ứng viên</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Mục tiêu và tác dụng phụ</a:t>
            </a:r>
          </a:p>
        </p:txBody>
      </p:sp>
      <p:sp>
        <p:nvSpPr>
          <p:cNvPr id="5" name="Rectangle 4">
            <a:extLst>
              <a:ext uri="{FF2B5EF4-FFF2-40B4-BE49-F238E27FC236}">
                <a16:creationId xmlns:a16="http://schemas.microsoft.com/office/drawing/2014/main" id="{ADE9EB2A-AE22-4459-981F-CCF3F0EB84D5}"/>
              </a:ext>
            </a:extLst>
          </p:cNvPr>
          <p:cNvSpPr>
            <a:spLocks noGrp="1"/>
          </p:cNvSpPr>
          <p:nvPr/>
        </p:nvSpPr>
        <p:spPr>
          <a:xfrm>
            <a:off x="609600" y="3228975"/>
            <a:ext cx="3048000" cy="1333500"/>
          </a:xfrm>
          <a:prstGeom prst="rect">
            <a:avLst/>
          </a:prstGeom>
          <a:solidFill>
            <a:srgbClr val="F7E9E6"/>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Rollback</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Suy thoái hoặc REJECT</a:t>
            </a:r>
            <a:br>
              <a:rPr sz="1800">
                <a:solidFill>
                  <a:srgbClr val="192F43"/>
                </a:solidFill>
                <a:latin typeface="Arial"/>
                <a:ea typeface="Arial"/>
                <a:cs typeface="Arial"/>
              </a:rPr>
            </a:br>
            <a:r>
              <a:rPr sz="1800">
                <a:solidFill>
                  <a:srgbClr val="192F43"/>
                </a:solidFill>
                <a:latin typeface="Arial"/>
                <a:ea typeface="Arial"/>
                <a:cs typeface="Arial"/>
              </a:rPr>
              <a:t>Trả ảnh trước vòng</a:t>
            </a:r>
          </a:p>
        </p:txBody>
      </p:sp>
      <p:sp>
        <p:nvSpPr>
          <p:cNvPr id="6" name="Rectangle 5">
            <a:extLst>
              <a:ext uri="{FF2B5EF4-FFF2-40B4-BE49-F238E27FC236}">
                <a16:creationId xmlns:a16="http://schemas.microsoft.com/office/drawing/2014/main" id="{187FA8F3-90F7-4727-8287-FEFFA1FE8437}"/>
              </a:ext>
            </a:extLst>
          </p:cNvPr>
          <p:cNvSpPr>
            <a:spLocks noGrp="1"/>
          </p:cNvSpPr>
          <p:nvPr/>
        </p:nvSpPr>
        <p:spPr>
          <a:xfrm>
            <a:off x="4572000" y="3228975"/>
            <a:ext cx="3048000" cy="133350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Xử lý tiếp</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Còn lỗi có tiến triển</a:t>
            </a:r>
            <a:br>
              <a:rPr sz="1800">
                <a:solidFill>
                  <a:srgbClr val="192F43"/>
                </a:solidFill>
                <a:latin typeface="Arial"/>
                <a:ea typeface="Arial"/>
                <a:cs typeface="Arial"/>
              </a:rPr>
            </a:br>
            <a:r>
              <a:rPr sz="1800">
                <a:solidFill>
                  <a:srgbClr val="192F43"/>
                </a:solidFill>
                <a:latin typeface="Arial"/>
                <a:ea typeface="Arial"/>
                <a:cs typeface="Arial"/>
              </a:rPr>
              <a:t>Và còn lượt</a:t>
            </a:r>
          </a:p>
        </p:txBody>
      </p:sp>
      <p:sp>
        <p:nvSpPr>
          <p:cNvPr id="7" name="Rectangle 6">
            <a:extLst>
              <a:ext uri="{FF2B5EF4-FFF2-40B4-BE49-F238E27FC236}">
                <a16:creationId xmlns:a16="http://schemas.microsoft.com/office/drawing/2014/main" id="{07E227C2-BAD0-41DD-A72F-AD4CA16E4D82}"/>
              </a:ext>
            </a:extLst>
          </p:cNvPr>
          <p:cNvSpPr>
            <a:spLocks noGrp="1"/>
          </p:cNvSpPr>
          <p:nvPr/>
        </p:nvSpPr>
        <p:spPr>
          <a:xfrm>
            <a:off x="8534400" y="3228975"/>
            <a:ext cx="3048000" cy="1333500"/>
          </a:xfrm>
          <a:prstGeom prst="rect">
            <a:avLst/>
          </a:prstGeom>
          <a:solidFill>
            <a:srgbClr val="F9EFDF"/>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Dừng</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Đủ điều kiện</a:t>
            </a:r>
            <a:br>
              <a:rPr sz="1800">
                <a:solidFill>
                  <a:srgbClr val="192F43"/>
                </a:solidFill>
                <a:latin typeface="Arial"/>
                <a:ea typeface="Arial"/>
                <a:cs typeface="Arial"/>
              </a:rPr>
            </a:br>
            <a:r>
              <a:rPr sz="1800">
                <a:solidFill>
                  <a:srgbClr val="192F43"/>
                </a:solidFill>
                <a:latin typeface="Arial"/>
                <a:ea typeface="Arial"/>
                <a:cs typeface="Arial"/>
              </a:rPr>
              <a:t>Hoặc hết lượt</a:t>
            </a:r>
          </a:p>
        </p:txBody>
      </p:sp>
      <p:cxnSp>
        <p:nvCxnSpPr>
          <p:cNvPr id="8" name="Straight Arrow Connector 7">
            <a:extLst>
              <a:ext uri="{FF2B5EF4-FFF2-40B4-BE49-F238E27FC236}">
                <a16:creationId xmlns:a16="http://schemas.microsoft.com/office/drawing/2014/main" id="{7B514517-0652-41B3-AEC1-7F37DAA33F26}"/>
              </a:ext>
            </a:extLst>
          </p:cNvPr>
          <p:cNvCxnSpPr/>
          <p:nvPr/>
        </p:nvCxnSpPr>
        <p:spPr>
          <a:xfrm>
            <a:off x="6096000" y="2466975"/>
            <a:ext cx="0" cy="381000"/>
          </a:xfrm>
          <a:prstGeom prst="straightConnector1">
            <a:avLst/>
          </a:prstGeom>
          <a:ln w="19050">
            <a:solidFill>
              <a:srgbClr val="617E8F"/>
            </a:solidFill>
          </a:ln>
        </p:spPr>
      </p:cxnSp>
      <p:cxnSp>
        <p:nvCxnSpPr>
          <p:cNvPr id="9" name="Straight Arrow Connector 8">
            <a:extLst>
              <a:ext uri="{FF2B5EF4-FFF2-40B4-BE49-F238E27FC236}">
                <a16:creationId xmlns:a16="http://schemas.microsoft.com/office/drawing/2014/main" id="{EE6B79DB-44EC-4A07-8000-6AB4174D1754}"/>
              </a:ext>
            </a:extLst>
          </p:cNvPr>
          <p:cNvCxnSpPr/>
          <p:nvPr/>
        </p:nvCxnSpPr>
        <p:spPr>
          <a:xfrm>
            <a:off x="2133600" y="2847975"/>
            <a:ext cx="7924800" cy="0"/>
          </a:xfrm>
          <a:prstGeom prst="straightConnector1">
            <a:avLst/>
          </a:prstGeom>
          <a:ln w="19050">
            <a:solidFill>
              <a:srgbClr val="617E8F"/>
            </a:solidFill>
          </a:ln>
        </p:spPr>
      </p:cxnSp>
      <p:cxnSp>
        <p:nvCxnSpPr>
          <p:cNvPr id="10" name="Straight Arrow Connector 9">
            <a:extLst>
              <a:ext uri="{FF2B5EF4-FFF2-40B4-BE49-F238E27FC236}">
                <a16:creationId xmlns:a16="http://schemas.microsoft.com/office/drawing/2014/main" id="{A92E6A2A-C790-4132-AFA2-70D8D6BF7861}"/>
              </a:ext>
            </a:extLst>
          </p:cNvPr>
          <p:cNvCxnSpPr/>
          <p:nvPr/>
        </p:nvCxnSpPr>
        <p:spPr>
          <a:xfrm>
            <a:off x="2133600" y="2847975"/>
            <a:ext cx="0" cy="381000"/>
          </a:xfrm>
          <a:prstGeom prst="straightConnector1">
            <a:avLst/>
          </a:prstGeom>
          <a:ln w="19050">
            <a:solidFill>
              <a:srgbClr val="617E8F"/>
            </a:solidFill>
            <a:tailEnd type="triangle" w="med" len="med"/>
          </a:ln>
        </p:spPr>
      </p:cxnSp>
      <p:cxnSp>
        <p:nvCxnSpPr>
          <p:cNvPr id="11" name="Straight Arrow Connector 10">
            <a:extLst>
              <a:ext uri="{FF2B5EF4-FFF2-40B4-BE49-F238E27FC236}">
                <a16:creationId xmlns:a16="http://schemas.microsoft.com/office/drawing/2014/main" id="{D99DB27D-9CBF-46E3-B0FC-6C1E6C9F6983}"/>
              </a:ext>
            </a:extLst>
          </p:cNvPr>
          <p:cNvCxnSpPr/>
          <p:nvPr/>
        </p:nvCxnSpPr>
        <p:spPr>
          <a:xfrm>
            <a:off x="6096000" y="2847975"/>
            <a:ext cx="0" cy="381000"/>
          </a:xfrm>
          <a:prstGeom prst="straightConnector1">
            <a:avLst/>
          </a:prstGeom>
          <a:ln w="19050">
            <a:solidFill>
              <a:srgbClr val="617E8F"/>
            </a:solidFill>
            <a:tailEnd type="triangle" w="med" len="med"/>
          </a:ln>
        </p:spPr>
      </p:cxnSp>
      <p:cxnSp>
        <p:nvCxnSpPr>
          <p:cNvPr id="12" name="Straight Arrow Connector 11">
            <a:extLst>
              <a:ext uri="{FF2B5EF4-FFF2-40B4-BE49-F238E27FC236}">
                <a16:creationId xmlns:a16="http://schemas.microsoft.com/office/drawing/2014/main" id="{731256C7-CDD5-42BE-92D2-4A60D3B27CFF}"/>
              </a:ext>
            </a:extLst>
          </p:cNvPr>
          <p:cNvCxnSpPr/>
          <p:nvPr/>
        </p:nvCxnSpPr>
        <p:spPr>
          <a:xfrm>
            <a:off x="10058400" y="2847975"/>
            <a:ext cx="0" cy="381000"/>
          </a:xfrm>
          <a:prstGeom prst="straightConnector1">
            <a:avLst/>
          </a:prstGeom>
          <a:ln w="19050">
            <a:solidFill>
              <a:srgbClr val="617E8F"/>
            </a:solidFill>
            <a:tailEnd type="triangle" w="med" len="med"/>
          </a:ln>
        </p:spPr>
      </p:cxnSp>
      <p:sp>
        <p:nvSpPr>
          <p:cNvPr id="13" name="Rectangle 12">
            <a:extLst>
              <a:ext uri="{FF2B5EF4-FFF2-40B4-BE49-F238E27FC236}">
                <a16:creationId xmlns:a16="http://schemas.microsoft.com/office/drawing/2014/main" id="{64EFA8FC-548D-4BCF-9F4C-A7DC404747A2}"/>
              </a:ext>
            </a:extLst>
          </p:cNvPr>
          <p:cNvSpPr>
            <a:spLocks noGrp="1"/>
          </p:cNvSpPr>
          <p:nvPr/>
        </p:nvSpPr>
        <p:spPr>
          <a:xfrm>
            <a:off x="609600" y="4895850"/>
            <a:ext cx="10668000" cy="476250"/>
          </a:xfrm>
          <a:prstGeom prst="rect">
            <a:avLst/>
          </a:prstGeom>
          <a:noFill/>
          <a:ln w="0">
            <a:noFill/>
          </a:ln>
        </p:spPr>
        <p:txBody>
          <a:bodyPr wrap="square" lIns="0" tIns="0" rIns="0" bIns="0" anchor="t">
            <a:noAutofit/>
          </a:bodyPr>
          <a:lstStyle>
            <a:defPPr algn="l">
              <a:defRPr sz="2550" b="1">
                <a:solidFill>
                  <a:srgbClr val="267C83"/>
                </a:solidFill>
                <a:latin typeface="Arial"/>
                <a:ea typeface="Arial"/>
                <a:cs typeface="Arial"/>
              </a:defRPr>
            </a:defPPr>
            <a:lvl1pPr algn="l">
              <a:defRPr sz="2550" b="1">
                <a:solidFill>
                  <a:srgbClr val="267C83"/>
                </a:solidFill>
                <a:latin typeface="Arial"/>
                <a:ea typeface="Arial"/>
                <a:cs typeface="Arial"/>
              </a:defRPr>
            </a:lvl1pPr>
            <a:lvl2pPr algn="l">
              <a:defRPr sz="2550" b="1">
                <a:solidFill>
                  <a:srgbClr val="267C83"/>
                </a:solidFill>
                <a:latin typeface="Arial"/>
                <a:ea typeface="Arial"/>
                <a:cs typeface="Arial"/>
              </a:defRPr>
            </a:lvl2pPr>
            <a:lvl3pPr algn="l">
              <a:defRPr sz="2550" b="1">
                <a:solidFill>
                  <a:srgbClr val="267C83"/>
                </a:solidFill>
                <a:latin typeface="Arial"/>
                <a:ea typeface="Arial"/>
                <a:cs typeface="Arial"/>
              </a:defRPr>
            </a:lvl3pPr>
            <a:lvl4pPr algn="l">
              <a:defRPr sz="2550" b="1">
                <a:solidFill>
                  <a:srgbClr val="267C83"/>
                </a:solidFill>
                <a:latin typeface="Arial"/>
                <a:ea typeface="Arial"/>
                <a:cs typeface="Arial"/>
              </a:defRPr>
            </a:lvl4pPr>
            <a:lvl5pPr algn="l">
              <a:defRPr sz="2550" b="1">
                <a:solidFill>
                  <a:srgbClr val="267C83"/>
                </a:solidFill>
                <a:latin typeface="Arial"/>
                <a:ea typeface="Arial"/>
                <a:cs typeface="Arial"/>
              </a:defRPr>
            </a:lvl5pPr>
            <a:lvl6pPr algn="l">
              <a:defRPr sz="2550" b="1">
                <a:solidFill>
                  <a:srgbClr val="267C83"/>
                </a:solidFill>
                <a:latin typeface="Arial"/>
                <a:ea typeface="Arial"/>
                <a:cs typeface="Arial"/>
              </a:defRPr>
            </a:lvl6pPr>
            <a:lvl7pPr algn="l">
              <a:defRPr sz="2550" b="1">
                <a:solidFill>
                  <a:srgbClr val="267C83"/>
                </a:solidFill>
                <a:latin typeface="Arial"/>
                <a:ea typeface="Arial"/>
                <a:cs typeface="Arial"/>
              </a:defRPr>
            </a:lvl7pPr>
            <a:lvl8pPr algn="l">
              <a:defRPr sz="2550" b="1">
                <a:solidFill>
                  <a:srgbClr val="267C83"/>
                </a:solidFill>
                <a:latin typeface="Arial"/>
                <a:ea typeface="Arial"/>
                <a:cs typeface="Arial"/>
              </a:defRPr>
            </a:lvl8pPr>
            <a:lvl9pPr algn="l">
              <a:defRPr sz="2550" b="1">
                <a:solidFill>
                  <a:srgbClr val="267C83"/>
                </a:solidFill>
                <a:latin typeface="Arial"/>
                <a:ea typeface="Arial"/>
                <a:cs typeface="Arial"/>
              </a:defRPr>
            </a:lvl9pPr>
          </a:lstStyle>
          <a:p>
            <a:pPr algn="l">
              <a:lnSpc>
                <a:spcPct val="107000"/>
              </a:lnSpc>
              <a:buNone/>
              <a:defRPr sz="2550" b="1">
                <a:solidFill>
                  <a:srgbClr val="267C83"/>
                </a:solidFill>
                <a:latin typeface="Arial"/>
                <a:ea typeface="Arial"/>
                <a:cs typeface="Arial"/>
              </a:defRPr>
            </a:pPr>
            <a:r>
              <a:rPr sz="2550" b="1">
                <a:solidFill>
                  <a:srgbClr val="267C83"/>
                </a:solidFill>
                <a:latin typeface="Arial"/>
                <a:ea typeface="Arial"/>
                <a:cs typeface="Arial"/>
              </a:rPr>
              <a:t>max_iterations mặc định 3</a:t>
            </a:r>
          </a:p>
        </p:txBody>
      </p:sp>
      <p:sp>
        <p:nvSpPr>
          <p:cNvPr id="14" name="Rectangle 13">
            <a:extLst>
              <a:ext uri="{FF2B5EF4-FFF2-40B4-BE49-F238E27FC236}">
                <a16:creationId xmlns:a16="http://schemas.microsoft.com/office/drawing/2014/main" id="{5D069BF4-3208-4D94-864E-3A971D116FF9}"/>
              </a:ext>
            </a:extLst>
          </p:cNvPr>
          <p:cNvSpPr>
            <a:spLocks noGrp="1"/>
          </p:cNvSpPr>
          <p:nvPr/>
        </p:nvSpPr>
        <p:spPr>
          <a:xfrm>
            <a:off x="609600" y="5505450"/>
            <a:ext cx="10858500" cy="723900"/>
          </a:xfrm>
          <a:prstGeom prst="rect">
            <a:avLst/>
          </a:prstGeom>
          <a:noFill/>
          <a:ln w="0">
            <a:noFill/>
          </a:ln>
        </p:spPr>
        <p:txBody>
          <a:bodyPr wrap="square" lIns="0" tIns="0" rIns="0" bIns="0" anchor="t">
            <a:noAutofit/>
          </a:bodyPr>
          <a:lstStyle>
            <a:defPPr algn="l">
              <a:defRPr sz="2100" b="0">
                <a:solidFill>
                  <a:srgbClr val="192F43"/>
                </a:solidFill>
                <a:latin typeface="Arial"/>
                <a:ea typeface="Arial"/>
                <a:cs typeface="Arial"/>
              </a:defRPr>
            </a:defPPr>
            <a:lvl1pPr algn="l">
              <a:defRPr sz="2100" b="0">
                <a:solidFill>
                  <a:srgbClr val="192F43"/>
                </a:solidFill>
                <a:latin typeface="Arial"/>
                <a:ea typeface="Arial"/>
                <a:cs typeface="Arial"/>
              </a:defRPr>
            </a:lvl1pPr>
            <a:lvl2pPr algn="l">
              <a:defRPr sz="2100" b="0">
                <a:solidFill>
                  <a:srgbClr val="192F43"/>
                </a:solidFill>
                <a:latin typeface="Arial"/>
                <a:ea typeface="Arial"/>
                <a:cs typeface="Arial"/>
              </a:defRPr>
            </a:lvl2pPr>
            <a:lvl3pPr algn="l">
              <a:defRPr sz="2100" b="0">
                <a:solidFill>
                  <a:srgbClr val="192F43"/>
                </a:solidFill>
                <a:latin typeface="Arial"/>
                <a:ea typeface="Arial"/>
                <a:cs typeface="Arial"/>
              </a:defRPr>
            </a:lvl3pPr>
            <a:lvl4pPr algn="l">
              <a:defRPr sz="2100" b="0">
                <a:solidFill>
                  <a:srgbClr val="192F43"/>
                </a:solidFill>
                <a:latin typeface="Arial"/>
                <a:ea typeface="Arial"/>
                <a:cs typeface="Arial"/>
              </a:defRPr>
            </a:lvl4pPr>
            <a:lvl5pPr algn="l">
              <a:defRPr sz="2100" b="0">
                <a:solidFill>
                  <a:srgbClr val="192F43"/>
                </a:solidFill>
                <a:latin typeface="Arial"/>
                <a:ea typeface="Arial"/>
                <a:cs typeface="Arial"/>
              </a:defRPr>
            </a:lvl5pPr>
            <a:lvl6pPr algn="l">
              <a:defRPr sz="2100" b="0">
                <a:solidFill>
                  <a:srgbClr val="192F43"/>
                </a:solidFill>
                <a:latin typeface="Arial"/>
                <a:ea typeface="Arial"/>
                <a:cs typeface="Arial"/>
              </a:defRPr>
            </a:lvl6pPr>
            <a:lvl7pPr algn="l">
              <a:defRPr sz="2100" b="0">
                <a:solidFill>
                  <a:srgbClr val="192F43"/>
                </a:solidFill>
                <a:latin typeface="Arial"/>
                <a:ea typeface="Arial"/>
                <a:cs typeface="Arial"/>
              </a:defRPr>
            </a:lvl7pPr>
            <a:lvl8pPr algn="l">
              <a:defRPr sz="2100" b="0">
                <a:solidFill>
                  <a:srgbClr val="192F43"/>
                </a:solidFill>
                <a:latin typeface="Arial"/>
                <a:ea typeface="Arial"/>
                <a:cs typeface="Arial"/>
              </a:defRPr>
            </a:lvl8pPr>
            <a:lvl9pPr algn="l">
              <a:defRPr sz="2100" b="0">
                <a:solidFill>
                  <a:srgbClr val="192F43"/>
                </a:solidFill>
                <a:latin typeface="Arial"/>
                <a:ea typeface="Arial"/>
                <a:cs typeface="Arial"/>
              </a:defRPr>
            </a:lvl9pPr>
          </a:lstStyle>
          <a:p>
            <a:pPr algn="l">
              <a:lnSpc>
                <a:spcPct val="107000"/>
              </a:lnSpc>
              <a:buNone/>
              <a:defRPr sz="2100" b="0">
                <a:solidFill>
                  <a:srgbClr val="192F43"/>
                </a:solidFill>
                <a:latin typeface="Arial"/>
                <a:ea typeface="Arial"/>
                <a:cs typeface="Arial"/>
              </a:defRPr>
            </a:pPr>
            <a:r>
              <a:rPr sz="2100" b="0">
                <a:solidFill>
                  <a:srgbClr val="192F43"/>
                </a:solidFill>
                <a:latin typeface="Arial"/>
                <a:ea typeface="Arial"/>
                <a:cs typeface="Arial"/>
              </a:rPr>
              <a:t>Ảnh thật cần review đúng ảnh trả để có ACCEPTED</a:t>
            </a:r>
          </a:p>
          <a:p>
            <a:pPr algn="l">
              <a:lnSpc>
                <a:spcPct val="107000"/>
              </a:lnSpc>
              <a:buNone/>
              <a:defRPr sz="2100" b="0">
                <a:solidFill>
                  <a:srgbClr val="192F43"/>
                </a:solidFill>
                <a:latin typeface="Arial"/>
                <a:ea typeface="Arial"/>
                <a:cs typeface="Arial"/>
              </a:defRPr>
            </a:pPr>
            <a:r>
              <a:rPr sz="2100" b="0">
                <a:solidFill>
                  <a:srgbClr val="192F43"/>
                </a:solidFill>
                <a:latin typeface="Arial"/>
                <a:ea typeface="Arial"/>
                <a:cs typeface="Arial"/>
              </a:rPr>
              <a:t>Thiếu review hợp lệ: UNVERIFIED</a:t>
            </a:r>
          </a:p>
        </p:txBody>
      </p:sp>
      <p:sp>
        <p:nvSpPr>
          <p:cNvPr id="15" name="Rectangle 14">
            <a:extLst>
              <a:ext uri="{FF2B5EF4-FFF2-40B4-BE49-F238E27FC236}">
                <a16:creationId xmlns:a16="http://schemas.microsoft.com/office/drawing/2014/main" id="{9E200273-282C-4AFB-97F9-6C27800007AF}"/>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Dừng xử lý chưa tự đồng nghĩa phục hồi thành công.</a:t>
            </a:r>
          </a:p>
        </p:txBody>
      </p:sp>
    </p:spTree>
    <p:extLst>
      <p:ext uri="{BB962C8B-B14F-4D97-AF65-F5344CB8AC3E}">
        <p14:creationId xmlns:p14="http://schemas.microsoft.com/office/powerpoint/2010/main" val="701658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F0FAE540-DCEE-4A4D-BE46-EF809DE9676F}"/>
              </a:ext>
            </a:extLst>
          </p:cNvPr>
          <p:cNvCxnSpPr>
            <a:stCxn id="10" idx="1"/>
            <a:endCxn id="11" idx="3"/>
          </p:cNvCxnSpPr>
          <p:nvPr/>
        </p:nvCxnSpPr>
        <p:spPr>
          <a:xfrm flipH="1">
            <a:off x="3657600" y="4772025"/>
            <a:ext cx="914400" cy="0"/>
          </a:xfrm>
          <a:prstGeom prst="straightConnector1">
            <a:avLst/>
          </a:prstGeom>
          <a:ln w="19050">
            <a:solidFill>
              <a:srgbClr val="617E8F"/>
            </a:solidFill>
            <a:tailEnd type="triangle" w="med" len="med"/>
          </a:ln>
        </p:spPr>
      </p:cxnSp>
      <p:cxnSp>
        <p:nvCxnSpPr>
          <p:cNvPr id="13" name="Straight Arrow Connector 12">
            <a:extLst>
              <a:ext uri="{FF2B5EF4-FFF2-40B4-BE49-F238E27FC236}">
                <a16:creationId xmlns:a16="http://schemas.microsoft.com/office/drawing/2014/main" id="{7E02A205-096C-4C81-B2C3-6FE4759D7650}"/>
              </a:ext>
            </a:extLst>
          </p:cNvPr>
          <p:cNvCxnSpPr>
            <a:stCxn id="9" idx="1"/>
            <a:endCxn id="10" idx="3"/>
          </p:cNvCxnSpPr>
          <p:nvPr/>
        </p:nvCxnSpPr>
        <p:spPr>
          <a:xfrm flipH="1">
            <a:off x="7620000" y="4772025"/>
            <a:ext cx="914400" cy="0"/>
          </a:xfrm>
          <a:prstGeom prst="straightConnector1">
            <a:avLst/>
          </a:prstGeom>
          <a:ln w="19050">
            <a:solidFill>
              <a:srgbClr val="617E8F"/>
            </a:solidFill>
            <a:tailEnd type="triangle" w="med" len="med"/>
          </a:ln>
        </p:spPr>
      </p:cxnSp>
      <p:cxnSp>
        <p:nvCxnSpPr>
          <p:cNvPr id="12" name="Straight Arrow Connector 11">
            <a:extLst>
              <a:ext uri="{FF2B5EF4-FFF2-40B4-BE49-F238E27FC236}">
                <a16:creationId xmlns:a16="http://schemas.microsoft.com/office/drawing/2014/main" id="{F68CA8FE-909F-4AAC-95C5-C09DEA35AE6E}"/>
              </a:ext>
            </a:extLst>
          </p:cNvPr>
          <p:cNvCxnSpPr>
            <a:stCxn id="6" idx="2"/>
            <a:endCxn id="9" idx="0"/>
          </p:cNvCxnSpPr>
          <p:nvPr/>
        </p:nvCxnSpPr>
        <p:spPr>
          <a:xfrm>
            <a:off x="10058400" y="2952750"/>
            <a:ext cx="0" cy="1219200"/>
          </a:xfrm>
          <a:prstGeom prst="straightConnector1">
            <a:avLst/>
          </a:prstGeom>
          <a:ln w="19050">
            <a:solidFill>
              <a:srgbClr val="617E8F"/>
            </a:solidFill>
            <a:tailEnd type="triangle" w="med" len="med"/>
          </a:ln>
        </p:spPr>
      </p:cxnSp>
      <p:cxnSp>
        <p:nvCxnSpPr>
          <p:cNvPr id="8" name="Straight Arrow Connector 7">
            <a:extLst>
              <a:ext uri="{FF2B5EF4-FFF2-40B4-BE49-F238E27FC236}">
                <a16:creationId xmlns:a16="http://schemas.microsoft.com/office/drawing/2014/main" id="{AB29FB26-86C6-48C6-B1A9-AABF71BB6FC5}"/>
              </a:ext>
            </a:extLst>
          </p:cNvPr>
          <p:cNvCxnSpPr>
            <a:stCxn id="5" idx="3"/>
            <a:endCxn id="6" idx="1"/>
          </p:cNvCxnSpPr>
          <p:nvPr/>
        </p:nvCxnSpPr>
        <p:spPr>
          <a:xfrm>
            <a:off x="7620000" y="2352675"/>
            <a:ext cx="914400" cy="0"/>
          </a:xfrm>
          <a:prstGeom prst="straightConnector1">
            <a:avLst/>
          </a:prstGeom>
          <a:ln w="19050">
            <a:solidFill>
              <a:srgbClr val="617E8F"/>
            </a:solidFill>
            <a:tailEnd type="triangle" w="med" len="med"/>
          </a:ln>
        </p:spPr>
      </p:cxnSp>
      <p:cxnSp>
        <p:nvCxnSpPr>
          <p:cNvPr id="7" name="Straight Arrow Connector 6">
            <a:extLst>
              <a:ext uri="{FF2B5EF4-FFF2-40B4-BE49-F238E27FC236}">
                <a16:creationId xmlns:a16="http://schemas.microsoft.com/office/drawing/2014/main" id="{C18C9F03-104A-4A55-BDF5-9F8E0198D0B6}"/>
              </a:ext>
            </a:extLst>
          </p:cNvPr>
          <p:cNvCxnSpPr>
            <a:stCxn id="4" idx="3"/>
            <a:endCxn id="5" idx="1"/>
          </p:cNvCxnSpPr>
          <p:nvPr/>
        </p:nvCxnSpPr>
        <p:spPr>
          <a:xfrm>
            <a:off x="3657600" y="2352675"/>
            <a:ext cx="914400" cy="0"/>
          </a:xfrm>
          <a:prstGeom prst="straightConnector1">
            <a:avLst/>
          </a:prstGeom>
          <a:ln w="19050">
            <a:solidFill>
              <a:srgbClr val="617E8F"/>
            </a:solidFill>
            <a:tailEnd type="triangle" w="med" len="med"/>
          </a:ln>
        </p:spPr>
      </p:cxnSp>
      <p:sp>
        <p:nvSpPr>
          <p:cNvPr id="16" name="Rectangle 15">
            <a:extLst>
              <a:ext uri="{FF2B5EF4-FFF2-40B4-BE49-F238E27FC236}">
                <a16:creationId xmlns:a16="http://schemas.microsoft.com/office/drawing/2014/main" id="{1BDDA359-D35B-4B3F-A42B-2406EA64AAC4}"/>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4  ĐIỀU PHỐI VÀ ỨNG DỤNG</a:t>
            </a:r>
          </a:p>
        </p:txBody>
      </p:sp>
      <p:sp>
        <p:nvSpPr>
          <p:cNvPr id="2" name="Rectangle 1">
            <a:extLst>
              <a:ext uri="{FF2B5EF4-FFF2-40B4-BE49-F238E27FC236}">
                <a16:creationId xmlns:a16="http://schemas.microsoft.com/office/drawing/2014/main" id="{7C70B611-C9DB-4C0F-9DEC-823587D631D7}"/>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Ứng dụng và góp ý sau kết quả</a:t>
            </a:r>
          </a:p>
        </p:txBody>
      </p:sp>
      <p:sp>
        <p:nvSpPr>
          <p:cNvPr id="3" name="Rectangle 2">
            <a:extLst>
              <a:ext uri="{FF2B5EF4-FFF2-40B4-BE49-F238E27FC236}">
                <a16:creationId xmlns:a16="http://schemas.microsoft.com/office/drawing/2014/main" id="{EA7B538A-3B32-4653-BFDE-0E490B49F99A}"/>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18</a:t>
            </a:r>
          </a:p>
        </p:txBody>
      </p:sp>
      <p:sp>
        <p:nvSpPr>
          <p:cNvPr id="4" name="Rectangle 3">
            <a:extLst>
              <a:ext uri="{FF2B5EF4-FFF2-40B4-BE49-F238E27FC236}">
                <a16:creationId xmlns:a16="http://schemas.microsoft.com/office/drawing/2014/main" id="{436EB13F-52DC-4498-B0A7-E2F58AF24448}"/>
              </a:ext>
            </a:extLst>
          </p:cNvPr>
          <p:cNvSpPr>
            <a:spLocks noGrp="1"/>
          </p:cNvSpPr>
          <p:nvPr/>
        </p:nvSpPr>
        <p:spPr>
          <a:xfrm>
            <a:off x="609600" y="1752600"/>
            <a:ext cx="3048000" cy="120015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Web / Gradio</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Tải ảnh và xem chẩn đoán</a:t>
            </a:r>
          </a:p>
        </p:txBody>
      </p:sp>
      <p:sp>
        <p:nvSpPr>
          <p:cNvPr id="5" name="Rectangle 4">
            <a:extLst>
              <a:ext uri="{FF2B5EF4-FFF2-40B4-BE49-F238E27FC236}">
                <a16:creationId xmlns:a16="http://schemas.microsoft.com/office/drawing/2014/main" id="{766F912B-6FDE-4FF2-868A-9793CBAD6C7E}"/>
              </a:ext>
            </a:extLst>
          </p:cNvPr>
          <p:cNvSpPr>
            <a:spLocks noGrp="1"/>
          </p:cNvSpPr>
          <p:nvPr/>
        </p:nvSpPr>
        <p:spPr>
          <a:xfrm>
            <a:off x="4572000" y="1752600"/>
            <a:ext cx="3048000" cy="1200150"/>
          </a:xfrm>
          <a:prstGeom prst="rect">
            <a:avLst/>
          </a:prstGeom>
          <a:solidFill>
            <a:srgbClr val="F9EFDF"/>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Ý định người dùng</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Chọn điều sửa và điều giữ</a:t>
            </a:r>
          </a:p>
        </p:txBody>
      </p:sp>
      <p:sp>
        <p:nvSpPr>
          <p:cNvPr id="6" name="Rectangle 5">
            <a:extLst>
              <a:ext uri="{FF2B5EF4-FFF2-40B4-BE49-F238E27FC236}">
                <a16:creationId xmlns:a16="http://schemas.microsoft.com/office/drawing/2014/main" id="{75E60E7E-90FB-4735-902C-E3A21A90AF16}"/>
              </a:ext>
            </a:extLst>
          </p:cNvPr>
          <p:cNvSpPr>
            <a:spLocks noGrp="1"/>
          </p:cNvSpPr>
          <p:nvPr/>
        </p:nvSpPr>
        <p:spPr>
          <a:xfrm>
            <a:off x="8534400" y="1752600"/>
            <a:ext cx="3048000" cy="120015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Chạy pipeline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Lưu kết quả và lịch sử</a:t>
            </a:r>
          </a:p>
        </p:txBody>
      </p:sp>
      <p:sp>
        <p:nvSpPr>
          <p:cNvPr id="9" name="Rectangle 8">
            <a:extLst>
              <a:ext uri="{FF2B5EF4-FFF2-40B4-BE49-F238E27FC236}">
                <a16:creationId xmlns:a16="http://schemas.microsoft.com/office/drawing/2014/main" id="{C1734BE3-C568-43E8-A306-155D4B602F99}"/>
              </a:ext>
            </a:extLst>
          </p:cNvPr>
          <p:cNvSpPr>
            <a:spLocks noGrp="1"/>
          </p:cNvSpPr>
          <p:nvPr/>
        </p:nvSpPr>
        <p:spPr>
          <a:xfrm>
            <a:off x="8534400" y="4171950"/>
            <a:ext cx="3048000" cy="1200150"/>
          </a:xfrm>
          <a:prstGeom prst="rect">
            <a:avLst/>
          </a:prstGeom>
          <a:solidFill>
            <a:srgbClr val="F9EFDF"/>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Góp ý</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Ví dụ còn tối</a:t>
            </a:r>
          </a:p>
        </p:txBody>
      </p:sp>
      <p:sp>
        <p:nvSpPr>
          <p:cNvPr id="10" name="Rectangle 9">
            <a:extLst>
              <a:ext uri="{FF2B5EF4-FFF2-40B4-BE49-F238E27FC236}">
                <a16:creationId xmlns:a16="http://schemas.microsoft.com/office/drawing/2014/main" id="{443BD898-596D-4A2F-A433-AA7FD8A2EB86}"/>
              </a:ext>
            </a:extLst>
          </p:cNvPr>
          <p:cNvSpPr>
            <a:spLocks noGrp="1"/>
          </p:cNvSpPr>
          <p:nvPr/>
        </p:nvSpPr>
        <p:spPr>
          <a:xfrm>
            <a:off x="4572000" y="4171950"/>
            <a:ext cx="3048000" cy="1200150"/>
          </a:xfrm>
          <a:prstGeom prst="rect">
            <a:avLst/>
          </a:prstGeom>
          <a:solidFill>
            <a:srgbClr val="E7EDF5"/>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Refine</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Điều chỉnh phác đồ</a:t>
            </a:r>
          </a:p>
        </p:txBody>
      </p:sp>
      <p:sp>
        <p:nvSpPr>
          <p:cNvPr id="11" name="Rectangle 10">
            <a:extLst>
              <a:ext uri="{FF2B5EF4-FFF2-40B4-BE49-F238E27FC236}">
                <a16:creationId xmlns:a16="http://schemas.microsoft.com/office/drawing/2014/main" id="{D0A6099F-E961-44F9-8225-F52C3505161B}"/>
              </a:ext>
            </a:extLst>
          </p:cNvPr>
          <p:cNvSpPr>
            <a:spLocks noGrp="1"/>
          </p:cNvSpPr>
          <p:nvPr/>
        </p:nvSpPr>
        <p:spPr>
          <a:xfrm>
            <a:off x="609600" y="4171950"/>
            <a:ext cx="3048000" cy="1200150"/>
          </a:xfrm>
          <a:prstGeom prst="rect">
            <a:avLst/>
          </a:prstGeom>
          <a:solidFill>
            <a:srgbClr val="E3F1F0"/>
          </a:solidFill>
          <a:ln w="11430">
            <a:solidFill>
              <a:srgbClr val="91A2AF"/>
            </a:solidFill>
          </a:ln>
        </p:spPr>
        <p:txBody>
          <a:bodyPr wrap="square" lIns="114300" tIns="114300" rIns="114300" bIns="114300" anchor="ctr">
            <a:noAutofit/>
          </a:bodyPr>
          <a:lstStyle>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Render từ ảnh gốc</a:t>
            </a:r>
          </a:p>
          <a:p>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Tránh chồng bộ lọc</a:t>
            </a:r>
          </a:p>
        </p:txBody>
      </p:sp>
      <p:sp>
        <p:nvSpPr>
          <p:cNvPr id="15" name="Rectangle 14">
            <a:extLst>
              <a:ext uri="{FF2B5EF4-FFF2-40B4-BE49-F238E27FC236}">
                <a16:creationId xmlns:a16="http://schemas.microsoft.com/office/drawing/2014/main" id="{05E0CF58-10CC-48E0-BDB2-51F7CF3C2C06}"/>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React + FastAPI lưu phiên. Case memory lưu kinh nghiệm, không lưu ảnh hoặc huấn luyện lại Gemini.</a:t>
            </a:r>
          </a:p>
        </p:txBody>
      </p:sp>
    </p:spTree>
    <p:extLst>
      <p:ext uri="{BB962C8B-B14F-4D97-AF65-F5344CB8AC3E}">
        <p14:creationId xmlns:p14="http://schemas.microsoft.com/office/powerpoint/2010/main" val="972579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09DFEB8-70A7-41D9-B410-E2755CB80CFA}"/>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4  ĐIỀU PHỐI VÀ ỨNG DỤNG</a:t>
            </a:r>
          </a:p>
        </p:txBody>
      </p:sp>
      <p:sp>
        <p:nvSpPr>
          <p:cNvPr id="2" name="Rectangle 1">
            <a:extLst>
              <a:ext uri="{FF2B5EF4-FFF2-40B4-BE49-F238E27FC236}">
                <a16:creationId xmlns:a16="http://schemas.microsoft.com/office/drawing/2014/main" id="{30B0FC51-05A2-4F2C-BC9E-E99886541A31}"/>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Pilot toàn pipeline trên ảnh thật</a:t>
            </a:r>
          </a:p>
        </p:txBody>
      </p:sp>
      <p:sp>
        <p:nvSpPr>
          <p:cNvPr id="3" name="Rectangle 2">
            <a:extLst>
              <a:ext uri="{FF2B5EF4-FFF2-40B4-BE49-F238E27FC236}">
                <a16:creationId xmlns:a16="http://schemas.microsoft.com/office/drawing/2014/main" id="{2DD5D4B7-6FE3-47FB-A85A-5627191B0C5E}"/>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19</a:t>
            </a:r>
          </a:p>
        </p:txBody>
      </p:sp>
      <p:graphicFrame>
        <p:nvGraphicFramePr>
          <p:cNvPr id="4" name="Chart">
            <a:extLst>
              <a:ext uri="{FF2B5EF4-FFF2-40B4-BE49-F238E27FC236}">
                <a16:creationId xmlns:a16="http://schemas.microsoft.com/office/drawing/2014/main" id="{754785A5-4A37-4067-A9C3-2DF9B4DAFDA1}"/>
              </a:ext>
            </a:extLst>
          </p:cNvPr>
          <p:cNvGraphicFramePr/>
          <p:nvPr/>
        </p:nvGraphicFramePr>
        <p:xfrm>
          <a:off x="609600" y="1752600"/>
          <a:ext cx="7524750"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F8B3DA2E-C1A1-4118-928B-4B0796AC6733}"/>
              </a:ext>
            </a:extLst>
          </p:cNvPr>
          <p:cNvSpPr>
            <a:spLocks noGrp="1"/>
          </p:cNvSpPr>
          <p:nvPr/>
        </p:nvSpPr>
        <p:spPr>
          <a:xfrm>
            <a:off x="8763000" y="1971675"/>
            <a:ext cx="2762250" cy="571500"/>
          </a:xfrm>
          <a:prstGeom prst="rect">
            <a:avLst/>
          </a:prstGeom>
          <a:noFill/>
          <a:ln w="0">
            <a:noFill/>
          </a:ln>
        </p:spPr>
        <p:txBody>
          <a:bodyPr wrap="square" lIns="0" tIns="0" rIns="0" bIns="0" anchor="t">
            <a:noAutofit/>
          </a:bodyPr>
          <a:lstStyle>
            <a:defPPr algn="l">
              <a:defRPr sz="3000" b="1">
                <a:solidFill>
                  <a:srgbClr val="267C83"/>
                </a:solidFill>
                <a:latin typeface="Arial"/>
                <a:ea typeface="Arial"/>
                <a:cs typeface="Arial"/>
              </a:defRPr>
            </a:defPPr>
            <a:lvl1pPr algn="l">
              <a:defRPr sz="3000" b="1">
                <a:solidFill>
                  <a:srgbClr val="267C83"/>
                </a:solidFill>
                <a:latin typeface="Arial"/>
                <a:ea typeface="Arial"/>
                <a:cs typeface="Arial"/>
              </a:defRPr>
            </a:lvl1pPr>
            <a:lvl2pPr algn="l">
              <a:defRPr sz="3000" b="1">
                <a:solidFill>
                  <a:srgbClr val="267C83"/>
                </a:solidFill>
                <a:latin typeface="Arial"/>
                <a:ea typeface="Arial"/>
                <a:cs typeface="Arial"/>
              </a:defRPr>
            </a:lvl2pPr>
            <a:lvl3pPr algn="l">
              <a:defRPr sz="3000" b="1">
                <a:solidFill>
                  <a:srgbClr val="267C83"/>
                </a:solidFill>
                <a:latin typeface="Arial"/>
                <a:ea typeface="Arial"/>
                <a:cs typeface="Arial"/>
              </a:defRPr>
            </a:lvl3pPr>
            <a:lvl4pPr algn="l">
              <a:defRPr sz="3000" b="1">
                <a:solidFill>
                  <a:srgbClr val="267C83"/>
                </a:solidFill>
                <a:latin typeface="Arial"/>
                <a:ea typeface="Arial"/>
                <a:cs typeface="Arial"/>
              </a:defRPr>
            </a:lvl4pPr>
            <a:lvl5pPr algn="l">
              <a:defRPr sz="3000" b="1">
                <a:solidFill>
                  <a:srgbClr val="267C83"/>
                </a:solidFill>
                <a:latin typeface="Arial"/>
                <a:ea typeface="Arial"/>
                <a:cs typeface="Arial"/>
              </a:defRPr>
            </a:lvl5pPr>
            <a:lvl6pPr algn="l">
              <a:defRPr sz="3000" b="1">
                <a:solidFill>
                  <a:srgbClr val="267C83"/>
                </a:solidFill>
                <a:latin typeface="Arial"/>
                <a:ea typeface="Arial"/>
                <a:cs typeface="Arial"/>
              </a:defRPr>
            </a:lvl6pPr>
            <a:lvl7pPr algn="l">
              <a:defRPr sz="3000" b="1">
                <a:solidFill>
                  <a:srgbClr val="267C83"/>
                </a:solidFill>
                <a:latin typeface="Arial"/>
                <a:ea typeface="Arial"/>
                <a:cs typeface="Arial"/>
              </a:defRPr>
            </a:lvl7pPr>
            <a:lvl8pPr algn="l">
              <a:defRPr sz="3000" b="1">
                <a:solidFill>
                  <a:srgbClr val="267C83"/>
                </a:solidFill>
                <a:latin typeface="Arial"/>
                <a:ea typeface="Arial"/>
                <a:cs typeface="Arial"/>
              </a:defRPr>
            </a:lvl8pPr>
            <a:lvl9pPr algn="l">
              <a:defRPr sz="3000" b="1">
                <a:solidFill>
                  <a:srgbClr val="267C83"/>
                </a:solidFill>
                <a:latin typeface="Arial"/>
                <a:ea typeface="Arial"/>
                <a:cs typeface="Arial"/>
              </a:defRPr>
            </a:lvl9pPr>
          </a:lstStyle>
          <a:p>
            <a:pPr algn="l">
              <a:lnSpc>
                <a:spcPct val="107000"/>
              </a:lnSpc>
              <a:buNone/>
              <a:defRPr sz="3000" b="1">
                <a:solidFill>
                  <a:srgbClr val="267C83"/>
                </a:solidFill>
                <a:latin typeface="Arial"/>
                <a:ea typeface="Arial"/>
                <a:cs typeface="Arial"/>
              </a:defRPr>
            </a:pPr>
            <a:r>
              <a:rPr sz="3000" b="1">
                <a:solidFill>
                  <a:srgbClr val="267C83"/>
                </a:solidFill>
                <a:latin typeface="Arial"/>
                <a:ea typeface="Arial"/>
                <a:cs typeface="Arial"/>
              </a:rPr>
              <a:t>24 lượt</a:t>
            </a:r>
          </a:p>
        </p:txBody>
      </p:sp>
      <p:sp>
        <p:nvSpPr>
          <p:cNvPr id="6" name="Rectangle 5">
            <a:extLst>
              <a:ext uri="{FF2B5EF4-FFF2-40B4-BE49-F238E27FC236}">
                <a16:creationId xmlns:a16="http://schemas.microsoft.com/office/drawing/2014/main" id="{363BC40A-89D7-4E12-A716-9C0A10CFC5C5}"/>
              </a:ext>
            </a:extLst>
          </p:cNvPr>
          <p:cNvSpPr>
            <a:spLocks noGrp="1"/>
          </p:cNvSpPr>
          <p:nvPr/>
        </p:nvSpPr>
        <p:spPr>
          <a:xfrm>
            <a:off x="8763000" y="2714625"/>
            <a:ext cx="2762250" cy="990600"/>
          </a:xfrm>
          <a:prstGeom prst="rect">
            <a:avLst/>
          </a:prstGeom>
          <a:noFill/>
          <a:ln w="0">
            <a:noFill/>
          </a:ln>
        </p:spPr>
        <p:txBody>
          <a:bodyPr wrap="square" lIns="0" tIns="0" rIns="0" bIns="0" anchor="t">
            <a:noAutofit/>
          </a:bodyPr>
          <a:lstStyle>
            <a:defPPr algn="l">
              <a:defRPr sz="2025" b="0">
                <a:solidFill>
                  <a:srgbClr val="192F43"/>
                </a:solidFill>
                <a:latin typeface="Arial"/>
                <a:ea typeface="Arial"/>
                <a:cs typeface="Arial"/>
              </a:defRPr>
            </a:defPPr>
            <a:lvl1pPr algn="l">
              <a:defRPr sz="2025" b="0">
                <a:solidFill>
                  <a:srgbClr val="192F43"/>
                </a:solidFill>
                <a:latin typeface="Arial"/>
                <a:ea typeface="Arial"/>
                <a:cs typeface="Arial"/>
              </a:defRPr>
            </a:lvl1pPr>
            <a:lvl2pPr algn="l">
              <a:defRPr sz="2025" b="0">
                <a:solidFill>
                  <a:srgbClr val="192F43"/>
                </a:solidFill>
                <a:latin typeface="Arial"/>
                <a:ea typeface="Arial"/>
                <a:cs typeface="Arial"/>
              </a:defRPr>
            </a:lvl2pPr>
            <a:lvl3pPr algn="l">
              <a:defRPr sz="2025" b="0">
                <a:solidFill>
                  <a:srgbClr val="192F43"/>
                </a:solidFill>
                <a:latin typeface="Arial"/>
                <a:ea typeface="Arial"/>
                <a:cs typeface="Arial"/>
              </a:defRPr>
            </a:lvl3pPr>
            <a:lvl4pPr algn="l">
              <a:defRPr sz="2025" b="0">
                <a:solidFill>
                  <a:srgbClr val="192F43"/>
                </a:solidFill>
                <a:latin typeface="Arial"/>
                <a:ea typeface="Arial"/>
                <a:cs typeface="Arial"/>
              </a:defRPr>
            </a:lvl4pPr>
            <a:lvl5pPr algn="l">
              <a:defRPr sz="2025" b="0">
                <a:solidFill>
                  <a:srgbClr val="192F43"/>
                </a:solidFill>
                <a:latin typeface="Arial"/>
                <a:ea typeface="Arial"/>
                <a:cs typeface="Arial"/>
              </a:defRPr>
            </a:lvl5pPr>
            <a:lvl6pPr algn="l">
              <a:defRPr sz="2025" b="0">
                <a:solidFill>
                  <a:srgbClr val="192F43"/>
                </a:solidFill>
                <a:latin typeface="Arial"/>
                <a:ea typeface="Arial"/>
                <a:cs typeface="Arial"/>
              </a:defRPr>
            </a:lvl6pPr>
            <a:lvl7pPr algn="l">
              <a:defRPr sz="2025" b="0">
                <a:solidFill>
                  <a:srgbClr val="192F43"/>
                </a:solidFill>
                <a:latin typeface="Arial"/>
                <a:ea typeface="Arial"/>
                <a:cs typeface="Arial"/>
              </a:defRPr>
            </a:lvl7pPr>
            <a:lvl8pPr algn="l">
              <a:defRPr sz="2025" b="0">
                <a:solidFill>
                  <a:srgbClr val="192F43"/>
                </a:solidFill>
                <a:latin typeface="Arial"/>
                <a:ea typeface="Arial"/>
                <a:cs typeface="Arial"/>
              </a:defRPr>
            </a:lvl8pPr>
            <a:lvl9pPr algn="l">
              <a:defRPr sz="2025" b="0">
                <a:solidFill>
                  <a:srgbClr val="192F43"/>
                </a:solidFill>
                <a:latin typeface="Arial"/>
                <a:ea typeface="Arial"/>
                <a:cs typeface="Arial"/>
              </a:defRPr>
            </a:lvl9pPr>
          </a:lstStyle>
          <a:p>
            <a:pPr algn="l">
              <a:lnSpc>
                <a:spcPct val="107000"/>
              </a:lnSpc>
              <a:buNone/>
              <a:defRPr sz="2025" b="0">
                <a:solidFill>
                  <a:srgbClr val="192F43"/>
                </a:solidFill>
                <a:latin typeface="Arial"/>
                <a:ea typeface="Arial"/>
                <a:cs typeface="Arial"/>
              </a:defRPr>
            </a:pPr>
            <a:r>
              <a:rPr sz="2025" b="0">
                <a:solidFill>
                  <a:srgbClr val="192F43"/>
                </a:solidFill>
                <a:latin typeface="Arial"/>
                <a:ea typeface="Arial"/>
                <a:cs typeface="Arial"/>
              </a:rPr>
              <a:t>4 ảnh × 3 lần</a:t>
            </a:r>
          </a:p>
          <a:p>
            <a:pPr algn="l">
              <a:lnSpc>
                <a:spcPct val="107000"/>
              </a:lnSpc>
              <a:buNone/>
              <a:defRPr sz="2025" b="0">
                <a:solidFill>
                  <a:srgbClr val="192F43"/>
                </a:solidFill>
                <a:latin typeface="Arial"/>
                <a:ea typeface="Arial"/>
                <a:cs typeface="Arial"/>
              </a:defRPr>
            </a:pPr>
            <a:r>
              <a:rPr sz="2025" b="0">
                <a:solidFill>
                  <a:srgbClr val="192F43"/>
                </a:solidFill>
                <a:latin typeface="Arial"/>
                <a:ea typeface="Arial"/>
                <a:cs typeface="Arial"/>
              </a:rPr>
              <a:t>× 2 phiên bản</a:t>
            </a:r>
          </a:p>
        </p:txBody>
      </p:sp>
      <p:sp>
        <p:nvSpPr>
          <p:cNvPr id="7" name="Rectangle 6">
            <a:extLst>
              <a:ext uri="{FF2B5EF4-FFF2-40B4-BE49-F238E27FC236}">
                <a16:creationId xmlns:a16="http://schemas.microsoft.com/office/drawing/2014/main" id="{B9B9C500-483D-45FC-906D-A18F7A69344B}"/>
              </a:ext>
            </a:extLst>
          </p:cNvPr>
          <p:cNvSpPr>
            <a:spLocks noGrp="1"/>
          </p:cNvSpPr>
          <p:nvPr/>
        </p:nvSpPr>
        <p:spPr>
          <a:xfrm>
            <a:off x="8763000" y="4333875"/>
            <a:ext cx="2667000" cy="952500"/>
          </a:xfrm>
          <a:prstGeom prst="rect">
            <a:avLst/>
          </a:prstGeom>
          <a:noFill/>
          <a:ln w="0">
            <a:noFill/>
          </a:ln>
        </p:spPr>
        <p:txBody>
          <a:bodyPr wrap="square" lIns="0" tIns="0" rIns="0" bIns="0" anchor="t">
            <a:noAutofit/>
          </a:bodyPr>
          <a:lstStyle>
            <a:defPPr algn="l">
              <a:defRPr sz="2325" b="1">
                <a:solidFill>
                  <a:srgbClr val="192F43"/>
                </a:solidFill>
                <a:latin typeface="Arial"/>
                <a:ea typeface="Arial"/>
                <a:cs typeface="Arial"/>
              </a:defRPr>
            </a:defPPr>
            <a:lvl1pPr algn="l">
              <a:defRPr sz="2325" b="1">
                <a:solidFill>
                  <a:srgbClr val="192F43"/>
                </a:solidFill>
                <a:latin typeface="Arial"/>
                <a:ea typeface="Arial"/>
                <a:cs typeface="Arial"/>
              </a:defRPr>
            </a:lvl1pPr>
            <a:lvl2pPr algn="l">
              <a:defRPr sz="2325" b="1">
                <a:solidFill>
                  <a:srgbClr val="192F43"/>
                </a:solidFill>
                <a:latin typeface="Arial"/>
                <a:ea typeface="Arial"/>
                <a:cs typeface="Arial"/>
              </a:defRPr>
            </a:lvl2pPr>
            <a:lvl3pPr algn="l">
              <a:defRPr sz="2325" b="1">
                <a:solidFill>
                  <a:srgbClr val="192F43"/>
                </a:solidFill>
                <a:latin typeface="Arial"/>
                <a:ea typeface="Arial"/>
                <a:cs typeface="Arial"/>
              </a:defRPr>
            </a:lvl3pPr>
            <a:lvl4pPr algn="l">
              <a:defRPr sz="2325" b="1">
                <a:solidFill>
                  <a:srgbClr val="192F43"/>
                </a:solidFill>
                <a:latin typeface="Arial"/>
                <a:ea typeface="Arial"/>
                <a:cs typeface="Arial"/>
              </a:defRPr>
            </a:lvl4pPr>
            <a:lvl5pPr algn="l">
              <a:defRPr sz="2325" b="1">
                <a:solidFill>
                  <a:srgbClr val="192F43"/>
                </a:solidFill>
                <a:latin typeface="Arial"/>
                <a:ea typeface="Arial"/>
                <a:cs typeface="Arial"/>
              </a:defRPr>
            </a:lvl5pPr>
            <a:lvl6pPr algn="l">
              <a:defRPr sz="2325" b="1">
                <a:solidFill>
                  <a:srgbClr val="192F43"/>
                </a:solidFill>
                <a:latin typeface="Arial"/>
                <a:ea typeface="Arial"/>
                <a:cs typeface="Arial"/>
              </a:defRPr>
            </a:lvl6pPr>
            <a:lvl7pPr algn="l">
              <a:defRPr sz="2325" b="1">
                <a:solidFill>
                  <a:srgbClr val="192F43"/>
                </a:solidFill>
                <a:latin typeface="Arial"/>
                <a:ea typeface="Arial"/>
                <a:cs typeface="Arial"/>
              </a:defRPr>
            </a:lvl7pPr>
            <a:lvl8pPr algn="l">
              <a:defRPr sz="2325" b="1">
                <a:solidFill>
                  <a:srgbClr val="192F43"/>
                </a:solidFill>
                <a:latin typeface="Arial"/>
                <a:ea typeface="Arial"/>
                <a:cs typeface="Arial"/>
              </a:defRPr>
            </a:lvl8pPr>
            <a:lvl9pPr algn="l">
              <a:defRPr sz="2325" b="1">
                <a:solidFill>
                  <a:srgbClr val="192F43"/>
                </a:solidFill>
                <a:latin typeface="Arial"/>
                <a:ea typeface="Arial"/>
                <a:cs typeface="Arial"/>
              </a:defRPr>
            </a:lvl9pPr>
          </a:lstStyle>
          <a:p>
            <a:pPr algn="l">
              <a:lnSpc>
                <a:spcPct val="107000"/>
              </a:lnSpc>
              <a:buNone/>
              <a:defRPr sz="2325" b="1">
                <a:solidFill>
                  <a:srgbClr val="192F43"/>
                </a:solidFill>
                <a:latin typeface="Arial"/>
                <a:ea typeface="Arial"/>
                <a:cs typeface="Arial"/>
              </a:defRPr>
            </a:pPr>
            <a:r>
              <a:rPr sz="2325" b="1">
                <a:solidFill>
                  <a:srgbClr val="192F43"/>
                </a:solidFill>
                <a:latin typeface="Arial"/>
                <a:ea typeface="Arial"/>
                <a:cs typeface="Arial"/>
              </a:rPr>
              <a:t>Chưa đủ để</a:t>
            </a:r>
          </a:p>
          <a:p>
            <a:pPr algn="l">
              <a:lnSpc>
                <a:spcPct val="107000"/>
              </a:lnSpc>
              <a:buNone/>
              <a:defRPr sz="2325" b="1">
                <a:solidFill>
                  <a:srgbClr val="192F43"/>
                </a:solidFill>
                <a:latin typeface="Arial"/>
                <a:ea typeface="Arial"/>
                <a:cs typeface="Arial"/>
              </a:defRPr>
            </a:pPr>
            <a:r>
              <a:rPr sz="2325" b="1">
                <a:solidFill>
                  <a:srgbClr val="192F43"/>
                </a:solidFill>
                <a:latin typeface="Arial"/>
                <a:ea typeface="Arial"/>
                <a:cs typeface="Arial"/>
              </a:rPr>
              <a:t>đổi mặc định</a:t>
            </a:r>
          </a:p>
        </p:txBody>
      </p:sp>
      <p:sp>
        <p:nvSpPr>
          <p:cNvPr id="8" name="Rectangle 7">
            <a:extLst>
              <a:ext uri="{FF2B5EF4-FFF2-40B4-BE49-F238E27FC236}">
                <a16:creationId xmlns:a16="http://schemas.microsoft.com/office/drawing/2014/main" id="{2B6B52EE-AF07-4E11-8C1A-B2751701D7FC}"/>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Có chỉnh chưa đồng nghĩa đạt mục tiêu. Cả hai chưa nâng được mặt tối. Chỉ có bốn ảnh độc lập.</a:t>
            </a:r>
          </a:p>
        </p:txBody>
      </p:sp>
    </p:spTree>
    <p:extLst>
      <p:ext uri="{BB962C8B-B14F-4D97-AF65-F5344CB8AC3E}">
        <p14:creationId xmlns:p14="http://schemas.microsoft.com/office/powerpoint/2010/main" val="1088273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556372D-2D6F-4366-B763-A6EF30E10CDF}"/>
              </a:ext>
            </a:extLst>
          </p:cNvPr>
          <p:cNvSpPr>
            <a:spLocks noGrp="1"/>
          </p:cNvSpPr>
          <p:nvPr/>
        </p:nvSpPr>
        <p:spPr>
          <a:xfrm>
            <a:off x="609600" y="209550"/>
            <a:ext cx="10382250" cy="276225"/>
          </a:xfrm>
          <a:prstGeom prst="rect">
            <a:avLst/>
          </a:prstGeom>
          <a:noFill/>
          <a:ln w="0">
            <a:noFill/>
          </a:ln>
        </p:spPr>
        <p:txBody>
          <a:bodyPr wrap="square" lIns="0" tIns="0" rIns="0" bIns="0" anchor="t">
            <a:noAutofit/>
          </a:bodyPr>
          <a:lstStyle>
            <a:defPPr algn="l">
              <a:defRPr sz="1350" b="1">
                <a:solidFill>
                  <a:srgbClr val="267C83"/>
                </a:solidFill>
                <a:latin typeface="Arial"/>
                <a:ea typeface="Arial"/>
                <a:cs typeface="Arial"/>
              </a:defRPr>
            </a:defPPr>
            <a:lvl1pPr algn="l">
              <a:defRPr sz="1350" b="1">
                <a:solidFill>
                  <a:srgbClr val="267C83"/>
                </a:solidFill>
                <a:latin typeface="Arial"/>
                <a:ea typeface="Arial"/>
                <a:cs typeface="Arial"/>
              </a:defRPr>
            </a:lvl1pPr>
            <a:lvl2pPr algn="l">
              <a:defRPr sz="1350" b="1">
                <a:solidFill>
                  <a:srgbClr val="267C83"/>
                </a:solidFill>
                <a:latin typeface="Arial"/>
                <a:ea typeface="Arial"/>
                <a:cs typeface="Arial"/>
              </a:defRPr>
            </a:lvl2pPr>
            <a:lvl3pPr algn="l">
              <a:defRPr sz="1350" b="1">
                <a:solidFill>
                  <a:srgbClr val="267C83"/>
                </a:solidFill>
                <a:latin typeface="Arial"/>
                <a:ea typeface="Arial"/>
                <a:cs typeface="Arial"/>
              </a:defRPr>
            </a:lvl3pPr>
            <a:lvl4pPr algn="l">
              <a:defRPr sz="1350" b="1">
                <a:solidFill>
                  <a:srgbClr val="267C83"/>
                </a:solidFill>
                <a:latin typeface="Arial"/>
                <a:ea typeface="Arial"/>
                <a:cs typeface="Arial"/>
              </a:defRPr>
            </a:lvl4pPr>
            <a:lvl5pPr algn="l">
              <a:defRPr sz="1350" b="1">
                <a:solidFill>
                  <a:srgbClr val="267C83"/>
                </a:solidFill>
                <a:latin typeface="Arial"/>
                <a:ea typeface="Arial"/>
                <a:cs typeface="Arial"/>
              </a:defRPr>
            </a:lvl5pPr>
            <a:lvl6pPr algn="l">
              <a:defRPr sz="1350" b="1">
                <a:solidFill>
                  <a:srgbClr val="267C83"/>
                </a:solidFill>
                <a:latin typeface="Arial"/>
                <a:ea typeface="Arial"/>
                <a:cs typeface="Arial"/>
              </a:defRPr>
            </a:lvl6pPr>
            <a:lvl7pPr algn="l">
              <a:defRPr sz="1350" b="1">
                <a:solidFill>
                  <a:srgbClr val="267C83"/>
                </a:solidFill>
                <a:latin typeface="Arial"/>
                <a:ea typeface="Arial"/>
                <a:cs typeface="Arial"/>
              </a:defRPr>
            </a:lvl7pPr>
            <a:lvl8pPr algn="l">
              <a:defRPr sz="1350" b="1">
                <a:solidFill>
                  <a:srgbClr val="267C83"/>
                </a:solidFill>
                <a:latin typeface="Arial"/>
                <a:ea typeface="Arial"/>
                <a:cs typeface="Arial"/>
              </a:defRPr>
            </a:lvl8pPr>
            <a:lvl9pPr algn="l">
              <a:defRPr sz="1350" b="1">
                <a:solidFill>
                  <a:srgbClr val="267C83"/>
                </a:solidFill>
                <a:latin typeface="Arial"/>
                <a:ea typeface="Arial"/>
                <a:cs typeface="Arial"/>
              </a:defRPr>
            </a:lvl9pPr>
          </a:lstStyle>
          <a:p>
            <a:pPr algn="l">
              <a:lnSpc>
                <a:spcPct val="107000"/>
              </a:lnSpc>
              <a:buNone/>
              <a:defRPr sz="1350" b="1">
                <a:solidFill>
                  <a:srgbClr val="267C83"/>
                </a:solidFill>
                <a:latin typeface="Arial"/>
                <a:ea typeface="Arial"/>
                <a:cs typeface="Arial"/>
              </a:defRPr>
            </a:pPr>
            <a:r>
              <a:rPr sz="1350" b="1">
                <a:solidFill>
                  <a:srgbClr val="267C83"/>
                </a:solidFill>
                <a:latin typeface="Arial"/>
                <a:ea typeface="Arial"/>
                <a:cs typeface="Arial"/>
              </a:rPr>
              <a:t>MODULE 4  ĐIỀU PHỐI VÀ ỨNG DỤNG</a:t>
            </a:r>
          </a:p>
        </p:txBody>
      </p:sp>
      <p:sp>
        <p:nvSpPr>
          <p:cNvPr id="2" name="Rectangle 1">
            <a:extLst>
              <a:ext uri="{FF2B5EF4-FFF2-40B4-BE49-F238E27FC236}">
                <a16:creationId xmlns:a16="http://schemas.microsoft.com/office/drawing/2014/main" id="{7BD8A2CF-F64D-4A7D-BE67-6CD7BCFBA3CB}"/>
              </a:ext>
            </a:extLst>
          </p:cNvPr>
          <p:cNvSpPr>
            <a:spLocks noGrp="1"/>
          </p:cNvSpPr>
          <p:nvPr/>
        </p:nvSpPr>
        <p:spPr>
          <a:xfrm>
            <a:off x="609600" y="609600"/>
            <a:ext cx="10382250" cy="628650"/>
          </a:xfrm>
          <a:prstGeom prst="rect">
            <a:avLst/>
          </a:prstGeom>
          <a:noFill/>
          <a:ln w="0">
            <a:noFill/>
          </a:ln>
        </p:spPr>
        <p:txBody>
          <a:bodyPr wrap="square" lIns="0" tIns="0" rIns="0" bIns="0" anchor="t">
            <a:noAutofit/>
          </a:bodyPr>
          <a:lstStyle>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a:pPr algn="l">
              <a:lnSpc>
                <a:spcPct val="107000"/>
              </a:lnSpc>
              <a:buNone/>
              <a:defRPr sz="3000" b="1">
                <a:solidFill>
                  <a:srgbClr val="192F43"/>
                </a:solidFill>
                <a:latin typeface="Arial"/>
                <a:ea typeface="Arial"/>
                <a:cs typeface="Arial"/>
              </a:defRPr>
            </a:pPr>
            <a:r>
              <a:rPr sz="3000" b="1">
                <a:solidFill>
                  <a:srgbClr val="192F43"/>
                </a:solidFill>
                <a:latin typeface="Arial"/>
                <a:ea typeface="Arial"/>
                <a:cs typeface="Arial"/>
              </a:rPr>
              <a:t>Kết nối bốn module và hướng tiếp theo</a:t>
            </a:r>
          </a:p>
        </p:txBody>
      </p:sp>
      <p:sp>
        <p:nvSpPr>
          <p:cNvPr id="3" name="Rectangle 2">
            <a:extLst>
              <a:ext uri="{FF2B5EF4-FFF2-40B4-BE49-F238E27FC236}">
                <a16:creationId xmlns:a16="http://schemas.microsoft.com/office/drawing/2014/main" id="{87720D53-CE84-4164-B87B-8E1ABCCA7ADA}"/>
              </a:ext>
            </a:extLst>
          </p:cNvPr>
          <p:cNvSpPr>
            <a:spLocks noGrp="1"/>
          </p:cNvSpPr>
          <p:nvPr/>
        </p:nvSpPr>
        <p:spPr>
          <a:xfrm>
            <a:off x="11068050" y="485775"/>
            <a:ext cx="514350" cy="285750"/>
          </a:xfrm>
          <a:prstGeom prst="rect">
            <a:avLst/>
          </a:prstGeom>
          <a:noFill/>
          <a:ln w="0">
            <a:noFill/>
          </a:ln>
        </p:spPr>
        <p:txBody>
          <a:bodyPr wrap="square" lIns="0" tIns="0" rIns="0" bIns="0" anchor="t">
            <a:noAutofit/>
          </a:bodyPr>
          <a:lstStyle>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a:pPr algn="r">
              <a:lnSpc>
                <a:spcPct val="107000"/>
              </a:lnSpc>
              <a:buNone/>
              <a:defRPr sz="1425" b="0">
                <a:solidFill>
                  <a:srgbClr val="526779"/>
                </a:solidFill>
                <a:latin typeface="Arial"/>
                <a:ea typeface="Arial"/>
                <a:cs typeface="Arial"/>
              </a:defRPr>
            </a:pPr>
            <a:r>
              <a:rPr sz="1425" b="0">
                <a:solidFill>
                  <a:srgbClr val="526779"/>
                </a:solidFill>
                <a:latin typeface="Arial"/>
                <a:ea typeface="Arial"/>
                <a:cs typeface="Arial"/>
              </a:rPr>
              <a:t>20</a:t>
            </a:r>
          </a:p>
        </p:txBody>
      </p:sp>
      <p:sp>
        <p:nvSpPr>
          <p:cNvPr id="4" name="Rectangle 3">
            <a:extLst>
              <a:ext uri="{FF2B5EF4-FFF2-40B4-BE49-F238E27FC236}">
                <a16:creationId xmlns:a16="http://schemas.microsoft.com/office/drawing/2014/main" id="{CEB00505-1938-4B2D-B053-AC7E53CE7750}"/>
              </a:ext>
            </a:extLst>
          </p:cNvPr>
          <p:cNvSpPr>
            <a:spLocks noGrp="1"/>
          </p:cNvSpPr>
          <p:nvPr/>
        </p:nvSpPr>
        <p:spPr>
          <a:xfrm>
            <a:off x="609600" y="1809750"/>
            <a:ext cx="10763250" cy="1238250"/>
          </a:xfrm>
          <a:prstGeom prst="rect">
            <a:avLst/>
          </a:prstGeom>
          <a:noFill/>
          <a:ln w="0">
            <a:noFill/>
          </a:ln>
        </p:spPr>
        <p:txBody>
          <a:bodyPr wrap="square" lIns="0" tIns="0" rIns="0" bIns="0" anchor="t">
            <a:noAutofit/>
          </a:bodyPr>
          <a:lstStyle>
            <a:defPPr algn="l">
              <a:defRPr sz="3000" b="1">
                <a:solidFill>
                  <a:srgbClr val="267C83"/>
                </a:solidFill>
                <a:latin typeface="Arial"/>
                <a:ea typeface="Arial"/>
                <a:cs typeface="Arial"/>
              </a:defRPr>
            </a:defPPr>
            <a:lvl1pPr algn="l">
              <a:defRPr sz="3000" b="1">
                <a:solidFill>
                  <a:srgbClr val="267C83"/>
                </a:solidFill>
                <a:latin typeface="Arial"/>
                <a:ea typeface="Arial"/>
                <a:cs typeface="Arial"/>
              </a:defRPr>
            </a:lvl1pPr>
            <a:lvl2pPr algn="l">
              <a:defRPr sz="3000" b="1">
                <a:solidFill>
                  <a:srgbClr val="267C83"/>
                </a:solidFill>
                <a:latin typeface="Arial"/>
                <a:ea typeface="Arial"/>
                <a:cs typeface="Arial"/>
              </a:defRPr>
            </a:lvl2pPr>
            <a:lvl3pPr algn="l">
              <a:defRPr sz="3000" b="1">
                <a:solidFill>
                  <a:srgbClr val="267C83"/>
                </a:solidFill>
                <a:latin typeface="Arial"/>
                <a:ea typeface="Arial"/>
                <a:cs typeface="Arial"/>
              </a:defRPr>
            </a:lvl3pPr>
            <a:lvl4pPr algn="l">
              <a:defRPr sz="3000" b="1">
                <a:solidFill>
                  <a:srgbClr val="267C83"/>
                </a:solidFill>
                <a:latin typeface="Arial"/>
                <a:ea typeface="Arial"/>
                <a:cs typeface="Arial"/>
              </a:defRPr>
            </a:lvl4pPr>
            <a:lvl5pPr algn="l">
              <a:defRPr sz="3000" b="1">
                <a:solidFill>
                  <a:srgbClr val="267C83"/>
                </a:solidFill>
                <a:latin typeface="Arial"/>
                <a:ea typeface="Arial"/>
                <a:cs typeface="Arial"/>
              </a:defRPr>
            </a:lvl5pPr>
            <a:lvl6pPr algn="l">
              <a:defRPr sz="3000" b="1">
                <a:solidFill>
                  <a:srgbClr val="267C83"/>
                </a:solidFill>
                <a:latin typeface="Arial"/>
                <a:ea typeface="Arial"/>
                <a:cs typeface="Arial"/>
              </a:defRPr>
            </a:lvl6pPr>
            <a:lvl7pPr algn="l">
              <a:defRPr sz="3000" b="1">
                <a:solidFill>
                  <a:srgbClr val="267C83"/>
                </a:solidFill>
                <a:latin typeface="Arial"/>
                <a:ea typeface="Arial"/>
                <a:cs typeface="Arial"/>
              </a:defRPr>
            </a:lvl7pPr>
            <a:lvl8pPr algn="l">
              <a:defRPr sz="3000" b="1">
                <a:solidFill>
                  <a:srgbClr val="267C83"/>
                </a:solidFill>
                <a:latin typeface="Arial"/>
                <a:ea typeface="Arial"/>
                <a:cs typeface="Arial"/>
              </a:defRPr>
            </a:lvl8pPr>
            <a:lvl9pPr algn="l">
              <a:defRPr sz="3000" b="1">
                <a:solidFill>
                  <a:srgbClr val="267C83"/>
                </a:solidFill>
                <a:latin typeface="Arial"/>
                <a:ea typeface="Arial"/>
                <a:cs typeface="Arial"/>
              </a:defRPr>
            </a:lvl9pPr>
          </a:lstStyle>
          <a:p>
            <a:pPr algn="l">
              <a:lnSpc>
                <a:spcPct val="107000"/>
              </a:lnSpc>
              <a:buNone/>
              <a:defRPr sz="3000" b="1">
                <a:solidFill>
                  <a:srgbClr val="267C83"/>
                </a:solidFill>
                <a:latin typeface="Arial"/>
                <a:ea typeface="Arial"/>
                <a:cs typeface="Arial"/>
              </a:defRPr>
            </a:pPr>
            <a:r>
              <a:rPr sz="3000" b="1">
                <a:solidFill>
                  <a:srgbClr val="267C83"/>
                </a:solidFill>
                <a:latin typeface="Arial"/>
                <a:ea typeface="Arial"/>
                <a:cs typeface="Arial"/>
              </a:rPr>
              <a:t>Đo được chất lượng, chọn đúng vùng,</a:t>
            </a:r>
          </a:p>
          <a:p>
            <a:pPr algn="l">
              <a:lnSpc>
                <a:spcPct val="107000"/>
              </a:lnSpc>
              <a:buNone/>
              <a:defRPr sz="3000" b="1">
                <a:solidFill>
                  <a:srgbClr val="267C83"/>
                </a:solidFill>
                <a:latin typeface="Arial"/>
                <a:ea typeface="Arial"/>
                <a:cs typeface="Arial"/>
              </a:defRPr>
            </a:pPr>
            <a:r>
              <a:rPr sz="3000" b="1">
                <a:solidFill>
                  <a:srgbClr val="267C83"/>
                </a:solidFill>
                <a:latin typeface="Arial"/>
                <a:ea typeface="Arial"/>
                <a:cs typeface="Arial"/>
              </a:rPr>
              <a:t>xử lý có kiểm soát và đánh giá lại</a:t>
            </a:r>
          </a:p>
        </p:txBody>
      </p:sp>
      <p:sp>
        <p:nvSpPr>
          <p:cNvPr id="5" name="Rectangle 4">
            <a:extLst>
              <a:ext uri="{FF2B5EF4-FFF2-40B4-BE49-F238E27FC236}">
                <a16:creationId xmlns:a16="http://schemas.microsoft.com/office/drawing/2014/main" id="{690AD5BE-980C-46F2-8B52-B98909A167E6}"/>
              </a:ext>
            </a:extLst>
          </p:cNvPr>
          <p:cNvSpPr>
            <a:spLocks noGrp="1"/>
          </p:cNvSpPr>
          <p:nvPr/>
        </p:nvSpPr>
        <p:spPr>
          <a:xfrm>
            <a:off x="609600" y="3609975"/>
            <a:ext cx="10763250" cy="1028700"/>
          </a:xfrm>
          <a:prstGeom prst="rect">
            <a:avLst/>
          </a:prstGeom>
          <a:noFill/>
          <a:ln w="0">
            <a:noFill/>
          </a:ln>
        </p:spPr>
        <p:txBody>
          <a:bodyPr wrap="square" lIns="0" tIns="0" rIns="0" bIns="0" anchor="t">
            <a:noAutofit/>
          </a:bodyPr>
          <a:lstStyle>
            <a:defPPr algn="l">
              <a:defRPr sz="2400" b="0">
                <a:solidFill>
                  <a:srgbClr val="192F43"/>
                </a:solidFill>
                <a:latin typeface="Arial"/>
                <a:ea typeface="Arial"/>
                <a:cs typeface="Arial"/>
              </a:defRPr>
            </a:defPPr>
            <a:lvl1pPr algn="l">
              <a:defRPr sz="2400" b="0">
                <a:solidFill>
                  <a:srgbClr val="192F43"/>
                </a:solidFill>
                <a:latin typeface="Arial"/>
                <a:ea typeface="Arial"/>
                <a:cs typeface="Arial"/>
              </a:defRPr>
            </a:lvl1pPr>
            <a:lvl2pPr algn="l">
              <a:defRPr sz="2400" b="0">
                <a:solidFill>
                  <a:srgbClr val="192F43"/>
                </a:solidFill>
                <a:latin typeface="Arial"/>
                <a:ea typeface="Arial"/>
                <a:cs typeface="Arial"/>
              </a:defRPr>
            </a:lvl2pPr>
            <a:lvl3pPr algn="l">
              <a:defRPr sz="2400" b="0">
                <a:solidFill>
                  <a:srgbClr val="192F43"/>
                </a:solidFill>
                <a:latin typeface="Arial"/>
                <a:ea typeface="Arial"/>
                <a:cs typeface="Arial"/>
              </a:defRPr>
            </a:lvl3pPr>
            <a:lvl4pPr algn="l">
              <a:defRPr sz="2400" b="0">
                <a:solidFill>
                  <a:srgbClr val="192F43"/>
                </a:solidFill>
                <a:latin typeface="Arial"/>
                <a:ea typeface="Arial"/>
                <a:cs typeface="Arial"/>
              </a:defRPr>
            </a:lvl4pPr>
            <a:lvl5pPr algn="l">
              <a:defRPr sz="2400" b="0">
                <a:solidFill>
                  <a:srgbClr val="192F43"/>
                </a:solidFill>
                <a:latin typeface="Arial"/>
                <a:ea typeface="Arial"/>
                <a:cs typeface="Arial"/>
              </a:defRPr>
            </a:lvl5pPr>
            <a:lvl6pPr algn="l">
              <a:defRPr sz="2400" b="0">
                <a:solidFill>
                  <a:srgbClr val="192F43"/>
                </a:solidFill>
                <a:latin typeface="Arial"/>
                <a:ea typeface="Arial"/>
                <a:cs typeface="Arial"/>
              </a:defRPr>
            </a:lvl6pPr>
            <a:lvl7pPr algn="l">
              <a:defRPr sz="2400" b="0">
                <a:solidFill>
                  <a:srgbClr val="192F43"/>
                </a:solidFill>
                <a:latin typeface="Arial"/>
                <a:ea typeface="Arial"/>
                <a:cs typeface="Arial"/>
              </a:defRPr>
            </a:lvl7pPr>
            <a:lvl8pPr algn="l">
              <a:defRPr sz="2400" b="0">
                <a:solidFill>
                  <a:srgbClr val="192F43"/>
                </a:solidFill>
                <a:latin typeface="Arial"/>
                <a:ea typeface="Arial"/>
                <a:cs typeface="Arial"/>
              </a:defRPr>
            </a:lvl8pPr>
            <a:lvl9pPr algn="l">
              <a:defRPr sz="2400" b="0">
                <a:solidFill>
                  <a:srgbClr val="192F43"/>
                </a:solidFill>
                <a:latin typeface="Arial"/>
                <a:ea typeface="Arial"/>
                <a:cs typeface="Arial"/>
              </a:defRPr>
            </a:lvl9pPr>
          </a:lstStyle>
          <a:p>
            <a:pPr algn="l">
              <a:lnSpc>
                <a:spcPct val="107000"/>
              </a:lnSpc>
              <a:buNone/>
              <a:defRPr sz="2400" b="0">
                <a:solidFill>
                  <a:srgbClr val="192F43"/>
                </a:solidFill>
                <a:latin typeface="Arial"/>
                <a:ea typeface="Arial"/>
                <a:cs typeface="Arial"/>
              </a:defRPr>
            </a:pPr>
            <a:r>
              <a:rPr sz="2400" b="0">
                <a:solidFill>
                  <a:srgbClr val="192F43"/>
                </a:solidFill>
                <a:latin typeface="Arial"/>
                <a:ea typeface="Arial"/>
                <a:cs typeface="Arial"/>
              </a:rPr>
              <a:t>Ưu tiên tiếp theo: holdout độc lập,</a:t>
            </a:r>
          </a:p>
          <a:p>
            <a:pPr algn="l">
              <a:lnSpc>
                <a:spcPct val="107000"/>
              </a:lnSpc>
              <a:buNone/>
              <a:defRPr sz="2400" b="0">
                <a:solidFill>
                  <a:srgbClr val="192F43"/>
                </a:solidFill>
                <a:latin typeface="Arial"/>
                <a:ea typeface="Arial"/>
                <a:cs typeface="Arial"/>
              </a:defRPr>
            </a:pPr>
            <a:r>
              <a:rPr sz="2400" b="0">
                <a:solidFill>
                  <a:srgbClr val="192F43"/>
                </a:solidFill>
                <a:latin typeface="Arial"/>
                <a:ea typeface="Arial"/>
                <a:cs typeface="Arial"/>
              </a:rPr>
              <a:t>hiệu chỉnh mask và kiểm tra tác dụng phụ</a:t>
            </a:r>
          </a:p>
        </p:txBody>
      </p:sp>
      <p:sp>
        <p:nvSpPr>
          <p:cNvPr id="6" name="Rectangle 5">
            <a:extLst>
              <a:ext uri="{FF2B5EF4-FFF2-40B4-BE49-F238E27FC236}">
                <a16:creationId xmlns:a16="http://schemas.microsoft.com/office/drawing/2014/main" id="{6D4E86A6-7F40-4242-BA53-FE9F673EED69}"/>
              </a:ext>
            </a:extLst>
          </p:cNvPr>
          <p:cNvSpPr>
            <a:spLocks noGrp="1"/>
          </p:cNvSpPr>
          <p:nvPr/>
        </p:nvSpPr>
        <p:spPr>
          <a:xfrm>
            <a:off x="609600" y="5400675"/>
            <a:ext cx="10668000" cy="523875"/>
          </a:xfrm>
          <a:prstGeom prst="rect">
            <a:avLst/>
          </a:prstGeom>
          <a:noFill/>
          <a:ln w="0">
            <a:noFill/>
          </a:ln>
        </p:spPr>
        <p:txBody>
          <a:bodyPr wrap="square" lIns="0" tIns="0" rIns="0" bIns="0" anchor="t">
            <a:noAutofit/>
          </a:bodyPr>
          <a:lstStyle>
            <a:defPPr algn="l">
              <a:defRPr sz="2400" b="1">
                <a:solidFill>
                  <a:srgbClr val="192F43"/>
                </a:solidFill>
                <a:latin typeface="Arial"/>
                <a:ea typeface="Arial"/>
                <a:cs typeface="Arial"/>
              </a:defRPr>
            </a:defPPr>
            <a:lvl1pPr algn="l">
              <a:defRPr sz="2400" b="1">
                <a:solidFill>
                  <a:srgbClr val="192F43"/>
                </a:solidFill>
                <a:latin typeface="Arial"/>
                <a:ea typeface="Arial"/>
                <a:cs typeface="Arial"/>
              </a:defRPr>
            </a:lvl1pPr>
            <a:lvl2pPr algn="l">
              <a:defRPr sz="2400" b="1">
                <a:solidFill>
                  <a:srgbClr val="192F43"/>
                </a:solidFill>
                <a:latin typeface="Arial"/>
                <a:ea typeface="Arial"/>
                <a:cs typeface="Arial"/>
              </a:defRPr>
            </a:lvl2pPr>
            <a:lvl3pPr algn="l">
              <a:defRPr sz="2400" b="1">
                <a:solidFill>
                  <a:srgbClr val="192F43"/>
                </a:solidFill>
                <a:latin typeface="Arial"/>
                <a:ea typeface="Arial"/>
                <a:cs typeface="Arial"/>
              </a:defRPr>
            </a:lvl3pPr>
            <a:lvl4pPr algn="l">
              <a:defRPr sz="2400" b="1">
                <a:solidFill>
                  <a:srgbClr val="192F43"/>
                </a:solidFill>
                <a:latin typeface="Arial"/>
                <a:ea typeface="Arial"/>
                <a:cs typeface="Arial"/>
              </a:defRPr>
            </a:lvl4pPr>
            <a:lvl5pPr algn="l">
              <a:defRPr sz="2400" b="1">
                <a:solidFill>
                  <a:srgbClr val="192F43"/>
                </a:solidFill>
                <a:latin typeface="Arial"/>
                <a:ea typeface="Arial"/>
                <a:cs typeface="Arial"/>
              </a:defRPr>
            </a:lvl5pPr>
            <a:lvl6pPr algn="l">
              <a:defRPr sz="2400" b="1">
                <a:solidFill>
                  <a:srgbClr val="192F43"/>
                </a:solidFill>
                <a:latin typeface="Arial"/>
                <a:ea typeface="Arial"/>
                <a:cs typeface="Arial"/>
              </a:defRPr>
            </a:lvl6pPr>
            <a:lvl7pPr algn="l">
              <a:defRPr sz="2400" b="1">
                <a:solidFill>
                  <a:srgbClr val="192F43"/>
                </a:solidFill>
                <a:latin typeface="Arial"/>
                <a:ea typeface="Arial"/>
                <a:cs typeface="Arial"/>
              </a:defRPr>
            </a:lvl7pPr>
            <a:lvl8pPr algn="l">
              <a:defRPr sz="2400" b="1">
                <a:solidFill>
                  <a:srgbClr val="192F43"/>
                </a:solidFill>
                <a:latin typeface="Arial"/>
                <a:ea typeface="Arial"/>
                <a:cs typeface="Arial"/>
              </a:defRPr>
            </a:lvl8pPr>
            <a:lvl9pPr algn="l">
              <a:defRPr sz="2400" b="1">
                <a:solidFill>
                  <a:srgbClr val="192F43"/>
                </a:solidFill>
                <a:latin typeface="Arial"/>
                <a:ea typeface="Arial"/>
                <a:cs typeface="Arial"/>
              </a:defRPr>
            </a:lvl9pPr>
          </a:lstStyle>
          <a:p>
            <a:pPr algn="l">
              <a:lnSpc>
                <a:spcPct val="107000"/>
              </a:lnSpc>
              <a:buNone/>
              <a:defRPr sz="2400" b="1">
                <a:solidFill>
                  <a:srgbClr val="192F43"/>
                </a:solidFill>
                <a:latin typeface="Arial"/>
                <a:ea typeface="Arial"/>
                <a:cs typeface="Arial"/>
              </a:defRPr>
            </a:pPr>
            <a:r>
              <a:rPr sz="2400" b="1">
                <a:solidFill>
                  <a:srgbClr val="192F43"/>
                </a:solidFill>
                <a:latin typeface="Arial"/>
                <a:ea typeface="Arial"/>
                <a:cs typeface="Arial"/>
              </a:rPr>
              <a:t>Trao đổi và câu hỏi</a:t>
            </a:r>
          </a:p>
        </p:txBody>
      </p:sp>
      <p:sp>
        <p:nvSpPr>
          <p:cNvPr id="7" name="Rectangle 6">
            <a:extLst>
              <a:ext uri="{FF2B5EF4-FFF2-40B4-BE49-F238E27FC236}">
                <a16:creationId xmlns:a16="http://schemas.microsoft.com/office/drawing/2014/main" id="{B57CE63A-3B01-4FBF-AAD7-3ABCB78E84D0}"/>
              </a:ext>
            </a:extLst>
          </p:cNvPr>
          <p:cNvSpPr>
            <a:spLocks noGrp="1"/>
          </p:cNvSpPr>
          <p:nvPr/>
        </p:nvSpPr>
        <p:spPr>
          <a:xfrm>
            <a:off x="609600" y="6334125"/>
            <a:ext cx="10972800" cy="381000"/>
          </a:xfrm>
          <a:prstGeom prst="rect">
            <a:avLst/>
          </a:prstGeom>
          <a:noFill/>
          <a:ln w="0">
            <a:noFill/>
          </a:ln>
        </p:spPr>
        <p:txBody>
          <a:bodyPr wrap="square" lIns="0" tIns="0" rIns="0" bIns="0" anchor="t">
            <a:noAutofit/>
          </a:bodyPr>
          <a:lstStyle>
            <a:defPPr algn="l">
              <a:defRPr sz="1275" b="0">
                <a:solidFill>
                  <a:srgbClr val="526779"/>
                </a:solidFill>
                <a:latin typeface="Arial"/>
                <a:ea typeface="Arial"/>
                <a:cs typeface="Arial"/>
              </a:defRPr>
            </a:defPPr>
            <a:lvl1pPr algn="l">
              <a:defRPr sz="1275" b="0">
                <a:solidFill>
                  <a:srgbClr val="526779"/>
                </a:solidFill>
                <a:latin typeface="Arial"/>
                <a:ea typeface="Arial"/>
                <a:cs typeface="Arial"/>
              </a:defRPr>
            </a:lvl1pPr>
            <a:lvl2pPr algn="l">
              <a:defRPr sz="1275" b="0">
                <a:solidFill>
                  <a:srgbClr val="526779"/>
                </a:solidFill>
                <a:latin typeface="Arial"/>
                <a:ea typeface="Arial"/>
                <a:cs typeface="Arial"/>
              </a:defRPr>
            </a:lvl2pPr>
            <a:lvl3pPr algn="l">
              <a:defRPr sz="1275" b="0">
                <a:solidFill>
                  <a:srgbClr val="526779"/>
                </a:solidFill>
                <a:latin typeface="Arial"/>
                <a:ea typeface="Arial"/>
                <a:cs typeface="Arial"/>
              </a:defRPr>
            </a:lvl3pPr>
            <a:lvl4pPr algn="l">
              <a:defRPr sz="1275" b="0">
                <a:solidFill>
                  <a:srgbClr val="526779"/>
                </a:solidFill>
                <a:latin typeface="Arial"/>
                <a:ea typeface="Arial"/>
                <a:cs typeface="Arial"/>
              </a:defRPr>
            </a:lvl4pPr>
            <a:lvl5pPr algn="l">
              <a:defRPr sz="1275" b="0">
                <a:solidFill>
                  <a:srgbClr val="526779"/>
                </a:solidFill>
                <a:latin typeface="Arial"/>
                <a:ea typeface="Arial"/>
                <a:cs typeface="Arial"/>
              </a:defRPr>
            </a:lvl5pPr>
            <a:lvl6pPr algn="l">
              <a:defRPr sz="1275" b="0">
                <a:solidFill>
                  <a:srgbClr val="526779"/>
                </a:solidFill>
                <a:latin typeface="Arial"/>
                <a:ea typeface="Arial"/>
                <a:cs typeface="Arial"/>
              </a:defRPr>
            </a:lvl6pPr>
            <a:lvl7pPr algn="l">
              <a:defRPr sz="1275" b="0">
                <a:solidFill>
                  <a:srgbClr val="526779"/>
                </a:solidFill>
                <a:latin typeface="Arial"/>
                <a:ea typeface="Arial"/>
                <a:cs typeface="Arial"/>
              </a:defRPr>
            </a:lvl7pPr>
            <a:lvl8pPr algn="l">
              <a:defRPr sz="1275" b="0">
                <a:solidFill>
                  <a:srgbClr val="526779"/>
                </a:solidFill>
                <a:latin typeface="Arial"/>
                <a:ea typeface="Arial"/>
                <a:cs typeface="Arial"/>
              </a:defRPr>
            </a:lvl8pPr>
            <a:lvl9pPr algn="l">
              <a:defRPr sz="1275" b="0">
                <a:solidFill>
                  <a:srgbClr val="526779"/>
                </a:solidFill>
                <a:latin typeface="Arial"/>
                <a:ea typeface="Arial"/>
                <a:cs typeface="Arial"/>
              </a:defRPr>
            </a:lvl9pPr>
          </a:lstStyle>
          <a:p>
            <a:pPr algn="l">
              <a:lnSpc>
                <a:spcPct val="107000"/>
              </a:lnSpc>
              <a:buNone/>
              <a:defRPr sz="1275" b="0">
                <a:solidFill>
                  <a:srgbClr val="526779"/>
                </a:solidFill>
                <a:latin typeface="Arial"/>
                <a:ea typeface="Arial"/>
                <a:cs typeface="Arial"/>
              </a:defRPr>
            </a:pPr>
            <a:r>
              <a:rPr sz="1275" b="0">
                <a:solidFill>
                  <a:srgbClr val="526779"/>
                </a:solidFill>
                <a:latin typeface="Arial"/>
                <a:ea typeface="Arial"/>
                <a:cs typeface="Arial"/>
              </a:rPr>
              <a:t>Kết thúc phần nói ở phút 14. Dành 1 phút cuối cho cả nhóm trả lời.</a:t>
            </a:r>
          </a:p>
        </p:txBody>
      </p:sp>
    </p:spTree>
    <p:extLst>
      <p:ext uri="{BB962C8B-B14F-4D97-AF65-F5344CB8AC3E}">
        <p14:creationId xmlns:p14="http://schemas.microsoft.com/office/powerpoint/2010/main" val="3804054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4684</Words>
  <Application>Microsoft Office PowerPoint</Application>
  <DocSecurity>0</DocSecurity>
  <PresentationFormat>Widescreen</PresentationFormat>
  <Paragraphs>370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Quốc Ban Lê</cp:lastModifiedBy>
  <cp:revision>1</cp:revision>
  <dcterms:created xsi:type="dcterms:W3CDTF">2026-10-30T06:41:23Z</dcterms:created>
  <dcterms:modified xsi:type="dcterms:W3CDTF">2026-10-30T07:03:00Z</dcterms:modified>
</cp:coreProperties>
</file>