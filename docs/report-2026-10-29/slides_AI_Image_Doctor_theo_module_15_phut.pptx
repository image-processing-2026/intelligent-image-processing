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1"/>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dule 1 - Phân tích và đánh giá" id="{12A06141-E7D3-4474-9D05-80EA79056189}">
          <p14:sldIdLst>
            <p14:sldId id="256"/>
            <p14:sldId id="258"/>
            <p14:sldId id="259"/>
            <p14:sldId id="260"/>
          </p14:sldIdLst>
        </p14:section>
        <p14:section name="Module 2 - Vùng và mặt nạ" id="{5E5B28B4-5E7C-464F-A609-5988E5EDBA41}">
          <p14:sldIdLst>
            <p14:sldId id="261"/>
            <p14:sldId id="262"/>
            <p14:sldId id="263"/>
            <p14:sldId id="264"/>
          </p14:sldIdLst>
        </p14:section>
        <p14:section name="Module 3 - Xử lý điểm ảnh cổ điển" id="{1BAC8DD8-A708-4BA1-A754-F2973201A05C}">
          <p14:sldIdLst>
            <p14:sldId id="265"/>
            <p14:sldId id="266"/>
            <p14:sldId id="267"/>
            <p14:sldId id="268"/>
            <p14:sldId id="269"/>
          </p14:sldIdLst>
        </p14:section>
        <p14:section name="Module 4 - Điều phối và ứng dụng" id="{B3AD7DEE-BD5E-49D5-BB51-DF85B1F0BFD7}">
          <p14:sldIdLst>
            <p14:sldId id="270"/>
            <p14:sldId id="271"/>
            <p14:sldId id="272"/>
            <p14:sldId id="273"/>
            <p14:sldId id="274"/>
            <p14:sldId id="275"/>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558"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Trước</c:v>
          </c:tx>
          <c:spPr>
            <a:solidFill>
              <a:srgbClr val="AEBAC7"/>
            </a:solidFill>
          </c:spPr>
          <c:invertIfNegative val="0"/>
          <c:dLbls>
            <c:numFmt formatCode="0.00" sourceLinked="0"/>
            <c:spPr>
              <a:noFill/>
              <a:ln>
                <a:noFill/>
              </a:ln>
              <a:effectLst/>
            </c:spPr>
            <c:txPr>
              <a:bodyPr anchorCtr="1"/>
              <a:lstStyle/>
              <a:p>
                <a:pPr>
                  <a:defRPr sz="1350">
                    <a:solidFill>
                      <a:srgbClr val="192F43"/>
                    </a:solidFill>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Data'!$A$2:$A$5</c:f>
              <c:strCache>
                <c:ptCount val="4"/>
                <c:pt idx="0">
                  <c:v>Khử nhiễu</c:v>
                </c:pt>
                <c:pt idx="1">
                  <c:v>Gamma</c:v>
                </c:pt>
                <c:pt idx="2">
                  <c:v>CLAHE</c:v>
                </c:pt>
                <c:pt idx="3">
                  <c:v>Unsharp</c:v>
                </c:pt>
              </c:strCache>
            </c:strRef>
          </c:cat>
          <c:val>
            <c:numRef>
              <c:f>'Chart Data'!$B$2:$B$5</c:f>
              <c:numCache>
                <c:formatCode>General</c:formatCode>
                <c:ptCount val="4"/>
                <c:pt idx="0">
                  <c:v>28.31</c:v>
                </c:pt>
                <c:pt idx="1">
                  <c:v>14.61</c:v>
                </c:pt>
                <c:pt idx="2">
                  <c:v>15.42</c:v>
                </c:pt>
                <c:pt idx="3">
                  <c:v>29.59</c:v>
                </c:pt>
              </c:numCache>
            </c:numRef>
          </c:val>
          <c:extLst>
            <c:ext xmlns:c16="http://schemas.microsoft.com/office/drawing/2014/chart" uri="{C3380CC4-5D6E-409C-BE32-E72D297353CC}">
              <c16:uniqueId val="{00000000-5306-4C43-8DE9-DB63DA8419B1}"/>
            </c:ext>
          </c:extLst>
        </c:ser>
        <c:ser>
          <c:idx val="1"/>
          <c:order val="1"/>
          <c:tx>
            <c:v>Sau</c:v>
          </c:tx>
          <c:spPr>
            <a:solidFill>
              <a:srgbClr val="267C83"/>
            </a:solidFill>
          </c:spPr>
          <c:invertIfNegative val="0"/>
          <c:dLbls>
            <c:numFmt formatCode="0.00" sourceLinked="0"/>
            <c:spPr>
              <a:noFill/>
              <a:ln>
                <a:noFill/>
              </a:ln>
              <a:effectLst/>
            </c:spPr>
            <c:txPr>
              <a:bodyPr anchorCtr="1"/>
              <a:lstStyle/>
              <a:p>
                <a:pPr>
                  <a:defRPr sz="1350">
                    <a:solidFill>
                      <a:srgbClr val="192F43"/>
                    </a:solidFill>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Data'!$C$2:$C$5</c:f>
              <c:strCache>
                <c:ptCount val="4"/>
                <c:pt idx="0">
                  <c:v>Khử nhiễu</c:v>
                </c:pt>
                <c:pt idx="1">
                  <c:v>Gamma</c:v>
                </c:pt>
                <c:pt idx="2">
                  <c:v>CLAHE</c:v>
                </c:pt>
                <c:pt idx="3">
                  <c:v>Unsharp</c:v>
                </c:pt>
              </c:strCache>
            </c:strRef>
          </c:cat>
          <c:val>
            <c:numRef>
              <c:f>'Chart Data'!$D$2:$D$5</c:f>
              <c:numCache>
                <c:formatCode>General</c:formatCode>
                <c:ptCount val="4"/>
                <c:pt idx="0">
                  <c:v>34.41</c:v>
                </c:pt>
                <c:pt idx="1">
                  <c:v>44.69</c:v>
                </c:pt>
                <c:pt idx="2">
                  <c:v>16.32</c:v>
                </c:pt>
                <c:pt idx="3">
                  <c:v>30.5</c:v>
                </c:pt>
              </c:numCache>
            </c:numRef>
          </c:val>
          <c:extLst>
            <c:ext xmlns:c16="http://schemas.microsoft.com/office/drawing/2014/chart" uri="{C3380CC4-5D6E-409C-BE32-E72D297353CC}">
              <c16:uniqueId val="{00000001-5306-4C43-8DE9-DB63DA8419B1}"/>
            </c:ext>
          </c:extLst>
        </c:ser>
        <c:dLbls>
          <c:dLblPos val="outEnd"/>
          <c:showLegendKey val="0"/>
          <c:showVal val="1"/>
          <c:showCatName val="0"/>
          <c:showSerName val="0"/>
          <c:showPercent val="0"/>
          <c:showBubbleSize val="0"/>
        </c:dLbls>
        <c:gapWidth val="9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AEBAC7"/>
            </a:solidFill>
          </a:ln>
        </c:spPr>
        <c:txPr>
          <a:bodyPr anchorCtr="1"/>
          <a:lstStyle/>
          <a:p>
            <a:pPr>
              <a:defRPr sz="1650">
                <a:solidFill>
                  <a:srgbClr val="666666"/>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50"/>
          <c:min val="0"/>
        </c:scaling>
        <c:delete val="0"/>
        <c:axPos val="l"/>
        <c:majorGridlines>
          <c:spPr>
            <a:ln w="9525">
              <a:solidFill>
                <a:srgbClr val="E4E9EC"/>
              </a:solidFill>
            </a:ln>
          </c:spPr>
        </c:majorGridlines>
        <c:title>
          <c:tx>
            <c:rich>
              <a:bodyPr/>
              <a:lstStyle/>
              <a:p>
                <a:r>
                  <a:rPr sz="1575">
                    <a:latin typeface="Arial"/>
                    <a:ea typeface="Arial"/>
                    <a:cs typeface="Arial"/>
                  </a:rPr>
                  <a:t>PSNR (dB)</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500">
                <a:solidFill>
                  <a:srgbClr val="666666"/>
                </a:solidFill>
                <a:latin typeface="Arial"/>
                <a:ea typeface="Arial"/>
                <a:cs typeface="Arial"/>
              </a:defRPr>
            </a:pPr>
            <a:endParaRPr lang="en-US"/>
          </a:p>
        </c:txPr>
        <c:crossAx val="48650112"/>
        <c:crosses val="autoZero"/>
        <c:crossBetween val="between"/>
        <c:majorUnit val="10"/>
      </c:valAx>
    </c:plotArea>
    <c:legend>
      <c:legendPos val="t"/>
      <c:overlay val="0"/>
      <c:txPr>
        <a:bodyPr anchorCtr="1"/>
        <a:lstStyle/>
        <a:p>
          <a:pPr>
            <a:defRPr sz="1650">
              <a:latin typeface="Arial"/>
              <a:ea typeface="Arial"/>
              <a:cs typeface="Arial"/>
            </a:defRPr>
          </a:pPr>
          <a:endParaRPr lang="en-US"/>
        </a:p>
      </c:txPr>
    </c:legend>
    <c:plotVisOnly val="1"/>
    <c:dispBlanksAs val="zero"/>
    <c:showDLblsOverMax val="1"/>
  </c:chart>
  <c:spPr>
    <a:solidFill>
      <a:srgbClr val="FFFFFF"/>
    </a:solidFill>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V1</c:v>
          </c:tx>
          <c:spPr>
            <a:solidFill>
              <a:srgbClr val="AEBAC7"/>
            </a:solidFill>
          </c:spPr>
          <c:invertIfNegative val="0"/>
          <c:dLbls>
            <c:numFmt formatCode="0" sourceLinked="0"/>
            <c:spPr>
              <a:noFill/>
              <a:ln>
                <a:noFill/>
              </a:ln>
              <a:effectLst/>
            </c:spPr>
            <c:txPr>
              <a:bodyPr anchorCtr="1"/>
              <a:lstStyle/>
              <a:p>
                <a:pPr>
                  <a:defRPr sz="1425">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Data'!$A$2:$A$5</c:f>
              <c:strCache>
                <c:ptCount val="4"/>
                <c:pt idx="0">
                  <c:v>Mặt đã sáng</c:v>
                </c:pt>
                <c:pt idx="1">
                  <c:v>Mặt tối</c:v>
                </c:pt>
                <c:pt idx="2">
                  <c:v>Ảnh nhiễu</c:v>
                </c:pt>
                <c:pt idx="3">
                  <c:v>Ảnh tốt</c:v>
                </c:pt>
              </c:strCache>
            </c:strRef>
          </c:cat>
          <c:val>
            <c:numRef>
              <c:f>'Chart Data'!$B$2:$B$5</c:f>
              <c:numCache>
                <c:formatCode>General</c:formatCode>
                <c:ptCount val="4"/>
                <c:pt idx="0">
                  <c:v>3</c:v>
                </c:pt>
                <c:pt idx="1">
                  <c:v>0</c:v>
                </c:pt>
                <c:pt idx="2">
                  <c:v>1</c:v>
                </c:pt>
                <c:pt idx="3">
                  <c:v>0</c:v>
                </c:pt>
              </c:numCache>
            </c:numRef>
          </c:val>
          <c:extLst>
            <c:ext xmlns:c16="http://schemas.microsoft.com/office/drawing/2014/chart" uri="{C3380CC4-5D6E-409C-BE32-E72D297353CC}">
              <c16:uniqueId val="{00000000-21D2-4637-A338-7A998369C212}"/>
            </c:ext>
          </c:extLst>
        </c:ser>
        <c:ser>
          <c:idx val="1"/>
          <c:order val="1"/>
          <c:tx>
            <c:v>V2</c:v>
          </c:tx>
          <c:spPr>
            <a:solidFill>
              <a:srgbClr val="267C83"/>
            </a:solidFill>
          </c:spPr>
          <c:invertIfNegative val="0"/>
          <c:dLbls>
            <c:numFmt formatCode="0" sourceLinked="0"/>
            <c:spPr>
              <a:noFill/>
              <a:ln>
                <a:noFill/>
              </a:ln>
              <a:effectLst/>
            </c:spPr>
            <c:txPr>
              <a:bodyPr anchorCtr="1"/>
              <a:lstStyle/>
              <a:p>
                <a:pPr>
                  <a:defRPr sz="1425">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Data'!$C$2:$C$5</c:f>
              <c:strCache>
                <c:ptCount val="4"/>
                <c:pt idx="0">
                  <c:v>Mặt đã sáng</c:v>
                </c:pt>
                <c:pt idx="1">
                  <c:v>Mặt tối</c:v>
                </c:pt>
                <c:pt idx="2">
                  <c:v>Ảnh nhiễu</c:v>
                </c:pt>
                <c:pt idx="3">
                  <c:v>Ảnh tốt</c:v>
                </c:pt>
              </c:strCache>
            </c:strRef>
          </c:cat>
          <c:val>
            <c:numRef>
              <c:f>'Chart Data'!$D$2:$D$5</c:f>
              <c:numCache>
                <c:formatCode>General</c:formatCode>
                <c:ptCount val="4"/>
                <c:pt idx="0">
                  <c:v>1</c:v>
                </c:pt>
                <c:pt idx="1">
                  <c:v>0</c:v>
                </c:pt>
                <c:pt idx="2">
                  <c:v>3</c:v>
                </c:pt>
                <c:pt idx="3">
                  <c:v>0</c:v>
                </c:pt>
              </c:numCache>
            </c:numRef>
          </c:val>
          <c:extLst>
            <c:ext xmlns:c16="http://schemas.microsoft.com/office/drawing/2014/chart" uri="{C3380CC4-5D6E-409C-BE32-E72D297353CC}">
              <c16:uniqueId val="{00000001-21D2-4637-A338-7A998369C212}"/>
            </c:ext>
          </c:extLst>
        </c:ser>
        <c:dLbls>
          <c:dLblPos val="outEnd"/>
          <c:showLegendKey val="0"/>
          <c:showVal val="1"/>
          <c:showCatName val="0"/>
          <c:showSerName val="0"/>
          <c:showPercent val="0"/>
          <c:showBubbleSize val="0"/>
        </c:dLbls>
        <c:gapWidth val="11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AEBAC7"/>
            </a:solidFill>
          </a:ln>
        </c:spPr>
        <c:txPr>
          <a:bodyPr anchorCtr="1"/>
          <a:lstStyle/>
          <a:p>
            <a:pPr>
              <a:defRPr sz="1575">
                <a:solidFill>
                  <a:srgbClr val="666666"/>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3.7"/>
          <c:min val="0"/>
        </c:scaling>
        <c:delete val="0"/>
        <c:axPos val="l"/>
        <c:majorGridlines>
          <c:spPr>
            <a:ln w="9525">
              <a:solidFill>
                <a:srgbClr val="E4E9EC"/>
              </a:solidFill>
            </a:ln>
          </c:spPr>
        </c:majorGridlines>
        <c:title>
          <c:tx>
            <c:rich>
              <a:bodyPr/>
              <a:lstStyle/>
              <a:p>
                <a:r>
                  <a:rPr sz="1500">
                    <a:latin typeface="Arial"/>
                    <a:ea typeface="Arial"/>
                    <a:cs typeface="Arial"/>
                  </a:rPr>
                  <a:t>Số lượt có chỉnh / 3</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500">
                <a:solidFill>
                  <a:srgbClr val="666666"/>
                </a:solidFill>
                <a:latin typeface="Arial"/>
                <a:ea typeface="Arial"/>
                <a:cs typeface="Arial"/>
              </a:defRPr>
            </a:pPr>
            <a:endParaRPr lang="en-US"/>
          </a:p>
        </c:txPr>
        <c:crossAx val="48650112"/>
        <c:crosses val="autoZero"/>
        <c:crossBetween val="between"/>
        <c:majorUnit val="1"/>
      </c:valAx>
    </c:plotArea>
    <c:legend>
      <c:legendPos val="t"/>
      <c:overlay val="0"/>
      <c:txPr>
        <a:bodyPr anchorCtr="1"/>
        <a:lstStyle/>
        <a:p>
          <a:pPr>
            <a:defRPr sz="1650">
              <a:latin typeface="Arial"/>
              <a:ea typeface="Arial"/>
              <a:cs typeface="Arial"/>
            </a:defRPr>
          </a:pPr>
          <a:endParaRPr lang="en-US"/>
        </a:p>
      </c:txPr>
    </c:legend>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1. Slide 1: Giới thiệu đề tài</a:t>
            </a:r>
          </a:p>
          <a:p/>
          <a:p>
            <a:r>
              <a:t>[Góc slide: 01. Thời lượng: 50 giây. Mốc: 0:00–0:50.]</a:t>
            </a:r>
          </a:p>
          <a:p/>
          <a:p>
            <a:r>
              <a:t>Em xin kính chào thầy và các bạn. Nhóm em xin trình bày đề tài AI Image Doctor, hệ thống cải thiện chất lượng ảnh bằng cách kết hợp mô hình thị giác ngôn ngữ với các thuật toán xử lý ảnh cổ điển.</a:t>
            </a:r>
          </a:p>
          <a:p/>
          <a:p>
            <a:r>
              <a:t>Trong thực tế, một ảnh có thể đồng thời bị nhiễu, thiếu sáng hoặc mất nét. Nếu áp một bộ lọc cố định lên toàn ảnh, vùng cần sửa có thể tốt hơn nhưng những vùng khác lại bị ảnh hưởng. Các phương pháp sinh ảnh còn có khả năng bổ sung chi tiết không có trong ảnh gốc.</a:t>
            </a:r>
          </a:p>
          <a:p/>
          <a:p>
            <a:r>
              <a:t>Vì vậy, nhóm sử dụng VLM để nhận biết vấn đề và đề xuất cách xử lý, còn việc thay đổi điểm ảnh được thực hiện bằng các thuật toán cổ điển. Sau mỗi lượt, hệ thống đánh giá lại để quyết định tiếp tục hay dừng. Bài trình bày sẽ đi qua bốn module, từ đo chất lượng ảnh đến điều phối toàn bộ vòng lặp.</a:t>
            </a:r>
          </a:p>
          <a:p/>
          <a:p>
            <a:r>
              <a:t>Nguồn:  Bìa đã thống nhất trong báo cáo, README.md.</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1. Slide 2: Dữ liệu và chuẩn hóa ảnh đầu vào</a:t>
            </a:r>
          </a:p>
          <a:p/>
          <a:p>
            <a:r>
              <a:t>[Góc slide: 03. Thời lượng: 50 giây. Mốc: 0:50–1:40. Chỉ lần lượt bốn ảnh minh họa.]</a:t>
            </a:r>
          </a:p>
          <a:p/>
          <a:p>
            <a:r>
              <a:t>Trước tiên, để kiểm tra thuật toán, nhóm tạo ảnh lỗi từ ảnh sạch. Như trên hình, các lỗi minh họa gồm nhiễu Gaussian, mờ chuyển động, thiếu sáng và tương phản thấp. Bộ sinh dữ liệu chính có bảy dạng suy giảm; bốn ảnh này là các ví dụ để thấy rõ sự khác nhau giữa các nhóm lỗi.</a:t>
            </a:r>
          </a:p>
          <a:p/>
          <a:p>
            <a:r>
              <a:t>Điểm thuận lợi của cách tạo dữ liệu này là chúng ta vẫn giữ được ảnh sạch ban đầu. Nhờ đó, kết quả sau xử lý có thể được so sánh với một mốc tham chiếu, thay vì chỉ nhìn bằng mắt và kết luận ảnh có vẻ đẹp hơn.</a:t>
            </a:r>
          </a:p>
          <a:p/>
          <a:p>
            <a:r>
              <a:t>Với ảnh người dùng tải lên web, hệ thống kiểm tra file, xử lý hướng ảnh theo EXIF và chuyển về RGB. Ảnh sau chuẩn hóa là mảng NumPy kiểu uint8, có chiều cao, chiều rộng và ba kênh màu. Việc thống nhất định dạng giúp các module phía sau nhận cùng một cấu trúc dữ liệu và hạn chế lỗi do khác hệ màu hoặc kiểu dữ liệu.</a:t>
            </a:r>
          </a:p>
          <a:p/>
          <a:p>
            <a:r>
              <a:t>Nguồn:  data/generate_synthetic_benchmark.py; src/api/storage.py; ảnh skimage.data.astronaut trong báo cáo.</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1. Slide 3: Phân tích chất lượng bằng số đo</a:t>
            </a:r>
          </a:p>
          <a:p/>
          <a:p>
            <a:r>
              <a:t>[Góc slide: 04. Thời lượng: 50 giây. Mốc: 1:40–2:30. Chỉ luồng từ ảnh đến Measurement rồi Calibration.]</a:t>
            </a:r>
          </a:p>
          <a:p/>
          <a:p>
            <a:r>
              <a:t>Sau khi chuẩn hóa, Module 1 phân tích ảnh bằng các phép đo kỹ thuật. Ảnh được xem xét ở mức toàn cục và theo các ô nhỏ để nhận ra những vấn đề không xuất hiện đồng đều trên toàn ảnh.</a:t>
            </a:r>
          </a:p>
          <a:p/>
          <a:p>
            <a:r>
              <a:t>Chẳng hạn, độ sáng và tỷ lệ clipping cho biết ảnh có bao nhiêu điểm bị cắt sáng hoặc cắt tối. Nhiễu được ước lượng trên vùng ít cấu trúc để giảm nhầm lẫn giữa hạt nhiễu và chi tiết thật. Độ nét được xem xét qua đặc trưng biên và các phép đo như Laplacian. Ngoài ra còn có các thông tin về màu và tương phản.</a:t>
            </a:r>
          </a:p>
          <a:p/>
          <a:p>
            <a:r>
              <a:t>Bước Calibration chuyển các phép đo thành mức độ lỗi từ không đến ba, giúp việc diễn giải thống nhất hơn. Đầu ra của module là bằng chứng kỹ thuật. Phần hiểu ngữ cảnh, ví dụ nền tối có phải chủ ý nghệ thuật hay không, sẽ được kết hợp với VLM ở Module 4.</a:t>
            </a:r>
          </a:p>
          <a:p/>
          <a:p>
            <a:r>
              <a:t>Nguồn:  src/analyzer_evaluator/analyzer.py; measurement/; measurement/calibration.yaml.</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1. Slide 4: Đánh giá ảnh sau xử lý</a:t>
            </a:r>
          </a:p>
          <a:p/>
          <a:p>
            <a:r>
              <a:t>[Góc slide: 05. Thời lượng: 60 giây. Mốc: 2:30–3:30. Chỉ công thức PSNR rồi ví dụ số. Giữ câu bàn giao ở cuối.]</a:t>
            </a:r>
          </a:p>
          <a:p/>
          <a:p>
            <a:r>
              <a:t>Module 1 còn đánh giá ảnh sau xử lý. Công thức tiêu biểu ở đây là PSNR, bằng mười nhân logarit cơ số mười của hai trăm năm mươi lăm bình phương chia MSE, đơn vị decibel.</a:t>
            </a:r>
          </a:p>
          <a:p/>
          <a:p>
            <a:r>
              <a:t>MSE là trung bình bình phương chênh lệch giữa ảnh đang đánh giá và ảnh sạch, trên mọi điểm ảnh và kênh màu. Hai trăm năm mươi lăm là mức cực đại của ảnh uint8. Khi sai số giảm, PSNR tăng. Ví dụ, MSE bằng một trăm cho PSNR khoảng hai mươi tám phẩy mười ba decibel.</a:t>
            </a:r>
          </a:p>
          <a:p/>
          <a:p>
            <a:r>
              <a:t>Công thức này cần ảnh chuẩn phù hợp. Với ảnh thật không có ảnh sạch tương ứng, hệ thống dùng các phép đo không tham chiếu và review. Điểm nội bộ từ không đến một trăm là một thước đo khác, không phải PSNR. Module 1 cung cấp bằng chứng đánh giá, còn graph quyết định dừng.</a:t>
            </a:r>
          </a:p>
          <a:p/>
          <a:p>
            <a:r>
              <a:t>Để sửa đúng chỗ, chúng ta cần xác định vùng tác động. Em xin chuyển sang thành viên phụ trách Module 2.</a:t>
            </a:r>
          </a:p>
          <a:p/>
          <a:p>
            <a:r>
              <a:t>[Ghi nhớ khi hỏi đáp: PSNR = 10 log₁₀(255²/MSE), tương đương 20 log₁₀(255/√MSE) trong code. Với MSE gần 0, code trả 100 dB theo quy ước, trong khi công thức lý thuyết tiến tới vô hạn. Nguồn: src/analyzer_evaluator/reference_eval.py, các hàm _compute_mse và _compute_psnr.]</a:t>
            </a:r>
          </a:p>
          <a:p/>
          <a:p>
            <a:r>
              <a:t>Nguồn: src/analyzer_evaluator/reference_eval.py (_compute_mse, _compute_psnr).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2. Slide 5: Yêu cầu vùng được chuyển thành mask</a:t>
            </a:r>
          </a:p>
          <a:p/>
          <a:p>
            <a:r>
              <a:t>[Góc slide: 06. Thời lượng: 35 giây. Mốc: 3:30–4:05.]</a:t>
            </a:r>
          </a:p>
          <a:p/>
          <a:p>
            <a:r>
              <a:t>Tiếp nối phần đánh giá, em xin trình bày Module 2, có nhiệm vụ xác định vùng cần xử lý.</a:t>
            </a:r>
          </a:p>
          <a:p/>
          <a:p>
            <a:r>
              <a:t>Ví dụ, với yêu cầu làm sáng khuôn mặt nhưng giữ nguyên nền, hệ thống cần biết khuôn mặt nằm ở đâu. Region Engine nhận thông tin vùng hoặc đối tượng, chọn cách định vị phù hợp rồi tạo mask, tức mặt nạ xác định mức tác động ở từng điểm ảnh.</a:t>
            </a:r>
          </a:p>
          <a:p/>
          <a:p>
            <a:r>
              <a:t>Mask có cùng kích thước không gian với ảnh, dùng kiểu float32 và giá trị từ không đến một. Vùng bằng không được giữ nguyên, vùng bằng một nhận toàn bộ tác động; các giá trị trung gian dùng để chuyển tiếp mềm.</a:t>
            </a:r>
          </a:p>
          <a:p/>
          <a:p>
            <a:r>
              <a:t>Nguồn:  src/region_engine/controller.py; spatial.py; subject.py; docs/interfaces.md.</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2. Slide 6: Định vị vùng theo mục tiêu và asset</a:t>
            </a:r>
          </a:p>
          <a:p/>
          <a:p>
            <a:r>
              <a:t>[Góc slide: 07. Thời lượng: 60 giây. Mốc: 4:05–5:05. Chỉ ba nhánh của sơ đồ.]</a:t>
            </a:r>
          </a:p>
          <a:p/>
          <a:p>
            <a:r>
              <a:t>Module 2 không dùng một cách định vị duy nhất cho mọi yêu cầu. Cách tạo vùng phụ thuộc vào loại đối tượng, thông tin đầu vào và các mô hình có sẵn trong môi trường chạy.</a:t>
            </a:r>
          </a:p>
          <a:p/>
          <a:p>
            <a:r>
              <a:t>Với khuôn mặt, hệ thống có thể sử dụng MediaPipe. Khi có Face Landmarker, các mốc khuôn mặt hỗ trợ tạo vùng oval bám theo mặt. Với một đối tượng được mô tả bằng ngôn ngữ, nhánh GroundingDINO kết hợp SAM có thể định vị đối tượng bằng khung bao rồi tạo mặt nạ chi tiết.</a:t>
            </a:r>
          </a:p>
          <a:p/>
          <a:p>
            <a:r>
              <a:t>GrabCut là một lựa chọn khởi tạo từ khung bao khi có điều kiện phù hợp. Các vùng hình học như vùng chữ nhật hoặc vùng theo vị trí có thể được tạo trực tiếp, không cần mô hình hiểu đối tượng.</a:t>
            </a:r>
          </a:p>
          <a:p/>
          <a:p>
            <a:r>
              <a:t>Cần lưu ý, các mô hình này chỉ giúp xác định vị trí và phạm vi tác động. Chúng không sinh ra ảnh phục chế. Nếu thiếu asset hoặc không có thông tin vùng hợp lệ, hệ thống không thể mặc định rằng mọi nhánh đều hoạt động đầy đủ.</a:t>
            </a:r>
          </a:p>
          <a:p/>
          <a:p>
            <a:r>
              <a:t>Nguồn:  src/region_engine/face_detector.py; face_landmarker.py; segmentation_backend.py; subject.py.</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2. Slide 7: Mask mềm giúp ghép vùng tự nhiên</a:t>
            </a:r>
          </a:p>
          <a:p/>
          <a:p>
            <a:r>
              <a:t>[Góc slide: 08. Thời lượng: 60 giây. Mốc: 5:05–6:05. Chỉ ảnh đầu vào, mask, vùng phủ và ảnh kết quả.]</a:t>
            </a:r>
          </a:p>
          <a:p/>
          <a:p>
            <a:r>
              <a:t>Hình này minh họa cách mask mềm giới hạn thay đổi vào một vùng. Từ trái sang phải là ảnh đầu vào, mặt nạ, vùng tác động được phủ màu và kết quả nâng sáng theo mask. Mask oval trong ví dụ được vẽ tay để giải thích cơ chế, không phải kết quả nhận diện tự động.</a:t>
            </a:r>
          </a:p>
          <a:p/>
          <a:p>
            <a:r>
              <a:t>Nếu chỉ dùng mask có biên cứng, chỗ tiếp giáp giữa vùng đã sửa và vùng giữ nguyên có thể lộ rõ. Khi làm mềm biên, các điểm ở rìa nhận tác động giảm dần, nhờ đó kết quả chuyển tiếp tự nhiên hơn.</a:t>
            </a:r>
          </a:p>
          <a:p/>
          <a:p>
            <a:r>
              <a:t>Công thức bên dưới là phép trộn hai ảnh theo mask. Ở vùng trắng, ảnh kết quả gần với ảnh đã xử lý. Ở vùng đen, kết quả giữ ảnh trước xử lý. Vùng xám là sự pha trộn giữa hai ảnh.</a:t>
            </a:r>
          </a:p>
          <a:p/>
          <a:p>
            <a:r>
              <a:t>Về trách nhiệm, Module 2 tạo mask; Module 3 mới thực hiện thuật toán và áp dụng phép hòa trộn này. Việc thống nhất mask giúp nhiều công cụ khác nhau dùng chung một cơ chế xử lý cục bộ.</a:t>
            </a:r>
          </a:p>
          <a:p/>
          <a:p>
            <a:r>
              <a:t>Nguồn:  src/region_engine/mask_utils.py; src/processing_engine/base.py; hình mask từ báo cáo.</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2. Slide 8: Kiểm tra mask và phạm vi tác động</a:t>
            </a:r>
          </a:p>
          <a:p/>
          <a:p>
            <a:r>
              <a:t>[Góc slide: 09. Thời lượng: 55 giây. Mốc: 6:05–7:00. Chỉ sự khác nhau giữa nâng sáng toàn ảnh và vùng mặt.]</a:t>
            </a:r>
          </a:p>
          <a:p/>
          <a:p>
            <a:r>
              <a:t>Ba ảnh ở đây cho thấy vì sao phải kiểm soát phạm vi xử lý. Khi nâng sáng toàn ảnh, nền và trang phục cũng thay đổi. Nếu mục tiêu chỉ là làm rõ khuôn mặt, việc giới hạn bằng mask sẽ giữ được nhiều hơn những vùng người dùng không yêu cầu sửa.</a:t>
            </a:r>
          </a:p>
          <a:p/>
          <a:p>
            <a:r>
              <a:t>Tuy nhiên, mask cũng có thể sai. Vì vậy, hệ thống cần kiểm tra tính hợp lệ của vùng trước khi áp thuật toán. Khi không định vị được vùng, thao tác tương ứng được bỏ qua. Với một số trường hợp mask mặt không đạt kiểm tra, code có thể tạm dùng khung bao với cường độ giảm còn một nửa; đây vẫn là phương án dự phòng cần tiếp tục cải thiện.</a:t>
            </a:r>
          </a:p>
          <a:p/>
          <a:p>
            <a:r>
              <a:t>Sau khi có mask hợp lệ, hệ thống đã biết phần nào cần thay đổi và phần nào cần giữ. Em xin chuyển sang thành viên phụ trách Module 3 để trình bày các thuật toán tạo ra thay đổi đó.</a:t>
            </a:r>
          </a:p>
          <a:p/>
          <a:p>
            <a:r>
              <a:t>Nguồn:  src/agent/executor.py; src/region_engine/subject.py; hình local_global báo cáo.</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3. Slide 9: Năm công cụ xử lý điểm ảnh</a:t>
            </a:r>
          </a:p>
          <a:p/>
          <a:p>
            <a:r>
              <a:t>[Góc slide: 10. Thời lượng: 30 giây. Mốc: 7:00–7:30.]</a:t>
            </a:r>
          </a:p>
          <a:p/>
          <a:p>
            <a:r>
              <a:t>Sau phần xác định vùng, em xin trình bày Module 3, là nơi trực tiếp thay đổi điểm ảnh.</a:t>
            </a:r>
          </a:p>
          <a:p/>
          <a:p>
            <a:r>
              <a:t>Hệ thống có năm nhóm công cụ: khử nhiễu, hiệu chỉnh gamma, CLAHE, tăng nét và điều chỉnh màu. Mỗi công cụ nhận ảnh, mask và tham số; đầu ra giữ nguyên kích thước cùng kiểu dữ liệu uint8.</a:t>
            </a:r>
          </a:p>
          <a:p/>
          <a:p>
            <a:r>
              <a:t>Planner quy định thứ tự xử lý, còn engine thực thi thuật toán. Một nguyên tắc là khử nhiễu trước khi tăng nét, vì tăng nét quá sớm có thể làm hạt nhiễu rõ hơn.</a:t>
            </a:r>
          </a:p>
          <a:p/>
          <a:p>
            <a:r>
              <a:t>Nguồn:  src/processing_engine/__init__.py; base.py; src/agent/planner.py.</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3. Slide 10: Khử nhiễu và đánh đổi chi tiết</a:t>
            </a:r>
          </a:p>
          <a:p/>
          <a:p>
            <a:r>
              <a:t>[Góc slide: 11. Thời lượng: 45 giây. Mốc: 7:30–8:15. Chỉ vùng mặt và chất liệu quần áo ở các ảnh.]</a:t>
            </a:r>
          </a:p>
          <a:p/>
          <a:p>
            <a:r>
              <a:t>Hệ thống hỗ trợ các cách khử nhiễu như Gaussian, Median, Bilateral và Non Local Means. Gaussian làm trơn theo lân cận; Median hữu ích với nhiễu dạng xung; Bilateral kết hợp khoảng cách không gian và độ giống nhau về cường độ; còn Non Local Means khai thác sự tương đồng giữa các vùng ảnh.</a:t>
            </a:r>
          </a:p>
          <a:p/>
          <a:p>
            <a:r>
              <a:t>Trong minh họa này, từ ảnh sạch nhóm thêm nhiễu Gaussian rồi thử các phương pháp xử lý. Ta có thể quan sát lượng hạt giảm đi, nhưng mức giữ chi tiết khác nhau. Đặc biệt, nếu khử nhiễu quá mạnh, da và chất liệu quần áo có thể bị bệt.</a:t>
            </a:r>
          </a:p>
          <a:p/>
          <a:p>
            <a:r>
              <a:t>Vì vậy, mục tiêu không chỉ là làm ảnh thật mịn. Cần cân bằng giữa giảm nhiễu và giữ cấu trúc ban đầu. Agent giới hạn tham số strength trong khoảng cho phép, nhưng việc chọn mức phù hợp vẫn cần dựa vào mức nhiễu và đánh giá kết quả sau xử lý.</a:t>
            </a:r>
          </a:p>
          <a:p/>
          <a:p>
            <a:r>
              <a:t>Nguồn:  src/processing_engine/denoise.py; hình denoise của báo cáo.</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3. Slide 11: Gamma và CLAHE cho sáng và tương phản</a:t>
            </a:r>
          </a:p>
          <a:p/>
          <a:p>
            <a:r>
              <a:t>[Góc slide: 12. Thời lượng: 65 giây. Mốc: 8:15–9:20. Chỉ công thức Gamma, ví dụ số và hai cặp ảnh.]</a:t>
            </a:r>
          </a:p>
          <a:p/>
          <a:p>
            <a:r>
              <a:t>Với ảnh thiếu sáng, công thức tiêu biểu là hiệu chỉnh Gamma. Mức đầu ra s bằng hai trăm năm mươi lăm nhân với r chia hai trăm năm mươi lăm, tất cả lũy thừa một chia gamma. Trong đó, r và s là mức điểm ảnh vào và ra, còn gamma là tham số dương điều khiển độ sáng.</a:t>
            </a:r>
          </a:p>
          <a:p/>
          <a:p>
            <a:r>
              <a:t>Sau khi chia cho hai trăm năm mươi lăm, giá trị nằm trong khoảng từ không đến một. Với gamma lớn hơn một, số mũ nhỏ hơn một làm các mức trung gian tăng lên. Ví dụ, mức vào sáu mươi bốn và gamma hai phẩy năm cho kết quả khoảng một trăm bốn mươi sáu phẩy sáu chín. Bảng tra trong code cắt phần thập phân và trả mức một trăm bốn mươi sáu, nên ảnh sáng hơn.</a:t>
            </a:r>
          </a:p>
          <a:p/>
          <a:p>
            <a:r>
              <a:t>Chương trình tính sẵn bảng tra hai trăm năm mươi sáu mức để áp nhanh lên từng kênh. Nếu dùng mask, kết quả này tiếp tục được hòa trộn theo vùng như Module 2 đã giải thích.</a:t>
            </a:r>
          </a:p>
          <a:p/>
          <a:p>
            <a:r>
              <a:t>Với tương phản thấp, CLAHE xử lý kênh L trong LAB theo các vùng nhỏ và giới hạn mức khuếch đại. Cả hai công cụ chỉ làm rõ tín hiệu còn tồn tại, không khôi phục chi tiết đã mất do clipping.</a:t>
            </a:r>
          </a:p>
          <a:p/>
          <a:p>
            <a:r>
              <a:t>[Ghi nhớ khi hỏi đáp: s = 255 × (r/255)^(1/γ), với γ &gt; 0. γ = 1 giữ mức sáng, γ &lt; 1 làm tối các mức trung gian. Giá trị 0 và 255 giữ nguyên. Đây là công thức trước bước hòa trộn mask. Nguồn: src/processing_engine/exposure_contrast.py, các hàm _raw_gamma và apply_gamma.]</a:t>
            </a:r>
          </a:p>
          <a:p/>
          <a:p>
            <a:r>
              <a:t>Nguồn: src/processing_engine/exposure_contrast.py (_raw_gamma, apply_gamma).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3. Slide 12: Tăng nét và điều chỉnh màu</a:t>
            </a:r>
          </a:p>
          <a:p/>
          <a:p>
            <a:r>
              <a:t>[Góc slide: 13. Thời lượng: 40 giây. Mốc: 9:20–10:00.]</a:t>
            </a:r>
          </a:p>
          <a:p/>
          <a:p>
            <a:r>
              <a:t>Với tăng nét, hệ thống có Unsharp Masking và Laplacian. Có thể hiểu Unsharp là lấy phần khác biệt giữa ảnh và bản làm mờ để tăng tương phản quanh biên. Ảnh sẽ trông rõ hơn, nhưng dùng quá mạnh có thể tạo viền sáng hoặc làm nhiễu tăng lên. Đây chưa phải phương pháp giải chập để khôi phục ảnh mờ nặng.</a:t>
            </a:r>
          </a:p>
          <a:p/>
          <a:p>
            <a:r>
              <a:t>Với màu sắc, hệ thống điều chỉnh độ bão hòa trong HSV và thay đổi hệ số kênh đỏ, lam để điều khiển tông ấm lạnh. Cặp ảnh con mèo minh họa sự thay đổi tông ấm. Tham số này là điều khiển tương đối trong chương trình, không phải nhiệt độ màu đo bằng Kelvin.</a:t>
            </a:r>
          </a:p>
          <a:p/>
          <a:p>
            <a:r>
              <a:t>Nguồn:  src/processing_engine/sharpen.py; color.py; hình sharpen và color từ báo cáo.</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3. Slide 13: Kết quả benchmark thành phần</a:t>
            </a:r>
          </a:p>
          <a:p/>
          <a:p>
            <a:r>
              <a:t>[Góc slide: 14. Thời lượng: 30 giây. Mốc: 10:00–10:30. Chỉ cột trước và sau, không đọc toàn bộ số.]</a:t>
            </a:r>
          </a:p>
          <a:p/>
          <a:p>
            <a:r>
              <a:t>Biểu đồ cho thấy PSNR tăng trong các ví dụ benchmark thành phần, trong đó trường hợp gamma cải thiện rõ nhất. Tuy nhiên, đây là thử nghiệm nhỏ có ảnh chuẩn và quét tham số để chọn kết quả tốt nhất. Nó cho thấy khả năng của từng thuật toán, chưa đại diện cho hiệu quả tự động của toàn pipeline.</a:t>
            </a:r>
          </a:p>
          <a:p/>
          <a:p>
            <a:r>
              <a:t>Như vậy, Module 3 đã cung cấp các công cụ xử lý. Thành viên phụ trách Module 4 sẽ giải thích hệ thống chọn công cụ, lặp lại và dừng như thế nào.</a:t>
            </a:r>
          </a:p>
          <a:p/>
          <a:p>
            <a:r>
              <a:t>Nguồn:  docs/module3/benchmark/denoise.md; exposure.md; sharpen.md.</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4. Slide 14: LangGraph kết nối bốn module</a:t>
            </a:r>
          </a:p>
          <a:p/>
          <a:p>
            <a:r>
              <a:t>[Góc slide: 15. Thời lượng: 60 giây. Mốc: 10:30–11:30. Chỉ theo chiều mũi tên; chỉ đường quay lại ở cuối.]</a:t>
            </a:r>
          </a:p>
          <a:p/>
          <a:p>
            <a:r>
              <a:t>Sau khi đã có số đo, mask và các công cụ, Module 4 kết nối chúng thành một luồng xử lý bằng LangGraph. Thứ tự trình bày bốn module vừa rồi là cách phân chia trách nhiệm; thứ tự chạy thực tế được thể hiện ở sơ đồ này.</a:t>
            </a:r>
          </a:p>
          <a:p/>
          <a:p>
            <a:r>
              <a:t>Đầu tiên, Analyze đo chất lượng ảnh. Perceive kết hợp VLM với bằng chứng kỹ thuật. Clarify làm rõ ý định người dùng, sau đó bước Diagnose and Plan tạo kế hoạch xử lý. Process gọi Module 2 để tạo mask và Module 3 để áp thuật toán. Evaluate dùng Module 1 để đánh giá ảnh ứng viên.</a:t>
            </a:r>
          </a:p>
          <a:p/>
          <a:p>
            <a:r>
              <a:t>Từ kết quả đó, Decide quyết định xử lý tiếp hay dừng. Nếu cần xử lý tiếp, luồng quay về Analyze. Khi dừng, hệ thống qua Review rồi Finalize để xác định kết cục cuối.</a:t>
            </a:r>
          </a:p>
          <a:p/>
          <a:p>
            <a:r>
              <a:t>Các bước chia sẻ DoctorState, chứa ảnh gốc, ảnh hiện tại, ảnh trước vòng và lịch sử. Nhờ vậy, vòng sau có thể dùng kết quả vòng trước và hệ thống có cơ sở để hoàn tác khi cần.</a:t>
            </a:r>
          </a:p>
          <a:p/>
          <a:p>
            <a:r>
              <a:t>Nguồn:  src/agent/graph.py build_doctor_graph; state.py DoctorState.</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4. Slide 15: Gemini đề xuất chương trình kiểm tra</a:t>
            </a:r>
          </a:p>
          <a:p/>
          <a:p>
            <a:r>
              <a:t>[Góc slide: 16. Thời lượng: 40 giây. Mốc: 11:30–12:10.]</a:t>
            </a:r>
          </a:p>
          <a:p/>
          <a:p>
            <a:r>
              <a:t>Gemini được dùng để diễn giải vấn đề của ảnh và hỗ trợ tạo kế hoạch. Thông tin gửi vào có thể gồm ảnh, crop, số đo và yêu cầu của người dùng, chẳng hạn làm sáng mặt nhưng giữ nguyên nền.</a:t>
            </a:r>
          </a:p>
          <a:p/>
          <a:p>
            <a:r>
              <a:t>Kế hoạch trả về dưới dạng JSON có cấu trúc, mô tả công cụ, vùng và tham số. Chương trình kiểm tra kế hoạch, giới hạn tham số và giữ đúng thứ tự thực thi. Python mới là thành phần gọi các hàm xử lý ảnh.</a:t>
            </a:r>
          </a:p>
          <a:p/>
          <a:p>
            <a:r>
              <a:t>Ở vòng sau, hệ thống ưu tiên đo lại và chỉ hỏi VLM thêm khi cần. Nếu thiếu khóa API hoặc gọi mô hình thất bại, có đường dùng luật và ghi nhận nguồn quyết định; không nên coi kết quả đó là suy luận thành công từ Gemini.</a:t>
            </a:r>
          </a:p>
          <a:p/>
          <a:p>
            <a:r>
              <a:t>Nguồn:  src/agent/perception.py; fusion.py; vlm_diagnostician.py; planner.py; knowledge/.</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4. Slide 16: Kiểm soát dừng và hoàn tác</a:t>
            </a:r>
          </a:p>
          <a:p/>
          <a:p>
            <a:r>
              <a:t>[Góc slide: 17. Thời lượng: 35 giây. Mốc: 12:10–12:45.]</a:t>
            </a:r>
          </a:p>
          <a:p/>
          <a:p>
            <a:r>
              <a:t>Vòng lặp cần được kiểm soát để tránh xử lý mãi hoặc làm ảnh xấu dần. Sau khi đánh giá ảnh ứng viên, hệ thống có thể hoàn tác về ảnh trước vòng, tiếp tục nếu còn lỗi và còn lượt, hoặc dừng.</a:t>
            </a:r>
          </a:p>
          <a:p/>
          <a:p>
            <a:r>
              <a:t>Trong code, tham số giới hạn là max_iterations, mặc định bằng ba. Hết lượt chỉ có nghĩa là hệ thống phải dừng, chưa có nghĩa ảnh đã đạt mục tiêu.</a:t>
            </a:r>
          </a:p>
          <a:p/>
          <a:p>
            <a:r>
              <a:t>Với ảnh thật, trạng thái ACCEPTED cần kết quả review hợp lệ gắn với đúng ảnh được trả ra. Nếu thiếu review hợp lệ, kết quả được ghi là UNVERIFIED. Cách ghi nhận này giúp tránh báo thành công khi chưa đủ bằng chứng.</a:t>
            </a:r>
          </a:p>
          <a:p/>
          <a:p>
            <a:r>
              <a:t>Nguồn:  src/agent/graph.py decide_node và finalize_node; review.py derive_outcome.</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4. Slide 17: Ứng dụng và góp ý sau kết quả</a:t>
            </a:r>
          </a:p>
          <a:p/>
          <a:p>
            <a:r>
              <a:t>[Góc slide: 18. Thời lượng: 30 giây. Mốc: 12:45–13:15.]</a:t>
            </a:r>
          </a:p>
          <a:p/>
          <a:p>
            <a:r>
              <a:t>Ở phía ứng dụng, người dùng tải ảnh, xem chẩn đoán, xác nhận điều muốn sửa và điều cần giữ, rồi chạy pipeline. Kết quả và lịch sử được lưu theo phiên.</a:t>
            </a:r>
          </a:p>
          <a:p/>
          <a:p>
            <a:r>
              <a:t>Sau đó, người dùng có thể góp ý, ví dụ ảnh vẫn còn tối. Nhánh refine điều chỉnh phác đồ và render lại từ ảnh gốc để tránh chồng bộ lọc. Đây là nhánh tinh chỉnh riêng, không tự động tương đương chạy lại toàn bộ vòng review vừa trình bày.</a:t>
            </a:r>
          </a:p>
          <a:p/>
          <a:p>
            <a:r>
              <a:t>Case memory lưu kinh nghiệm cho các tình huống xử lý; cơ chế này không phải lưu ảnh để huấn luyện lại Gemini.</a:t>
            </a:r>
          </a:p>
          <a:p/>
          <a:p>
            <a:r>
              <a:t>Nguồn:  src/api/; src/agent/session.py; intent.py; refine.py; memory.py; web/README.md.</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4. Slide 18: Pilot toàn pipeline trên ảnh thật</a:t>
            </a:r>
          </a:p>
          <a:p/>
          <a:p>
            <a:r>
              <a:t>[Góc slide: 19. Thời lượng: 30 giây. Mốc: 13:15–13:45.]</a:t>
            </a:r>
          </a:p>
          <a:p/>
          <a:p>
            <a:r>
              <a:t>Với toàn pipeline, nhóm có thử nghiệm pilot gồm bốn ảnh, mỗi ảnh chạy ba lần trên hai phiên bản, tổng cộng hai mươi tư lượt. Biểu đồ thể hiện số lượt có chỉnh sửa, không phải số lượt đạt mục tiêu.</a:t>
            </a:r>
          </a:p>
          <a:p/>
          <a:p>
            <a:r>
              <a:t>Hai phiên bản có hành vi khác nhau: V2 chỉnh ảnh nhiễu nhiều hơn, nhưng cả hai chưa nâng được trường hợp mặt tối. Do chỉ có bốn ảnh độc lập, kết quả này chưa đủ để kết luận phiên bản nào tốt hơn hoặc đổi cấu hình mặc định.</a:t>
            </a:r>
          </a:p>
          <a:p/>
          <a:p>
            <a:r>
              <a:t>Nguồn:  docs/reports/2026-10-29-prompt-ab.md; 2026-10-29-prompt-ab-basic.md.</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Thành viên 4. Slide 19: Kết luận và hướng tiếp theo</a:t>
            </a:r>
          </a:p>
          <a:p/>
          <a:p>
            <a:r>
              <a:t>[Góc slide: 20. Thời lượng: 15 giây. Mốc: 13:45–14:00.]</a:t>
            </a:r>
          </a:p>
          <a:p/>
          <a:p>
            <a:r>
              <a:t>Qua bốn module, hệ thống có thể đo chất lượng, xác định vùng, xử lý và đánh giá lại. Hướng tiếp theo là mở rộng tập kiểm thử độc lập, cải thiện mask và kiểm soát tác dụng phụ. Nhóm em xin cảm ơn thầy và các bạn, và xin nhận câu hỏi.</a:t>
            </a:r>
          </a:p>
          <a:p/>
          <a:p>
            <a:r>
              <a:t>Nguồn:  README.md; docs/decisions.md; báo cáo mục kết quả và giới hạn.</a:t>
            </a:r>
          </a:p>
          <a:p>
            <a:r>
              <a:t>Snapshot fe454451. Báo cáo bao_cao_AI_Image_Doctor_minh_hoa.docx.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3E996CBA-FCD2-476B-87A2-FCD9A9A5415F}"/>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DADF6024-126B-43AF-BB99-D9616745475F}"/>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9BE7F86A-4499-4B82-BBA7-54444234FE50}"/>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A1E3CE70-5560-47A1-8430-D1BB462F026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8C6530CB-C2E4-4340-B1E2-0630E2F6026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7C6D8955-9859-4253-B7B1-0AEFB02AE0CA}"/>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1C59467E-5D05-4E13-A636-A6A7781DF58E}"/>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7891F85B-A7AD-414F-B1CE-D01F93CE510E}"/>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3B1EFAC-FBD4-46CA-88C1-BE81DECE6E27}"/>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59DD75B0-A900-417D-8C8F-F40C0322BDD5}"/>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194C37C-6E74-4FF9-B264-B14BE717AA8D}"/>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01</a:t>
            </a:r>
          </a:p>
        </p:txBody>
      </p:sp>
      <p:pic>
        <p:nvPicPr>
          <p:cNvPr id="2" name="Picture 1">
            <a:extLst>
              <a:ext uri="{FF2B5EF4-FFF2-40B4-BE49-F238E27FC236}">
                <a16:creationId xmlns:a16="http://schemas.microsoft.com/office/drawing/2014/main" id="{DA26A93C-8663-4564-9258-709E44418F8C}"/>
              </a:ext>
            </a:extLst>
          </p:cNvPr>
          <p:cNvPicPr>
            <a:picLocks noChangeAspect="1"/>
          </p:cNvPicPr>
          <p:nvPr/>
        </p:nvPicPr>
        <p:blipFill>
          <a:blip r:embed="rId3"/>
          <a:stretch/>
        </p:blipFill>
        <p:spPr>
          <a:xfrm>
            <a:off x="10039350" y="720993"/>
            <a:ext cx="1181100" cy="1196439"/>
          </a:xfrm>
          <a:prstGeom prst="rect">
            <a:avLst/>
          </a:prstGeom>
        </p:spPr>
      </p:pic>
      <p:sp>
        <p:nvSpPr>
          <p:cNvPr id="3" name="Rectangle 2">
            <a:extLst>
              <a:ext uri="{FF2B5EF4-FFF2-40B4-BE49-F238E27FC236}">
                <a16:creationId xmlns:a16="http://schemas.microsoft.com/office/drawing/2014/main" id="{906249A9-182B-4D34-B3F0-55D0B0FCC7C0}"/>
              </a:ext>
            </a:extLst>
          </p:cNvPr>
          <p:cNvSpPr>
            <a:spLocks noGrp="1"/>
          </p:cNvSpPr>
          <p:nvPr/>
        </p:nvSpPr>
        <p:spPr>
          <a:xfrm>
            <a:off x="609600" y="619125"/>
            <a:ext cx="8096250" cy="762000"/>
          </a:xfrm>
          <a:prstGeom prst="rect">
            <a:avLst/>
          </a:prstGeom>
          <a:noFill/>
          <a:ln w="0">
            <a:noFill/>
          </a:ln>
        </p:spPr>
        <p:txBody>
          <a:bodyPr wrap="square" lIns="0" tIns="0" rIns="0" bIns="0" anchor="t">
            <a:noAutofit/>
          </a:bodyPr>
          <a:lstStyle>
            <a:defPPr algn="l">
              <a:defRPr sz="1800" b="1">
                <a:solidFill>
                  <a:srgbClr val="192F43"/>
                </a:solidFill>
                <a:latin typeface="Arial"/>
                <a:ea typeface="Arial"/>
                <a:cs typeface="Arial"/>
              </a:defRPr>
            </a:defPPr>
            <a:lvl1pPr algn="l">
              <a:defRPr sz="1800" b="1">
                <a:solidFill>
                  <a:srgbClr val="192F43"/>
                </a:solidFill>
                <a:latin typeface="Arial"/>
                <a:ea typeface="Arial"/>
                <a:cs typeface="Arial"/>
              </a:defRPr>
            </a:lvl1pPr>
            <a:lvl2pPr algn="l">
              <a:defRPr sz="1800" b="1">
                <a:solidFill>
                  <a:srgbClr val="192F43"/>
                </a:solidFill>
                <a:latin typeface="Arial"/>
                <a:ea typeface="Arial"/>
                <a:cs typeface="Arial"/>
              </a:defRPr>
            </a:lvl2pPr>
            <a:lvl3pPr algn="l">
              <a:defRPr sz="1800" b="1">
                <a:solidFill>
                  <a:srgbClr val="192F43"/>
                </a:solidFill>
                <a:latin typeface="Arial"/>
                <a:ea typeface="Arial"/>
                <a:cs typeface="Arial"/>
              </a:defRPr>
            </a:lvl3pPr>
            <a:lvl4pPr algn="l">
              <a:defRPr sz="1800" b="1">
                <a:solidFill>
                  <a:srgbClr val="192F43"/>
                </a:solidFill>
                <a:latin typeface="Arial"/>
                <a:ea typeface="Arial"/>
                <a:cs typeface="Arial"/>
              </a:defRPr>
            </a:lvl4pPr>
            <a:lvl5pPr algn="l">
              <a:defRPr sz="1800" b="1">
                <a:solidFill>
                  <a:srgbClr val="192F43"/>
                </a:solidFill>
                <a:latin typeface="Arial"/>
                <a:ea typeface="Arial"/>
                <a:cs typeface="Arial"/>
              </a:defRPr>
            </a:lvl5pPr>
            <a:lvl6pPr algn="l">
              <a:defRPr sz="1800" b="1">
                <a:solidFill>
                  <a:srgbClr val="192F43"/>
                </a:solidFill>
                <a:latin typeface="Arial"/>
                <a:ea typeface="Arial"/>
                <a:cs typeface="Arial"/>
              </a:defRPr>
            </a:lvl6pPr>
            <a:lvl7pPr algn="l">
              <a:defRPr sz="1800" b="1">
                <a:solidFill>
                  <a:srgbClr val="192F43"/>
                </a:solidFill>
                <a:latin typeface="Arial"/>
                <a:ea typeface="Arial"/>
                <a:cs typeface="Arial"/>
              </a:defRPr>
            </a:lvl7pPr>
            <a:lvl8pPr algn="l">
              <a:defRPr sz="1800" b="1">
                <a:solidFill>
                  <a:srgbClr val="192F43"/>
                </a:solidFill>
                <a:latin typeface="Arial"/>
                <a:ea typeface="Arial"/>
                <a:cs typeface="Arial"/>
              </a:defRPr>
            </a:lvl8pPr>
            <a:lvl9pPr algn="l">
              <a:defRPr sz="1800" b="1">
                <a:solidFill>
                  <a:srgbClr val="192F43"/>
                </a:solidFill>
                <a:latin typeface="Arial"/>
                <a:ea typeface="Arial"/>
                <a:cs typeface="Arial"/>
              </a:defRPr>
            </a:lvl9pPr>
          </a:lstStyle>
          <a:p>
            <a:pPr algn="l">
              <a:lnSpc>
                <a:spcPct val="107000"/>
              </a:lnSpc>
              <a:buNone/>
              <a:defRPr sz="1800" b="1">
                <a:solidFill>
                  <a:srgbClr val="192F43"/>
                </a:solidFill>
                <a:latin typeface="Arial"/>
                <a:ea typeface="Arial"/>
                <a:cs typeface="Arial"/>
              </a:defRPr>
            </a:pPr>
            <a:r>
              <a:rPr sz="1800" b="1">
                <a:solidFill>
                  <a:srgbClr val="192F43"/>
                </a:solidFill>
                <a:latin typeface="Arial"/>
                <a:ea typeface="Arial"/>
                <a:cs typeface="Arial"/>
              </a:rPr>
              <a:t>HỌC VIỆN CÔNG NGHỆ</a:t>
            </a:r>
          </a:p>
          <a:p>
            <a:pPr algn="l">
              <a:lnSpc>
                <a:spcPct val="107000"/>
              </a:lnSpc>
              <a:buNone/>
              <a:defRPr sz="1800" b="1">
                <a:solidFill>
                  <a:srgbClr val="192F43"/>
                </a:solidFill>
                <a:latin typeface="Arial"/>
                <a:ea typeface="Arial"/>
                <a:cs typeface="Arial"/>
              </a:defRPr>
            </a:pPr>
            <a:r>
              <a:rPr sz="1800" b="1">
                <a:solidFill>
                  <a:srgbClr val="192F43"/>
                </a:solidFill>
                <a:latin typeface="Arial"/>
                <a:ea typeface="Arial"/>
                <a:cs typeface="Arial"/>
              </a:rPr>
              <a:t>BƯU CHÍNH VIỄN THÔNG</a:t>
            </a:r>
          </a:p>
        </p:txBody>
      </p:sp>
      <p:sp>
        <p:nvSpPr>
          <p:cNvPr id="4" name="Rectangle 3">
            <a:extLst>
              <a:ext uri="{FF2B5EF4-FFF2-40B4-BE49-F238E27FC236}">
                <a16:creationId xmlns:a16="http://schemas.microsoft.com/office/drawing/2014/main" id="{604FF228-325F-4AAA-A8B9-37076AE01F8D}"/>
              </a:ext>
            </a:extLst>
          </p:cNvPr>
          <p:cNvSpPr>
            <a:spLocks noGrp="1"/>
          </p:cNvSpPr>
          <p:nvPr/>
        </p:nvSpPr>
        <p:spPr>
          <a:xfrm>
            <a:off x="609600" y="2095500"/>
            <a:ext cx="10287000" cy="952500"/>
          </a:xfrm>
          <a:prstGeom prst="rect">
            <a:avLst/>
          </a:prstGeom>
          <a:noFill/>
          <a:ln w="0">
            <a:noFill/>
          </a:ln>
        </p:spPr>
        <p:txBody>
          <a:bodyPr wrap="square" lIns="0" tIns="0" rIns="0" bIns="0" anchor="t">
            <a:noAutofit/>
          </a:bodyPr>
          <a:lstStyle>
            <a:defPPr algn="l">
              <a:defRPr sz="4950" b="1">
                <a:solidFill>
                  <a:srgbClr val="192F43"/>
                </a:solidFill>
                <a:latin typeface="Arial"/>
                <a:ea typeface="Arial"/>
                <a:cs typeface="Arial"/>
              </a:defRPr>
            </a:defPPr>
            <a:lvl1pPr algn="l">
              <a:defRPr sz="4950" b="1">
                <a:solidFill>
                  <a:srgbClr val="192F43"/>
                </a:solidFill>
                <a:latin typeface="Arial"/>
                <a:ea typeface="Arial"/>
                <a:cs typeface="Arial"/>
              </a:defRPr>
            </a:lvl1pPr>
            <a:lvl2pPr algn="l">
              <a:defRPr sz="4950" b="1">
                <a:solidFill>
                  <a:srgbClr val="192F43"/>
                </a:solidFill>
                <a:latin typeface="Arial"/>
                <a:ea typeface="Arial"/>
                <a:cs typeface="Arial"/>
              </a:defRPr>
            </a:lvl2pPr>
            <a:lvl3pPr algn="l">
              <a:defRPr sz="4950" b="1">
                <a:solidFill>
                  <a:srgbClr val="192F43"/>
                </a:solidFill>
                <a:latin typeface="Arial"/>
                <a:ea typeface="Arial"/>
                <a:cs typeface="Arial"/>
              </a:defRPr>
            </a:lvl3pPr>
            <a:lvl4pPr algn="l">
              <a:defRPr sz="4950" b="1">
                <a:solidFill>
                  <a:srgbClr val="192F43"/>
                </a:solidFill>
                <a:latin typeface="Arial"/>
                <a:ea typeface="Arial"/>
                <a:cs typeface="Arial"/>
              </a:defRPr>
            </a:lvl4pPr>
            <a:lvl5pPr algn="l">
              <a:defRPr sz="4950" b="1">
                <a:solidFill>
                  <a:srgbClr val="192F43"/>
                </a:solidFill>
                <a:latin typeface="Arial"/>
                <a:ea typeface="Arial"/>
                <a:cs typeface="Arial"/>
              </a:defRPr>
            </a:lvl5pPr>
            <a:lvl6pPr algn="l">
              <a:defRPr sz="4950" b="1">
                <a:solidFill>
                  <a:srgbClr val="192F43"/>
                </a:solidFill>
                <a:latin typeface="Arial"/>
                <a:ea typeface="Arial"/>
                <a:cs typeface="Arial"/>
              </a:defRPr>
            </a:lvl6pPr>
            <a:lvl7pPr algn="l">
              <a:defRPr sz="4950" b="1">
                <a:solidFill>
                  <a:srgbClr val="192F43"/>
                </a:solidFill>
                <a:latin typeface="Arial"/>
                <a:ea typeface="Arial"/>
                <a:cs typeface="Arial"/>
              </a:defRPr>
            </a:lvl7pPr>
            <a:lvl8pPr algn="l">
              <a:defRPr sz="4950" b="1">
                <a:solidFill>
                  <a:srgbClr val="192F43"/>
                </a:solidFill>
                <a:latin typeface="Arial"/>
                <a:ea typeface="Arial"/>
                <a:cs typeface="Arial"/>
              </a:defRPr>
            </a:lvl8pPr>
            <a:lvl9pPr algn="l">
              <a:defRPr sz="4950" b="1">
                <a:solidFill>
                  <a:srgbClr val="192F43"/>
                </a:solidFill>
                <a:latin typeface="Arial"/>
                <a:ea typeface="Arial"/>
                <a:cs typeface="Arial"/>
              </a:defRPr>
            </a:lvl9pPr>
          </a:lstStyle>
          <a:p>
            <a:pPr algn="l">
              <a:lnSpc>
                <a:spcPct val="107000"/>
              </a:lnSpc>
              <a:buNone/>
              <a:defRPr sz="4950" b="1">
                <a:solidFill>
                  <a:srgbClr val="192F43"/>
                </a:solidFill>
                <a:latin typeface="Arial"/>
                <a:ea typeface="Arial"/>
                <a:cs typeface="Arial"/>
              </a:defRPr>
            </a:pPr>
            <a:r>
              <a:rPr sz="4950" b="1">
                <a:solidFill>
                  <a:srgbClr val="192F43"/>
                </a:solidFill>
                <a:latin typeface="Arial"/>
                <a:ea typeface="Arial"/>
                <a:cs typeface="Arial"/>
              </a:rPr>
              <a:t>AI Image Doctor</a:t>
            </a:r>
          </a:p>
        </p:txBody>
      </p:sp>
      <p:sp>
        <p:nvSpPr>
          <p:cNvPr id="5" name="Rectangle 4">
            <a:extLst>
              <a:ext uri="{FF2B5EF4-FFF2-40B4-BE49-F238E27FC236}">
                <a16:creationId xmlns:a16="http://schemas.microsoft.com/office/drawing/2014/main" id="{1D5E041B-9899-47DA-8E5F-DD7D868634E8}"/>
              </a:ext>
            </a:extLst>
          </p:cNvPr>
          <p:cNvSpPr>
            <a:spLocks noGrp="1"/>
          </p:cNvSpPr>
          <p:nvPr/>
        </p:nvSpPr>
        <p:spPr>
          <a:xfrm>
            <a:off x="609600" y="3257550"/>
            <a:ext cx="10668000" cy="628650"/>
          </a:xfrm>
          <a:prstGeom prst="rect">
            <a:avLst/>
          </a:prstGeom>
          <a:noFill/>
          <a:ln w="0">
            <a:noFill/>
          </a:ln>
        </p:spPr>
        <p:txBody>
          <a:bodyPr wrap="square" lIns="0" tIns="0" rIns="0" bIns="0" anchor="t">
            <a:noAutofit/>
          </a:bodyPr>
          <a:lstStyle>
            <a:defPPr algn="l">
              <a:defRPr sz="3000" b="1">
                <a:solidFill>
                  <a:srgbClr val="267C83"/>
                </a:solidFill>
                <a:latin typeface="Arial"/>
                <a:ea typeface="Arial"/>
                <a:cs typeface="Arial"/>
              </a:defRPr>
            </a:defPPr>
            <a:lvl1pPr algn="l">
              <a:defRPr sz="3000" b="1">
                <a:solidFill>
                  <a:srgbClr val="267C83"/>
                </a:solidFill>
                <a:latin typeface="Arial"/>
                <a:ea typeface="Arial"/>
                <a:cs typeface="Arial"/>
              </a:defRPr>
            </a:lvl1pPr>
            <a:lvl2pPr algn="l">
              <a:defRPr sz="3000" b="1">
                <a:solidFill>
                  <a:srgbClr val="267C83"/>
                </a:solidFill>
                <a:latin typeface="Arial"/>
                <a:ea typeface="Arial"/>
                <a:cs typeface="Arial"/>
              </a:defRPr>
            </a:lvl2pPr>
            <a:lvl3pPr algn="l">
              <a:defRPr sz="3000" b="1">
                <a:solidFill>
                  <a:srgbClr val="267C83"/>
                </a:solidFill>
                <a:latin typeface="Arial"/>
                <a:ea typeface="Arial"/>
                <a:cs typeface="Arial"/>
              </a:defRPr>
            </a:lvl3pPr>
            <a:lvl4pPr algn="l">
              <a:defRPr sz="3000" b="1">
                <a:solidFill>
                  <a:srgbClr val="267C83"/>
                </a:solidFill>
                <a:latin typeface="Arial"/>
                <a:ea typeface="Arial"/>
                <a:cs typeface="Arial"/>
              </a:defRPr>
            </a:lvl4pPr>
            <a:lvl5pPr algn="l">
              <a:defRPr sz="3000" b="1">
                <a:solidFill>
                  <a:srgbClr val="267C83"/>
                </a:solidFill>
                <a:latin typeface="Arial"/>
                <a:ea typeface="Arial"/>
                <a:cs typeface="Arial"/>
              </a:defRPr>
            </a:lvl5pPr>
            <a:lvl6pPr algn="l">
              <a:defRPr sz="3000" b="1">
                <a:solidFill>
                  <a:srgbClr val="267C83"/>
                </a:solidFill>
                <a:latin typeface="Arial"/>
                <a:ea typeface="Arial"/>
                <a:cs typeface="Arial"/>
              </a:defRPr>
            </a:lvl6pPr>
            <a:lvl7pPr algn="l">
              <a:defRPr sz="3000" b="1">
                <a:solidFill>
                  <a:srgbClr val="267C83"/>
                </a:solidFill>
                <a:latin typeface="Arial"/>
                <a:ea typeface="Arial"/>
                <a:cs typeface="Arial"/>
              </a:defRPr>
            </a:lvl7pPr>
            <a:lvl8pPr algn="l">
              <a:defRPr sz="3000" b="1">
                <a:solidFill>
                  <a:srgbClr val="267C83"/>
                </a:solidFill>
                <a:latin typeface="Arial"/>
                <a:ea typeface="Arial"/>
                <a:cs typeface="Arial"/>
              </a:defRPr>
            </a:lvl8pPr>
            <a:lvl9pPr algn="l">
              <a:defRPr sz="3000" b="1">
                <a:solidFill>
                  <a:srgbClr val="267C83"/>
                </a:solidFill>
                <a:latin typeface="Arial"/>
                <a:ea typeface="Arial"/>
                <a:cs typeface="Arial"/>
              </a:defRPr>
            </a:lvl9pPr>
          </a:lstStyle>
          <a:p>
            <a:pPr algn="l">
              <a:lnSpc>
                <a:spcPct val="107000"/>
              </a:lnSpc>
              <a:buNone/>
              <a:defRPr sz="3000" b="1">
                <a:solidFill>
                  <a:srgbClr val="267C83"/>
                </a:solidFill>
                <a:latin typeface="Arial"/>
                <a:ea typeface="Arial"/>
                <a:cs typeface="Arial"/>
              </a:defRPr>
            </a:pPr>
            <a:r>
              <a:rPr sz="3000" b="1">
                <a:solidFill>
                  <a:srgbClr val="267C83"/>
                </a:solidFill>
                <a:latin typeface="Arial"/>
                <a:ea typeface="Arial"/>
                <a:cs typeface="Arial"/>
              </a:rPr>
              <a:t>Cải thiện chất lượng ảnh khép vòng</a:t>
            </a:r>
          </a:p>
        </p:txBody>
      </p:sp>
      <p:sp>
        <p:nvSpPr>
          <p:cNvPr id="6" name="Rectangle 5">
            <a:extLst>
              <a:ext uri="{FF2B5EF4-FFF2-40B4-BE49-F238E27FC236}">
                <a16:creationId xmlns:a16="http://schemas.microsoft.com/office/drawing/2014/main" id="{D0DE1E72-63F8-450F-847C-0E600AA750A3}"/>
              </a:ext>
            </a:extLst>
          </p:cNvPr>
          <p:cNvSpPr>
            <a:spLocks noGrp="1"/>
          </p:cNvSpPr>
          <p:nvPr/>
        </p:nvSpPr>
        <p:spPr>
          <a:xfrm>
            <a:off x="609600" y="4000500"/>
            <a:ext cx="10572750" cy="628650"/>
          </a:xfrm>
          <a:prstGeom prst="rect">
            <a:avLst/>
          </a:prstGeom>
          <a:noFill/>
          <a:ln w="0">
            <a:noFill/>
          </a:ln>
        </p:spPr>
        <p:txBody>
          <a:bodyPr wrap="square" lIns="0" tIns="0" rIns="0" bIns="0" anchor="t">
            <a:noAutofit/>
          </a:bodyPr>
          <a:lstStyle>
            <a:defPPr algn="l">
              <a:defRPr sz="2325" b="0">
                <a:solidFill>
                  <a:srgbClr val="192F43"/>
                </a:solidFill>
                <a:latin typeface="Arial"/>
                <a:ea typeface="Arial"/>
                <a:cs typeface="Arial"/>
              </a:defRPr>
            </a:defPPr>
            <a:lvl1pPr algn="l">
              <a:defRPr sz="2325" b="0">
                <a:solidFill>
                  <a:srgbClr val="192F43"/>
                </a:solidFill>
                <a:latin typeface="Arial"/>
                <a:ea typeface="Arial"/>
                <a:cs typeface="Arial"/>
              </a:defRPr>
            </a:lvl1pPr>
            <a:lvl2pPr algn="l">
              <a:defRPr sz="2325" b="0">
                <a:solidFill>
                  <a:srgbClr val="192F43"/>
                </a:solidFill>
                <a:latin typeface="Arial"/>
                <a:ea typeface="Arial"/>
                <a:cs typeface="Arial"/>
              </a:defRPr>
            </a:lvl2pPr>
            <a:lvl3pPr algn="l">
              <a:defRPr sz="2325" b="0">
                <a:solidFill>
                  <a:srgbClr val="192F43"/>
                </a:solidFill>
                <a:latin typeface="Arial"/>
                <a:ea typeface="Arial"/>
                <a:cs typeface="Arial"/>
              </a:defRPr>
            </a:lvl3pPr>
            <a:lvl4pPr algn="l">
              <a:defRPr sz="2325" b="0">
                <a:solidFill>
                  <a:srgbClr val="192F43"/>
                </a:solidFill>
                <a:latin typeface="Arial"/>
                <a:ea typeface="Arial"/>
                <a:cs typeface="Arial"/>
              </a:defRPr>
            </a:lvl4pPr>
            <a:lvl5pPr algn="l">
              <a:defRPr sz="2325" b="0">
                <a:solidFill>
                  <a:srgbClr val="192F43"/>
                </a:solidFill>
                <a:latin typeface="Arial"/>
                <a:ea typeface="Arial"/>
                <a:cs typeface="Arial"/>
              </a:defRPr>
            </a:lvl5pPr>
            <a:lvl6pPr algn="l">
              <a:defRPr sz="2325" b="0">
                <a:solidFill>
                  <a:srgbClr val="192F43"/>
                </a:solidFill>
                <a:latin typeface="Arial"/>
                <a:ea typeface="Arial"/>
                <a:cs typeface="Arial"/>
              </a:defRPr>
            </a:lvl6pPr>
            <a:lvl7pPr algn="l">
              <a:defRPr sz="2325" b="0">
                <a:solidFill>
                  <a:srgbClr val="192F43"/>
                </a:solidFill>
                <a:latin typeface="Arial"/>
                <a:ea typeface="Arial"/>
                <a:cs typeface="Arial"/>
              </a:defRPr>
            </a:lvl7pPr>
            <a:lvl8pPr algn="l">
              <a:defRPr sz="2325" b="0">
                <a:solidFill>
                  <a:srgbClr val="192F43"/>
                </a:solidFill>
                <a:latin typeface="Arial"/>
                <a:ea typeface="Arial"/>
                <a:cs typeface="Arial"/>
              </a:defRPr>
            </a:lvl8pPr>
            <a:lvl9pPr algn="l">
              <a:defRPr sz="2325" b="0">
                <a:solidFill>
                  <a:srgbClr val="192F43"/>
                </a:solidFill>
                <a:latin typeface="Arial"/>
                <a:ea typeface="Arial"/>
                <a:cs typeface="Arial"/>
              </a:defRPr>
            </a:lvl9pPr>
          </a:lstStyle>
          <a:p>
            <a:pPr algn="l">
              <a:lnSpc>
                <a:spcPct val="107000"/>
              </a:lnSpc>
              <a:buNone/>
              <a:defRPr sz="2325" b="0">
                <a:solidFill>
                  <a:srgbClr val="192F43"/>
                </a:solidFill>
                <a:latin typeface="Arial"/>
                <a:ea typeface="Arial"/>
                <a:cs typeface="Arial"/>
              </a:defRPr>
            </a:pPr>
            <a:r>
              <a:rPr sz="2325" b="0">
                <a:solidFill>
                  <a:srgbClr val="192F43"/>
                </a:solidFill>
                <a:latin typeface="Arial"/>
                <a:ea typeface="Arial"/>
                <a:cs typeface="Arial"/>
              </a:rPr>
              <a:t>VLM suy luận và thuật toán xử lý ảnh cổ điển</a:t>
            </a:r>
          </a:p>
        </p:txBody>
      </p:sp>
      <p:sp>
        <p:nvSpPr>
          <p:cNvPr id="7" name="Rectangle 6">
            <a:extLst>
              <a:ext uri="{FF2B5EF4-FFF2-40B4-BE49-F238E27FC236}">
                <a16:creationId xmlns:a16="http://schemas.microsoft.com/office/drawing/2014/main" id="{18031E46-EE48-43C9-9A8B-DC52BD4C9B58}"/>
              </a:ext>
            </a:extLst>
          </p:cNvPr>
          <p:cNvSpPr>
            <a:spLocks noGrp="1"/>
          </p:cNvSpPr>
          <p:nvPr/>
        </p:nvSpPr>
        <p:spPr>
          <a:xfrm>
            <a:off x="609600" y="5286375"/>
            <a:ext cx="9906000" cy="857250"/>
          </a:xfrm>
          <a:prstGeom prst="rect">
            <a:avLst/>
          </a:prstGeom>
          <a:noFill/>
          <a:ln w="0">
            <a:noFill/>
          </a:ln>
        </p:spPr>
        <p:txBody>
          <a:bodyPr wrap="square" lIns="0" tIns="0" rIns="0" bIns="0" anchor="t">
            <a:noAutofit/>
          </a:bodyPr>
          <a:lstStyle>
            <a:defPPr algn="l">
              <a:defRPr sz="1950" b="0">
                <a:solidFill>
                  <a:srgbClr val="526779"/>
                </a:solidFill>
                <a:latin typeface="Arial"/>
                <a:ea typeface="Arial"/>
                <a:cs typeface="Arial"/>
              </a:defRPr>
            </a:defPPr>
            <a:lvl1pPr algn="l">
              <a:defRPr sz="1950" b="0">
                <a:solidFill>
                  <a:srgbClr val="526779"/>
                </a:solidFill>
                <a:latin typeface="Arial"/>
                <a:ea typeface="Arial"/>
                <a:cs typeface="Arial"/>
              </a:defRPr>
            </a:lvl1pPr>
            <a:lvl2pPr algn="l">
              <a:defRPr sz="1950" b="0">
                <a:solidFill>
                  <a:srgbClr val="526779"/>
                </a:solidFill>
                <a:latin typeface="Arial"/>
                <a:ea typeface="Arial"/>
                <a:cs typeface="Arial"/>
              </a:defRPr>
            </a:lvl2pPr>
            <a:lvl3pPr algn="l">
              <a:defRPr sz="1950" b="0">
                <a:solidFill>
                  <a:srgbClr val="526779"/>
                </a:solidFill>
                <a:latin typeface="Arial"/>
                <a:ea typeface="Arial"/>
                <a:cs typeface="Arial"/>
              </a:defRPr>
            </a:lvl3pPr>
            <a:lvl4pPr algn="l">
              <a:defRPr sz="1950" b="0">
                <a:solidFill>
                  <a:srgbClr val="526779"/>
                </a:solidFill>
                <a:latin typeface="Arial"/>
                <a:ea typeface="Arial"/>
                <a:cs typeface="Arial"/>
              </a:defRPr>
            </a:lvl4pPr>
            <a:lvl5pPr algn="l">
              <a:defRPr sz="1950" b="0">
                <a:solidFill>
                  <a:srgbClr val="526779"/>
                </a:solidFill>
                <a:latin typeface="Arial"/>
                <a:ea typeface="Arial"/>
                <a:cs typeface="Arial"/>
              </a:defRPr>
            </a:lvl5pPr>
            <a:lvl6pPr algn="l">
              <a:defRPr sz="1950" b="0">
                <a:solidFill>
                  <a:srgbClr val="526779"/>
                </a:solidFill>
                <a:latin typeface="Arial"/>
                <a:ea typeface="Arial"/>
                <a:cs typeface="Arial"/>
              </a:defRPr>
            </a:lvl6pPr>
            <a:lvl7pPr algn="l">
              <a:defRPr sz="1950" b="0">
                <a:solidFill>
                  <a:srgbClr val="526779"/>
                </a:solidFill>
                <a:latin typeface="Arial"/>
                <a:ea typeface="Arial"/>
                <a:cs typeface="Arial"/>
              </a:defRPr>
            </a:lvl7pPr>
            <a:lvl8pPr algn="l">
              <a:defRPr sz="1950" b="0">
                <a:solidFill>
                  <a:srgbClr val="526779"/>
                </a:solidFill>
                <a:latin typeface="Arial"/>
                <a:ea typeface="Arial"/>
                <a:cs typeface="Arial"/>
              </a:defRPr>
            </a:lvl8pPr>
            <a:lvl9pPr algn="l">
              <a:defRPr sz="1950" b="0">
                <a:solidFill>
                  <a:srgbClr val="526779"/>
                </a:solidFill>
                <a:latin typeface="Arial"/>
                <a:ea typeface="Arial"/>
                <a:cs typeface="Arial"/>
              </a:defRPr>
            </a:lvl9pPr>
          </a:lstStyle>
          <a:p>
            <a:pPr algn="l">
              <a:lnSpc>
                <a:spcPct val="107000"/>
              </a:lnSpc>
              <a:buNone/>
              <a:defRPr sz="1950" b="0">
                <a:solidFill>
                  <a:srgbClr val="526779"/>
                </a:solidFill>
                <a:latin typeface="Arial"/>
                <a:ea typeface="Arial"/>
                <a:cs typeface="Arial"/>
              </a:defRPr>
            </a:pPr>
            <a:r>
              <a:rPr sz="1950" b="0">
                <a:solidFill>
                  <a:srgbClr val="526779"/>
                </a:solidFill>
                <a:latin typeface="Arial"/>
                <a:ea typeface="Arial"/>
                <a:cs typeface="Arial"/>
              </a:rPr>
              <a:t>Môn học: Xử lý ảnh</a:t>
            </a:r>
          </a:p>
          <a:p>
            <a:pPr algn="l">
              <a:lnSpc>
                <a:spcPct val="107000"/>
              </a:lnSpc>
              <a:buNone/>
              <a:defRPr sz="1950" b="0">
                <a:solidFill>
                  <a:srgbClr val="526779"/>
                </a:solidFill>
                <a:latin typeface="Arial"/>
                <a:ea typeface="Arial"/>
                <a:cs typeface="Arial"/>
              </a:defRPr>
            </a:pPr>
            <a:r>
              <a:rPr sz="1950" b="0">
                <a:solidFill>
                  <a:srgbClr val="526779"/>
                </a:solidFill>
                <a:latin typeface="Arial"/>
                <a:ea typeface="Arial"/>
                <a:cs typeface="Arial"/>
              </a:rPr>
              <a:t>Giảng viên: Đỗ Đức Hào</a:t>
            </a:r>
          </a:p>
        </p:txBody>
      </p:sp>
    </p:spTree>
    <p:extLst>
      <p:ext uri="{BB962C8B-B14F-4D97-AF65-F5344CB8AC3E}">
        <p14:creationId xmlns:p14="http://schemas.microsoft.com/office/powerpoint/2010/main" val="1240859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DC98ECBA-18D6-48DE-81DE-A7D9FF2A9948}"/>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1  PHÂN TÍCH VÀ ĐÁNH GIÁ</a:t>
            </a:r>
          </a:p>
        </p:txBody>
      </p:sp>
      <p:sp>
        <p:nvSpPr>
          <p:cNvPr id="2" name="Rectangle 1">
            <a:extLst>
              <a:ext uri="{FF2B5EF4-FFF2-40B4-BE49-F238E27FC236}">
                <a16:creationId xmlns:a16="http://schemas.microsoft.com/office/drawing/2014/main" id="{35ED2E71-80BA-49F1-B1E7-F561CBE1C52B}"/>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Dữ liệu và chuẩn hóa ảnh đầu vào</a:t>
            </a:r>
          </a:p>
        </p:txBody>
      </p:sp>
      <p:sp>
        <p:nvSpPr>
          <p:cNvPr id="3" name="Rectangle 2">
            <a:extLst>
              <a:ext uri="{FF2B5EF4-FFF2-40B4-BE49-F238E27FC236}">
                <a16:creationId xmlns:a16="http://schemas.microsoft.com/office/drawing/2014/main" id="{826B1CDC-7795-4116-88B1-38FCE82CDD8C}"/>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03</a:t>
            </a:r>
          </a:p>
        </p:txBody>
      </p:sp>
      <p:pic>
        <p:nvPicPr>
          <p:cNvPr id="4" name="Picture 3">
            <a:extLst>
              <a:ext uri="{FF2B5EF4-FFF2-40B4-BE49-F238E27FC236}">
                <a16:creationId xmlns:a16="http://schemas.microsoft.com/office/drawing/2014/main" id="{A9ACBBFD-D697-4CD7-867A-C9D41FB4C405}"/>
              </a:ext>
            </a:extLst>
          </p:cNvPr>
          <p:cNvPicPr>
            <a:picLocks noChangeAspect="1"/>
          </p:cNvPicPr>
          <p:nvPr/>
        </p:nvPicPr>
        <p:blipFill>
          <a:blip r:embed="rId3"/>
          <a:srcRect l="25729" t="1228" r="50729" b="59123"/>
          <a:stretch/>
        </p:blipFill>
        <p:spPr>
          <a:xfrm>
            <a:off x="609600" y="1790700"/>
            <a:ext cx="2457450" cy="2457450"/>
          </a:xfrm>
          <a:prstGeom prst="rect">
            <a:avLst/>
          </a:prstGeom>
        </p:spPr>
      </p:pic>
      <p:sp>
        <p:nvSpPr>
          <p:cNvPr id="5" name="Rectangle 4">
            <a:extLst>
              <a:ext uri="{FF2B5EF4-FFF2-40B4-BE49-F238E27FC236}">
                <a16:creationId xmlns:a16="http://schemas.microsoft.com/office/drawing/2014/main" id="{45010AE1-068B-47B2-9FB2-9B77674FE7B4}"/>
              </a:ext>
            </a:extLst>
          </p:cNvPr>
          <p:cNvSpPr>
            <a:spLocks noGrp="1"/>
          </p:cNvSpPr>
          <p:nvPr/>
        </p:nvSpPr>
        <p:spPr>
          <a:xfrm>
            <a:off x="609600" y="4362450"/>
            <a:ext cx="24574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Gaussian σ = 25</a:t>
            </a:r>
          </a:p>
        </p:txBody>
      </p:sp>
      <p:pic>
        <p:nvPicPr>
          <p:cNvPr id="6" name="Picture 5">
            <a:extLst>
              <a:ext uri="{FF2B5EF4-FFF2-40B4-BE49-F238E27FC236}">
                <a16:creationId xmlns:a16="http://schemas.microsoft.com/office/drawing/2014/main" id="{C03B3983-409B-46FC-8F63-C03132C6457A}"/>
              </a:ext>
            </a:extLst>
          </p:cNvPr>
          <p:cNvPicPr>
            <a:picLocks noChangeAspect="1"/>
          </p:cNvPicPr>
          <p:nvPr/>
        </p:nvPicPr>
        <p:blipFill>
          <a:blip r:embed="rId3"/>
          <a:srcRect l="75729" t="1228" r="729" b="59123"/>
          <a:stretch/>
        </p:blipFill>
        <p:spPr>
          <a:xfrm>
            <a:off x="3467100" y="1790700"/>
            <a:ext cx="2457450" cy="2457450"/>
          </a:xfrm>
          <a:prstGeom prst="rect">
            <a:avLst/>
          </a:prstGeom>
        </p:spPr>
      </p:pic>
      <p:sp>
        <p:nvSpPr>
          <p:cNvPr id="7" name="Rectangle 6">
            <a:extLst>
              <a:ext uri="{FF2B5EF4-FFF2-40B4-BE49-F238E27FC236}">
                <a16:creationId xmlns:a16="http://schemas.microsoft.com/office/drawing/2014/main" id="{2D8D826A-BEB0-451F-85DE-BDB5AAD99472}"/>
              </a:ext>
            </a:extLst>
          </p:cNvPr>
          <p:cNvSpPr>
            <a:spLocks noGrp="1"/>
          </p:cNvSpPr>
          <p:nvPr/>
        </p:nvSpPr>
        <p:spPr>
          <a:xfrm>
            <a:off x="3467100" y="4362450"/>
            <a:ext cx="24574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Mờ chuyển động</a:t>
            </a:r>
          </a:p>
        </p:txBody>
      </p:sp>
      <p:pic>
        <p:nvPicPr>
          <p:cNvPr id="8" name="Picture 7">
            <a:extLst>
              <a:ext uri="{FF2B5EF4-FFF2-40B4-BE49-F238E27FC236}">
                <a16:creationId xmlns:a16="http://schemas.microsoft.com/office/drawing/2014/main" id="{C0F2A563-F1D0-4A5E-8EDE-C9412013477C}"/>
              </a:ext>
            </a:extLst>
          </p:cNvPr>
          <p:cNvPicPr>
            <a:picLocks noChangeAspect="1"/>
          </p:cNvPicPr>
          <p:nvPr/>
        </p:nvPicPr>
        <p:blipFill>
          <a:blip r:embed="rId3"/>
          <a:srcRect l="25729" t="51228" r="50729" b="9123"/>
          <a:stretch/>
        </p:blipFill>
        <p:spPr>
          <a:xfrm>
            <a:off x="6324600" y="1790700"/>
            <a:ext cx="2457450" cy="2457450"/>
          </a:xfrm>
          <a:prstGeom prst="rect">
            <a:avLst/>
          </a:prstGeom>
        </p:spPr>
      </p:pic>
      <p:sp>
        <p:nvSpPr>
          <p:cNvPr id="9" name="Rectangle 8">
            <a:extLst>
              <a:ext uri="{FF2B5EF4-FFF2-40B4-BE49-F238E27FC236}">
                <a16:creationId xmlns:a16="http://schemas.microsoft.com/office/drawing/2014/main" id="{E635D582-2FB6-42EE-8117-4016B966BACB}"/>
              </a:ext>
            </a:extLst>
          </p:cNvPr>
          <p:cNvSpPr>
            <a:spLocks noGrp="1"/>
          </p:cNvSpPr>
          <p:nvPr/>
        </p:nvSpPr>
        <p:spPr>
          <a:xfrm>
            <a:off x="6324600" y="4362450"/>
            <a:ext cx="24574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Thiếu sáng</a:t>
            </a:r>
          </a:p>
        </p:txBody>
      </p:sp>
      <p:pic>
        <p:nvPicPr>
          <p:cNvPr id="10" name="Picture 9">
            <a:extLst>
              <a:ext uri="{FF2B5EF4-FFF2-40B4-BE49-F238E27FC236}">
                <a16:creationId xmlns:a16="http://schemas.microsoft.com/office/drawing/2014/main" id="{6A105FAC-751D-43B1-BE55-12C672A0F6AE}"/>
              </a:ext>
            </a:extLst>
          </p:cNvPr>
          <p:cNvPicPr>
            <a:picLocks noChangeAspect="1"/>
          </p:cNvPicPr>
          <p:nvPr/>
        </p:nvPicPr>
        <p:blipFill>
          <a:blip r:embed="rId3"/>
          <a:srcRect l="75729" t="51228" r="729" b="9123"/>
          <a:stretch/>
        </p:blipFill>
        <p:spPr>
          <a:xfrm>
            <a:off x="9182100" y="1790700"/>
            <a:ext cx="2381250" cy="2381250"/>
          </a:xfrm>
          <a:prstGeom prst="rect">
            <a:avLst/>
          </a:prstGeom>
        </p:spPr>
      </p:pic>
      <p:sp>
        <p:nvSpPr>
          <p:cNvPr id="11" name="Rectangle 10">
            <a:extLst>
              <a:ext uri="{FF2B5EF4-FFF2-40B4-BE49-F238E27FC236}">
                <a16:creationId xmlns:a16="http://schemas.microsoft.com/office/drawing/2014/main" id="{F2FF6724-FA34-4B70-B897-5780872F91E6}"/>
              </a:ext>
            </a:extLst>
          </p:cNvPr>
          <p:cNvSpPr>
            <a:spLocks noGrp="1"/>
          </p:cNvSpPr>
          <p:nvPr/>
        </p:nvSpPr>
        <p:spPr>
          <a:xfrm>
            <a:off x="9182100" y="4286250"/>
            <a:ext cx="23812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Tương phản thấp</a:t>
            </a:r>
          </a:p>
        </p:txBody>
      </p:sp>
      <p:sp>
        <p:nvSpPr>
          <p:cNvPr id="12" name="Rectangle 11">
            <a:extLst>
              <a:ext uri="{FF2B5EF4-FFF2-40B4-BE49-F238E27FC236}">
                <a16:creationId xmlns:a16="http://schemas.microsoft.com/office/drawing/2014/main" id="{0F3AA73F-DA50-483B-8F99-9CCF068C1976}"/>
              </a:ext>
            </a:extLst>
          </p:cNvPr>
          <p:cNvSpPr>
            <a:spLocks noGrp="1"/>
          </p:cNvSpPr>
          <p:nvPr/>
        </p:nvSpPr>
        <p:spPr>
          <a:xfrm>
            <a:off x="609600" y="5095875"/>
            <a:ext cx="10953750" cy="466725"/>
          </a:xfrm>
          <a:prstGeom prst="rect">
            <a:avLst/>
          </a:prstGeom>
          <a:noFill/>
          <a:ln w="0">
            <a:noFill/>
          </a:ln>
        </p:spPr>
        <p:txBody>
          <a:bodyPr wrap="square" lIns="0" tIns="0" rIns="0" bIns="0" anchor="t">
            <a:noAutofit/>
          </a:bodyPr>
          <a:lstStyle>
            <a:defPPr algn="l">
              <a:defRPr sz="2400" b="1">
                <a:solidFill>
                  <a:srgbClr val="267C83"/>
                </a:solidFill>
                <a:latin typeface="Arial"/>
                <a:ea typeface="Arial"/>
                <a:cs typeface="Arial"/>
              </a:defRPr>
            </a:defPPr>
            <a:lvl1pPr algn="l">
              <a:defRPr sz="2400" b="1">
                <a:solidFill>
                  <a:srgbClr val="267C83"/>
                </a:solidFill>
                <a:latin typeface="Arial"/>
                <a:ea typeface="Arial"/>
                <a:cs typeface="Arial"/>
              </a:defRPr>
            </a:lvl1pPr>
            <a:lvl2pPr algn="l">
              <a:defRPr sz="2400" b="1">
                <a:solidFill>
                  <a:srgbClr val="267C83"/>
                </a:solidFill>
                <a:latin typeface="Arial"/>
                <a:ea typeface="Arial"/>
                <a:cs typeface="Arial"/>
              </a:defRPr>
            </a:lvl2pPr>
            <a:lvl3pPr algn="l">
              <a:defRPr sz="2400" b="1">
                <a:solidFill>
                  <a:srgbClr val="267C83"/>
                </a:solidFill>
                <a:latin typeface="Arial"/>
                <a:ea typeface="Arial"/>
                <a:cs typeface="Arial"/>
              </a:defRPr>
            </a:lvl3pPr>
            <a:lvl4pPr algn="l">
              <a:defRPr sz="2400" b="1">
                <a:solidFill>
                  <a:srgbClr val="267C83"/>
                </a:solidFill>
                <a:latin typeface="Arial"/>
                <a:ea typeface="Arial"/>
                <a:cs typeface="Arial"/>
              </a:defRPr>
            </a:lvl4pPr>
            <a:lvl5pPr algn="l">
              <a:defRPr sz="2400" b="1">
                <a:solidFill>
                  <a:srgbClr val="267C83"/>
                </a:solidFill>
                <a:latin typeface="Arial"/>
                <a:ea typeface="Arial"/>
                <a:cs typeface="Arial"/>
              </a:defRPr>
            </a:lvl5pPr>
            <a:lvl6pPr algn="l">
              <a:defRPr sz="2400" b="1">
                <a:solidFill>
                  <a:srgbClr val="267C83"/>
                </a:solidFill>
                <a:latin typeface="Arial"/>
                <a:ea typeface="Arial"/>
                <a:cs typeface="Arial"/>
              </a:defRPr>
            </a:lvl6pPr>
            <a:lvl7pPr algn="l">
              <a:defRPr sz="2400" b="1">
                <a:solidFill>
                  <a:srgbClr val="267C83"/>
                </a:solidFill>
                <a:latin typeface="Arial"/>
                <a:ea typeface="Arial"/>
                <a:cs typeface="Arial"/>
              </a:defRPr>
            </a:lvl7pPr>
            <a:lvl8pPr algn="l">
              <a:defRPr sz="2400" b="1">
                <a:solidFill>
                  <a:srgbClr val="267C83"/>
                </a:solidFill>
                <a:latin typeface="Arial"/>
                <a:ea typeface="Arial"/>
                <a:cs typeface="Arial"/>
              </a:defRPr>
            </a:lvl8pPr>
            <a:lvl9pPr algn="l">
              <a:defRPr sz="2400" b="1">
                <a:solidFill>
                  <a:srgbClr val="267C83"/>
                </a:solidFill>
                <a:latin typeface="Arial"/>
                <a:ea typeface="Arial"/>
                <a:cs typeface="Arial"/>
              </a:defRPr>
            </a:lvl9pPr>
          </a:lstStyle>
          <a:p>
            <a:pPr algn="l">
              <a:lnSpc>
                <a:spcPct val="107000"/>
              </a:lnSpc>
              <a:buNone/>
              <a:defRPr sz="2400" b="1">
                <a:solidFill>
                  <a:srgbClr val="267C83"/>
                </a:solidFill>
                <a:latin typeface="Arial"/>
                <a:ea typeface="Arial"/>
                <a:cs typeface="Arial"/>
              </a:defRPr>
            </a:pPr>
            <a:r>
              <a:rPr sz="2400" b="1">
                <a:solidFill>
                  <a:srgbClr val="267C83"/>
                </a:solidFill>
                <a:latin typeface="Arial"/>
                <a:ea typeface="Arial"/>
                <a:cs typeface="Arial"/>
              </a:rPr>
              <a:t>Ảnh sạch tạo lỗi để có mốc tham chiếu</a:t>
            </a:r>
          </a:p>
        </p:txBody>
      </p:sp>
      <p:sp>
        <p:nvSpPr>
          <p:cNvPr id="13" name="Rectangle 12">
            <a:extLst>
              <a:ext uri="{FF2B5EF4-FFF2-40B4-BE49-F238E27FC236}">
                <a16:creationId xmlns:a16="http://schemas.microsoft.com/office/drawing/2014/main" id="{83A55343-3E96-474D-89B9-5A30E5281335}"/>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Upload web kiểm tra file, xoay theo EXIF, chuyển RGB uint8 (H, W, 3). Generator chính có 7 suy giảm.</a:t>
            </a:r>
          </a:p>
        </p:txBody>
      </p:sp>
    </p:spTree>
    <p:extLst>
      <p:ext uri="{BB962C8B-B14F-4D97-AF65-F5344CB8AC3E}">
        <p14:creationId xmlns:p14="http://schemas.microsoft.com/office/powerpoint/2010/main" val="2601309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cxnSp>
        <p:nvCxnSpPr>
          <p:cNvPr id="8" name="Straight Arrow Connector 7">
            <a:extLst>
              <a:ext uri="{FF2B5EF4-FFF2-40B4-BE49-F238E27FC236}">
                <a16:creationId xmlns:a16="http://schemas.microsoft.com/office/drawing/2014/main" id="{4C5F2C3F-04ED-48CB-BE04-872F203BA91B}"/>
              </a:ext>
            </a:extLst>
          </p:cNvPr>
          <p:cNvCxnSpPr>
            <a:stCxn id="5" idx="3"/>
            <a:endCxn id="6" idx="1"/>
          </p:cNvCxnSpPr>
          <p:nvPr/>
        </p:nvCxnSpPr>
        <p:spPr>
          <a:xfrm>
            <a:off x="7620000" y="2286000"/>
            <a:ext cx="914400" cy="0"/>
          </a:xfrm>
          <a:prstGeom prst="straightConnector1">
            <a:avLst/>
          </a:prstGeom>
          <a:ln w="19050">
            <a:solidFill>
              <a:srgbClr val="617E8F"/>
            </a:solidFill>
            <a:tailEnd type="triangle" w="med" len="med"/>
          </a:ln>
        </p:spPr>
      </p:cxnSp>
      <p:cxnSp>
        <p:nvCxnSpPr>
          <p:cNvPr id="7" name="Straight Arrow Connector 6">
            <a:extLst>
              <a:ext uri="{FF2B5EF4-FFF2-40B4-BE49-F238E27FC236}">
                <a16:creationId xmlns:a16="http://schemas.microsoft.com/office/drawing/2014/main" id="{D6F80316-566D-466F-B5BE-11EDC55AE41A}"/>
              </a:ext>
            </a:extLst>
          </p:cNvPr>
          <p:cNvCxnSpPr>
            <a:stCxn id="4" idx="3"/>
            <a:endCxn id="5" idx="1"/>
          </p:cNvCxnSpPr>
          <p:nvPr/>
        </p:nvCxnSpPr>
        <p:spPr>
          <a:xfrm>
            <a:off x="3657600" y="2286000"/>
            <a:ext cx="914400" cy="0"/>
          </a:xfrm>
          <a:prstGeom prst="straightConnector1">
            <a:avLst/>
          </a:prstGeom>
          <a:ln w="19050">
            <a:solidFill>
              <a:srgbClr val="617E8F"/>
            </a:solidFill>
            <a:tailEnd type="triangle" w="med" len="med"/>
          </a:ln>
        </p:spPr>
      </p:cxnSp>
      <p:sp>
        <p:nvSpPr>
          <p:cNvPr id="18" name="Rectangle 17">
            <a:extLst>
              <a:ext uri="{FF2B5EF4-FFF2-40B4-BE49-F238E27FC236}">
                <a16:creationId xmlns:a16="http://schemas.microsoft.com/office/drawing/2014/main" id="{E381ABD1-FA0D-42A1-A297-3C289105C0AF}"/>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1  PHÂN TÍCH VÀ ĐÁNH GIÁ</a:t>
            </a:r>
          </a:p>
        </p:txBody>
      </p:sp>
      <p:sp>
        <p:nvSpPr>
          <p:cNvPr id="2" name="Rectangle 1">
            <a:extLst>
              <a:ext uri="{FF2B5EF4-FFF2-40B4-BE49-F238E27FC236}">
                <a16:creationId xmlns:a16="http://schemas.microsoft.com/office/drawing/2014/main" id="{7881EF80-1F09-4CAD-837B-CC7F357A078C}"/>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Phân tích chất lượng bằng số đo</a:t>
            </a:r>
          </a:p>
        </p:txBody>
      </p:sp>
      <p:sp>
        <p:nvSpPr>
          <p:cNvPr id="3" name="Rectangle 2">
            <a:extLst>
              <a:ext uri="{FF2B5EF4-FFF2-40B4-BE49-F238E27FC236}">
                <a16:creationId xmlns:a16="http://schemas.microsoft.com/office/drawing/2014/main" id="{CE62204A-BFC7-41EB-B16B-C4BB93584BB0}"/>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04</a:t>
            </a:r>
          </a:p>
        </p:txBody>
      </p:sp>
      <p:sp>
        <p:nvSpPr>
          <p:cNvPr id="4" name="Rectangle 3">
            <a:extLst>
              <a:ext uri="{FF2B5EF4-FFF2-40B4-BE49-F238E27FC236}">
                <a16:creationId xmlns:a16="http://schemas.microsoft.com/office/drawing/2014/main" id="{026647B3-2E3E-4A82-84BD-2169DA25B167}"/>
              </a:ext>
            </a:extLst>
          </p:cNvPr>
          <p:cNvSpPr>
            <a:spLocks noGrp="1"/>
          </p:cNvSpPr>
          <p:nvPr/>
        </p:nvSpPr>
        <p:spPr>
          <a:xfrm>
            <a:off x="609600" y="1676400"/>
            <a:ext cx="3048000" cy="1219200"/>
          </a:xfrm>
          <a:prstGeom prst="rect">
            <a:avLst/>
          </a:prstGeom>
          <a:solidFill>
            <a:srgbClr val="EBEFF2"/>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Ảnh hiện tại</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RGB uint8</a:t>
            </a:r>
          </a:p>
        </p:txBody>
      </p:sp>
      <p:sp>
        <p:nvSpPr>
          <p:cNvPr id="5" name="Rectangle 4">
            <a:extLst>
              <a:ext uri="{FF2B5EF4-FFF2-40B4-BE49-F238E27FC236}">
                <a16:creationId xmlns:a16="http://schemas.microsoft.com/office/drawing/2014/main" id="{930021E2-D059-4269-898D-E184DE869C63}"/>
              </a:ext>
            </a:extLst>
          </p:cNvPr>
          <p:cNvSpPr>
            <a:spLocks noGrp="1"/>
          </p:cNvSpPr>
          <p:nvPr/>
        </p:nvSpPr>
        <p:spPr>
          <a:xfrm>
            <a:off x="4572000" y="1676400"/>
            <a:ext cx="3048000" cy="12192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Measurement</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Đo ảnh và tile 64 px</a:t>
            </a:r>
          </a:p>
        </p:txBody>
      </p:sp>
      <p:sp>
        <p:nvSpPr>
          <p:cNvPr id="6" name="Rectangle 5">
            <a:extLst>
              <a:ext uri="{FF2B5EF4-FFF2-40B4-BE49-F238E27FC236}">
                <a16:creationId xmlns:a16="http://schemas.microsoft.com/office/drawing/2014/main" id="{8DDEF9FC-F0A4-4710-A136-694ADDB11968}"/>
              </a:ext>
            </a:extLst>
          </p:cNvPr>
          <p:cNvSpPr>
            <a:spLocks noGrp="1"/>
          </p:cNvSpPr>
          <p:nvPr/>
        </p:nvSpPr>
        <p:spPr>
          <a:xfrm>
            <a:off x="8534400" y="1676400"/>
            <a:ext cx="3048000" cy="1219200"/>
          </a:xfrm>
          <a:prstGeom prst="rect">
            <a:avLst/>
          </a:prstGeom>
          <a:solidFill>
            <a:srgbClr val="E3F1F0"/>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Calibration</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Mức lỗi 0–3</a:t>
            </a:r>
          </a:p>
        </p:txBody>
      </p:sp>
      <p:sp>
        <p:nvSpPr>
          <p:cNvPr id="9" name="Rectangle 8">
            <a:extLst>
              <a:ext uri="{FF2B5EF4-FFF2-40B4-BE49-F238E27FC236}">
                <a16:creationId xmlns:a16="http://schemas.microsoft.com/office/drawing/2014/main" id="{3F5FB8F5-AA7C-46EC-9CE9-12D6922CCA9E}"/>
              </a:ext>
            </a:extLst>
          </p:cNvPr>
          <p:cNvSpPr>
            <a:spLocks noGrp="1"/>
          </p:cNvSpPr>
          <p:nvPr/>
        </p:nvSpPr>
        <p:spPr>
          <a:xfrm>
            <a:off x="609600" y="3476625"/>
            <a:ext cx="5238750" cy="400050"/>
          </a:xfrm>
          <a:prstGeom prst="rect">
            <a:avLst/>
          </a:prstGeom>
          <a:noFill/>
          <a:ln w="0">
            <a:noFill/>
          </a:ln>
        </p:spPr>
        <p:txBody>
          <a:bodyPr wrap="square" lIns="0" tIns="0" rIns="0" bIns="0" anchor="t">
            <a:noAutofit/>
          </a:bodyPr>
          <a:lstStyle>
            <a:defPPr algn="l">
              <a:defRPr sz="2175" b="1">
                <a:solidFill>
                  <a:srgbClr val="192F43"/>
                </a:solidFill>
                <a:latin typeface="Arial"/>
                <a:ea typeface="Arial"/>
                <a:cs typeface="Arial"/>
              </a:defRPr>
            </a:defPPr>
            <a:lvl1pPr algn="l">
              <a:defRPr sz="2175" b="1">
                <a:solidFill>
                  <a:srgbClr val="192F43"/>
                </a:solidFill>
                <a:latin typeface="Arial"/>
                <a:ea typeface="Arial"/>
                <a:cs typeface="Arial"/>
              </a:defRPr>
            </a:lvl1pPr>
            <a:lvl2pPr algn="l">
              <a:defRPr sz="2175" b="1">
                <a:solidFill>
                  <a:srgbClr val="192F43"/>
                </a:solidFill>
                <a:latin typeface="Arial"/>
                <a:ea typeface="Arial"/>
                <a:cs typeface="Arial"/>
              </a:defRPr>
            </a:lvl2pPr>
            <a:lvl3pPr algn="l">
              <a:defRPr sz="2175" b="1">
                <a:solidFill>
                  <a:srgbClr val="192F43"/>
                </a:solidFill>
                <a:latin typeface="Arial"/>
                <a:ea typeface="Arial"/>
                <a:cs typeface="Arial"/>
              </a:defRPr>
            </a:lvl3pPr>
            <a:lvl4pPr algn="l">
              <a:defRPr sz="2175" b="1">
                <a:solidFill>
                  <a:srgbClr val="192F43"/>
                </a:solidFill>
                <a:latin typeface="Arial"/>
                <a:ea typeface="Arial"/>
                <a:cs typeface="Arial"/>
              </a:defRPr>
            </a:lvl4pPr>
            <a:lvl5pPr algn="l">
              <a:defRPr sz="2175" b="1">
                <a:solidFill>
                  <a:srgbClr val="192F43"/>
                </a:solidFill>
                <a:latin typeface="Arial"/>
                <a:ea typeface="Arial"/>
                <a:cs typeface="Arial"/>
              </a:defRPr>
            </a:lvl5pPr>
            <a:lvl6pPr algn="l">
              <a:defRPr sz="2175" b="1">
                <a:solidFill>
                  <a:srgbClr val="192F43"/>
                </a:solidFill>
                <a:latin typeface="Arial"/>
                <a:ea typeface="Arial"/>
                <a:cs typeface="Arial"/>
              </a:defRPr>
            </a:lvl6pPr>
            <a:lvl7pPr algn="l">
              <a:defRPr sz="2175" b="1">
                <a:solidFill>
                  <a:srgbClr val="192F43"/>
                </a:solidFill>
                <a:latin typeface="Arial"/>
                <a:ea typeface="Arial"/>
                <a:cs typeface="Arial"/>
              </a:defRPr>
            </a:lvl7pPr>
            <a:lvl8pPr algn="l">
              <a:defRPr sz="2175" b="1">
                <a:solidFill>
                  <a:srgbClr val="192F43"/>
                </a:solidFill>
                <a:latin typeface="Arial"/>
                <a:ea typeface="Arial"/>
                <a:cs typeface="Arial"/>
              </a:defRPr>
            </a:lvl8pPr>
            <a:lvl9pPr algn="l">
              <a:defRPr sz="2175" b="1">
                <a:solidFill>
                  <a:srgbClr val="192F43"/>
                </a:solidFill>
                <a:latin typeface="Arial"/>
                <a:ea typeface="Arial"/>
                <a:cs typeface="Arial"/>
              </a:defRPr>
            </a:lvl9pPr>
          </a:lstStyle>
          <a:p>
            <a:pPr algn="l">
              <a:lnSpc>
                <a:spcPct val="107000"/>
              </a:lnSpc>
              <a:buNone/>
              <a:defRPr sz="2175" b="1">
                <a:solidFill>
                  <a:srgbClr val="192F43"/>
                </a:solidFill>
                <a:latin typeface="Arial"/>
                <a:ea typeface="Arial"/>
                <a:cs typeface="Arial"/>
              </a:defRPr>
            </a:pPr>
            <a:r>
              <a:rPr sz="2175" b="1">
                <a:solidFill>
                  <a:srgbClr val="192F43"/>
                </a:solidFill>
                <a:latin typeface="Arial"/>
                <a:ea typeface="Arial"/>
                <a:cs typeface="Arial"/>
              </a:rPr>
              <a:t>Độ sáng và clipping</a:t>
            </a:r>
          </a:p>
        </p:txBody>
      </p:sp>
      <p:sp>
        <p:nvSpPr>
          <p:cNvPr id="10" name="Rectangle 9">
            <a:extLst>
              <a:ext uri="{FF2B5EF4-FFF2-40B4-BE49-F238E27FC236}">
                <a16:creationId xmlns:a16="http://schemas.microsoft.com/office/drawing/2014/main" id="{FD087C82-6E1A-44DA-A5A6-B92BD943981F}"/>
              </a:ext>
            </a:extLst>
          </p:cNvPr>
          <p:cNvSpPr>
            <a:spLocks noGrp="1"/>
          </p:cNvSpPr>
          <p:nvPr/>
        </p:nvSpPr>
        <p:spPr>
          <a:xfrm>
            <a:off x="609600" y="3914775"/>
            <a:ext cx="5238750" cy="952500"/>
          </a:xfrm>
          <a:prstGeom prst="rect">
            <a:avLst/>
          </a:prstGeom>
          <a:noFill/>
          <a:ln w="0">
            <a:noFill/>
          </a:ln>
        </p:spPr>
        <p:txBody>
          <a:bodyPr wrap="square" lIns="0" tIns="0" rIns="0" bIns="0" anchor="t">
            <a:noAutofit/>
          </a:bodyPr>
          <a:lstStyle>
            <a:defPPr algn="l">
              <a:defRPr sz="2025" b="0">
                <a:solidFill>
                  <a:srgbClr val="526779"/>
                </a:solidFill>
                <a:latin typeface="Arial"/>
                <a:ea typeface="Arial"/>
                <a:cs typeface="Arial"/>
              </a:defRPr>
            </a:defPPr>
            <a:lvl1pPr algn="l">
              <a:defRPr sz="2025" b="0">
                <a:solidFill>
                  <a:srgbClr val="526779"/>
                </a:solidFill>
                <a:latin typeface="Arial"/>
                <a:ea typeface="Arial"/>
                <a:cs typeface="Arial"/>
              </a:defRPr>
            </a:lvl1pPr>
            <a:lvl2pPr algn="l">
              <a:defRPr sz="2025" b="0">
                <a:solidFill>
                  <a:srgbClr val="526779"/>
                </a:solidFill>
                <a:latin typeface="Arial"/>
                <a:ea typeface="Arial"/>
                <a:cs typeface="Arial"/>
              </a:defRPr>
            </a:lvl2pPr>
            <a:lvl3pPr algn="l">
              <a:defRPr sz="2025" b="0">
                <a:solidFill>
                  <a:srgbClr val="526779"/>
                </a:solidFill>
                <a:latin typeface="Arial"/>
                <a:ea typeface="Arial"/>
                <a:cs typeface="Arial"/>
              </a:defRPr>
            </a:lvl3pPr>
            <a:lvl4pPr algn="l">
              <a:defRPr sz="2025" b="0">
                <a:solidFill>
                  <a:srgbClr val="526779"/>
                </a:solidFill>
                <a:latin typeface="Arial"/>
                <a:ea typeface="Arial"/>
                <a:cs typeface="Arial"/>
              </a:defRPr>
            </a:lvl4pPr>
            <a:lvl5pPr algn="l">
              <a:defRPr sz="2025" b="0">
                <a:solidFill>
                  <a:srgbClr val="526779"/>
                </a:solidFill>
                <a:latin typeface="Arial"/>
                <a:ea typeface="Arial"/>
                <a:cs typeface="Arial"/>
              </a:defRPr>
            </a:lvl5pPr>
            <a:lvl6pPr algn="l">
              <a:defRPr sz="2025" b="0">
                <a:solidFill>
                  <a:srgbClr val="526779"/>
                </a:solidFill>
                <a:latin typeface="Arial"/>
                <a:ea typeface="Arial"/>
                <a:cs typeface="Arial"/>
              </a:defRPr>
            </a:lvl6pPr>
            <a:lvl7pPr algn="l">
              <a:defRPr sz="2025" b="0">
                <a:solidFill>
                  <a:srgbClr val="526779"/>
                </a:solidFill>
                <a:latin typeface="Arial"/>
                <a:ea typeface="Arial"/>
                <a:cs typeface="Arial"/>
              </a:defRPr>
            </a:lvl7pPr>
            <a:lvl8pPr algn="l">
              <a:defRPr sz="2025" b="0">
                <a:solidFill>
                  <a:srgbClr val="526779"/>
                </a:solidFill>
                <a:latin typeface="Arial"/>
                <a:ea typeface="Arial"/>
                <a:cs typeface="Arial"/>
              </a:defRPr>
            </a:lvl8pPr>
            <a:lvl9pPr algn="l">
              <a:defRPr sz="2025" b="0">
                <a:solidFill>
                  <a:srgbClr val="526779"/>
                </a:solidFill>
                <a:latin typeface="Arial"/>
                <a:ea typeface="Arial"/>
                <a:cs typeface="Arial"/>
              </a:defRPr>
            </a:lvl9pPr>
          </a:lstStyle>
          <a:p>
            <a:pPr algn="l">
              <a:lnSpc>
                <a:spcPct val="107000"/>
              </a:lnSpc>
              <a:buNone/>
              <a:defRPr sz="2025" b="0">
                <a:solidFill>
                  <a:srgbClr val="526779"/>
                </a:solidFill>
                <a:latin typeface="Arial"/>
                <a:ea typeface="Arial"/>
                <a:cs typeface="Arial"/>
              </a:defRPr>
            </a:pPr>
            <a:r>
              <a:rPr sz="2025" b="0">
                <a:solidFill>
                  <a:srgbClr val="526779"/>
                </a:solidFill>
                <a:latin typeface="Arial"/>
                <a:ea typeface="Arial"/>
                <a:cs typeface="Arial"/>
              </a:rPr>
              <a:t>L* và tỷ lệ điểm bị cắt sáng / tối</a:t>
            </a:r>
          </a:p>
        </p:txBody>
      </p:sp>
      <p:sp>
        <p:nvSpPr>
          <p:cNvPr id="11" name="Rectangle 10">
            <a:extLst>
              <a:ext uri="{FF2B5EF4-FFF2-40B4-BE49-F238E27FC236}">
                <a16:creationId xmlns:a16="http://schemas.microsoft.com/office/drawing/2014/main" id="{462E144B-5EEF-4A14-84E6-D737C137CF66}"/>
              </a:ext>
            </a:extLst>
          </p:cNvPr>
          <p:cNvSpPr>
            <a:spLocks noGrp="1"/>
          </p:cNvSpPr>
          <p:nvPr/>
        </p:nvSpPr>
        <p:spPr>
          <a:xfrm>
            <a:off x="6343650" y="3476625"/>
            <a:ext cx="5238750" cy="400050"/>
          </a:xfrm>
          <a:prstGeom prst="rect">
            <a:avLst/>
          </a:prstGeom>
          <a:noFill/>
          <a:ln w="0">
            <a:noFill/>
          </a:ln>
        </p:spPr>
        <p:txBody>
          <a:bodyPr wrap="square" lIns="0" tIns="0" rIns="0" bIns="0" anchor="t">
            <a:noAutofit/>
          </a:bodyPr>
          <a:lstStyle>
            <a:defPPr algn="l">
              <a:defRPr sz="2175" b="1">
                <a:solidFill>
                  <a:srgbClr val="192F43"/>
                </a:solidFill>
                <a:latin typeface="Arial"/>
                <a:ea typeface="Arial"/>
                <a:cs typeface="Arial"/>
              </a:defRPr>
            </a:defPPr>
            <a:lvl1pPr algn="l">
              <a:defRPr sz="2175" b="1">
                <a:solidFill>
                  <a:srgbClr val="192F43"/>
                </a:solidFill>
                <a:latin typeface="Arial"/>
                <a:ea typeface="Arial"/>
                <a:cs typeface="Arial"/>
              </a:defRPr>
            </a:lvl1pPr>
            <a:lvl2pPr algn="l">
              <a:defRPr sz="2175" b="1">
                <a:solidFill>
                  <a:srgbClr val="192F43"/>
                </a:solidFill>
                <a:latin typeface="Arial"/>
                <a:ea typeface="Arial"/>
                <a:cs typeface="Arial"/>
              </a:defRPr>
            </a:lvl2pPr>
            <a:lvl3pPr algn="l">
              <a:defRPr sz="2175" b="1">
                <a:solidFill>
                  <a:srgbClr val="192F43"/>
                </a:solidFill>
                <a:latin typeface="Arial"/>
                <a:ea typeface="Arial"/>
                <a:cs typeface="Arial"/>
              </a:defRPr>
            </a:lvl3pPr>
            <a:lvl4pPr algn="l">
              <a:defRPr sz="2175" b="1">
                <a:solidFill>
                  <a:srgbClr val="192F43"/>
                </a:solidFill>
                <a:latin typeface="Arial"/>
                <a:ea typeface="Arial"/>
                <a:cs typeface="Arial"/>
              </a:defRPr>
            </a:lvl4pPr>
            <a:lvl5pPr algn="l">
              <a:defRPr sz="2175" b="1">
                <a:solidFill>
                  <a:srgbClr val="192F43"/>
                </a:solidFill>
                <a:latin typeface="Arial"/>
                <a:ea typeface="Arial"/>
                <a:cs typeface="Arial"/>
              </a:defRPr>
            </a:lvl5pPr>
            <a:lvl6pPr algn="l">
              <a:defRPr sz="2175" b="1">
                <a:solidFill>
                  <a:srgbClr val="192F43"/>
                </a:solidFill>
                <a:latin typeface="Arial"/>
                <a:ea typeface="Arial"/>
                <a:cs typeface="Arial"/>
              </a:defRPr>
            </a:lvl6pPr>
            <a:lvl7pPr algn="l">
              <a:defRPr sz="2175" b="1">
                <a:solidFill>
                  <a:srgbClr val="192F43"/>
                </a:solidFill>
                <a:latin typeface="Arial"/>
                <a:ea typeface="Arial"/>
                <a:cs typeface="Arial"/>
              </a:defRPr>
            </a:lvl7pPr>
            <a:lvl8pPr algn="l">
              <a:defRPr sz="2175" b="1">
                <a:solidFill>
                  <a:srgbClr val="192F43"/>
                </a:solidFill>
                <a:latin typeface="Arial"/>
                <a:ea typeface="Arial"/>
                <a:cs typeface="Arial"/>
              </a:defRPr>
            </a:lvl8pPr>
            <a:lvl9pPr algn="l">
              <a:defRPr sz="2175" b="1">
                <a:solidFill>
                  <a:srgbClr val="192F43"/>
                </a:solidFill>
                <a:latin typeface="Arial"/>
                <a:ea typeface="Arial"/>
                <a:cs typeface="Arial"/>
              </a:defRPr>
            </a:lvl9pPr>
          </a:lstStyle>
          <a:p>
            <a:pPr algn="l">
              <a:lnSpc>
                <a:spcPct val="107000"/>
              </a:lnSpc>
              <a:buNone/>
              <a:defRPr sz="2175" b="1">
                <a:solidFill>
                  <a:srgbClr val="192F43"/>
                </a:solidFill>
                <a:latin typeface="Arial"/>
                <a:ea typeface="Arial"/>
                <a:cs typeface="Arial"/>
              </a:defRPr>
            </a:pPr>
            <a:r>
              <a:rPr sz="2175" b="1">
                <a:solidFill>
                  <a:srgbClr val="192F43"/>
                </a:solidFill>
                <a:latin typeface="Arial"/>
                <a:ea typeface="Arial"/>
                <a:cs typeface="Arial"/>
              </a:rPr>
              <a:t>Nhiễu</a:t>
            </a:r>
          </a:p>
        </p:txBody>
      </p:sp>
      <p:sp>
        <p:nvSpPr>
          <p:cNvPr id="12" name="Rectangle 11">
            <a:extLst>
              <a:ext uri="{FF2B5EF4-FFF2-40B4-BE49-F238E27FC236}">
                <a16:creationId xmlns:a16="http://schemas.microsoft.com/office/drawing/2014/main" id="{FF61AD9E-0B66-44F5-850F-3E92E66A864C}"/>
              </a:ext>
            </a:extLst>
          </p:cNvPr>
          <p:cNvSpPr>
            <a:spLocks noGrp="1"/>
          </p:cNvSpPr>
          <p:nvPr/>
        </p:nvSpPr>
        <p:spPr>
          <a:xfrm>
            <a:off x="6343650" y="3914775"/>
            <a:ext cx="5238750" cy="952500"/>
          </a:xfrm>
          <a:prstGeom prst="rect">
            <a:avLst/>
          </a:prstGeom>
          <a:noFill/>
          <a:ln w="0">
            <a:noFill/>
          </a:ln>
        </p:spPr>
        <p:txBody>
          <a:bodyPr wrap="square" lIns="0" tIns="0" rIns="0" bIns="0" anchor="t">
            <a:noAutofit/>
          </a:bodyPr>
          <a:lstStyle>
            <a:defPPr algn="l">
              <a:defRPr sz="2025" b="0">
                <a:solidFill>
                  <a:srgbClr val="526779"/>
                </a:solidFill>
                <a:latin typeface="Arial"/>
                <a:ea typeface="Arial"/>
                <a:cs typeface="Arial"/>
              </a:defRPr>
            </a:defPPr>
            <a:lvl1pPr algn="l">
              <a:defRPr sz="2025" b="0">
                <a:solidFill>
                  <a:srgbClr val="526779"/>
                </a:solidFill>
                <a:latin typeface="Arial"/>
                <a:ea typeface="Arial"/>
                <a:cs typeface="Arial"/>
              </a:defRPr>
            </a:lvl1pPr>
            <a:lvl2pPr algn="l">
              <a:defRPr sz="2025" b="0">
                <a:solidFill>
                  <a:srgbClr val="526779"/>
                </a:solidFill>
                <a:latin typeface="Arial"/>
                <a:ea typeface="Arial"/>
                <a:cs typeface="Arial"/>
              </a:defRPr>
            </a:lvl2pPr>
            <a:lvl3pPr algn="l">
              <a:defRPr sz="2025" b="0">
                <a:solidFill>
                  <a:srgbClr val="526779"/>
                </a:solidFill>
                <a:latin typeface="Arial"/>
                <a:ea typeface="Arial"/>
                <a:cs typeface="Arial"/>
              </a:defRPr>
            </a:lvl3pPr>
            <a:lvl4pPr algn="l">
              <a:defRPr sz="2025" b="0">
                <a:solidFill>
                  <a:srgbClr val="526779"/>
                </a:solidFill>
                <a:latin typeface="Arial"/>
                <a:ea typeface="Arial"/>
                <a:cs typeface="Arial"/>
              </a:defRPr>
            </a:lvl4pPr>
            <a:lvl5pPr algn="l">
              <a:defRPr sz="2025" b="0">
                <a:solidFill>
                  <a:srgbClr val="526779"/>
                </a:solidFill>
                <a:latin typeface="Arial"/>
                <a:ea typeface="Arial"/>
                <a:cs typeface="Arial"/>
              </a:defRPr>
            </a:lvl5pPr>
            <a:lvl6pPr algn="l">
              <a:defRPr sz="2025" b="0">
                <a:solidFill>
                  <a:srgbClr val="526779"/>
                </a:solidFill>
                <a:latin typeface="Arial"/>
                <a:ea typeface="Arial"/>
                <a:cs typeface="Arial"/>
              </a:defRPr>
            </a:lvl6pPr>
            <a:lvl7pPr algn="l">
              <a:defRPr sz="2025" b="0">
                <a:solidFill>
                  <a:srgbClr val="526779"/>
                </a:solidFill>
                <a:latin typeface="Arial"/>
                <a:ea typeface="Arial"/>
                <a:cs typeface="Arial"/>
              </a:defRPr>
            </a:lvl7pPr>
            <a:lvl8pPr algn="l">
              <a:defRPr sz="2025" b="0">
                <a:solidFill>
                  <a:srgbClr val="526779"/>
                </a:solidFill>
                <a:latin typeface="Arial"/>
                <a:ea typeface="Arial"/>
                <a:cs typeface="Arial"/>
              </a:defRPr>
            </a:lvl8pPr>
            <a:lvl9pPr algn="l">
              <a:defRPr sz="2025" b="0">
                <a:solidFill>
                  <a:srgbClr val="526779"/>
                </a:solidFill>
                <a:latin typeface="Arial"/>
                <a:ea typeface="Arial"/>
                <a:cs typeface="Arial"/>
              </a:defRPr>
            </a:lvl9pPr>
          </a:lstStyle>
          <a:p>
            <a:pPr algn="l">
              <a:lnSpc>
                <a:spcPct val="107000"/>
              </a:lnSpc>
              <a:buNone/>
              <a:defRPr sz="2025" b="0">
                <a:solidFill>
                  <a:srgbClr val="526779"/>
                </a:solidFill>
                <a:latin typeface="Arial"/>
                <a:ea typeface="Arial"/>
                <a:cs typeface="Arial"/>
              </a:defRPr>
            </a:pPr>
            <a:r>
              <a:rPr sz="2025" b="0">
                <a:solidFill>
                  <a:srgbClr val="526779"/>
                </a:solidFill>
                <a:latin typeface="Arial"/>
                <a:ea typeface="Arial"/>
                <a:cs typeface="Arial"/>
              </a:rPr>
              <a:t>Ước lượng trên vùng ít cấu trúc</a:t>
            </a:r>
          </a:p>
        </p:txBody>
      </p:sp>
      <p:sp>
        <p:nvSpPr>
          <p:cNvPr id="13" name="Rectangle 12">
            <a:extLst>
              <a:ext uri="{FF2B5EF4-FFF2-40B4-BE49-F238E27FC236}">
                <a16:creationId xmlns:a16="http://schemas.microsoft.com/office/drawing/2014/main" id="{E5C5519A-09C4-4AC5-AC9D-6B8945A2E6F9}"/>
              </a:ext>
            </a:extLst>
          </p:cNvPr>
          <p:cNvSpPr>
            <a:spLocks noGrp="1"/>
          </p:cNvSpPr>
          <p:nvPr/>
        </p:nvSpPr>
        <p:spPr>
          <a:xfrm>
            <a:off x="609600" y="4867275"/>
            <a:ext cx="5238750" cy="400050"/>
          </a:xfrm>
          <a:prstGeom prst="rect">
            <a:avLst/>
          </a:prstGeom>
          <a:noFill/>
          <a:ln w="0">
            <a:noFill/>
          </a:ln>
        </p:spPr>
        <p:txBody>
          <a:bodyPr wrap="square" lIns="0" tIns="0" rIns="0" bIns="0" anchor="t">
            <a:noAutofit/>
          </a:bodyPr>
          <a:lstStyle>
            <a:defPPr algn="l">
              <a:defRPr sz="2175" b="1">
                <a:solidFill>
                  <a:srgbClr val="192F43"/>
                </a:solidFill>
                <a:latin typeface="Arial"/>
                <a:ea typeface="Arial"/>
                <a:cs typeface="Arial"/>
              </a:defRPr>
            </a:defPPr>
            <a:lvl1pPr algn="l">
              <a:defRPr sz="2175" b="1">
                <a:solidFill>
                  <a:srgbClr val="192F43"/>
                </a:solidFill>
                <a:latin typeface="Arial"/>
                <a:ea typeface="Arial"/>
                <a:cs typeface="Arial"/>
              </a:defRPr>
            </a:lvl1pPr>
            <a:lvl2pPr algn="l">
              <a:defRPr sz="2175" b="1">
                <a:solidFill>
                  <a:srgbClr val="192F43"/>
                </a:solidFill>
                <a:latin typeface="Arial"/>
                <a:ea typeface="Arial"/>
                <a:cs typeface="Arial"/>
              </a:defRPr>
            </a:lvl2pPr>
            <a:lvl3pPr algn="l">
              <a:defRPr sz="2175" b="1">
                <a:solidFill>
                  <a:srgbClr val="192F43"/>
                </a:solidFill>
                <a:latin typeface="Arial"/>
                <a:ea typeface="Arial"/>
                <a:cs typeface="Arial"/>
              </a:defRPr>
            </a:lvl3pPr>
            <a:lvl4pPr algn="l">
              <a:defRPr sz="2175" b="1">
                <a:solidFill>
                  <a:srgbClr val="192F43"/>
                </a:solidFill>
                <a:latin typeface="Arial"/>
                <a:ea typeface="Arial"/>
                <a:cs typeface="Arial"/>
              </a:defRPr>
            </a:lvl4pPr>
            <a:lvl5pPr algn="l">
              <a:defRPr sz="2175" b="1">
                <a:solidFill>
                  <a:srgbClr val="192F43"/>
                </a:solidFill>
                <a:latin typeface="Arial"/>
                <a:ea typeface="Arial"/>
                <a:cs typeface="Arial"/>
              </a:defRPr>
            </a:lvl5pPr>
            <a:lvl6pPr algn="l">
              <a:defRPr sz="2175" b="1">
                <a:solidFill>
                  <a:srgbClr val="192F43"/>
                </a:solidFill>
                <a:latin typeface="Arial"/>
                <a:ea typeface="Arial"/>
                <a:cs typeface="Arial"/>
              </a:defRPr>
            </a:lvl6pPr>
            <a:lvl7pPr algn="l">
              <a:defRPr sz="2175" b="1">
                <a:solidFill>
                  <a:srgbClr val="192F43"/>
                </a:solidFill>
                <a:latin typeface="Arial"/>
                <a:ea typeface="Arial"/>
                <a:cs typeface="Arial"/>
              </a:defRPr>
            </a:lvl7pPr>
            <a:lvl8pPr algn="l">
              <a:defRPr sz="2175" b="1">
                <a:solidFill>
                  <a:srgbClr val="192F43"/>
                </a:solidFill>
                <a:latin typeface="Arial"/>
                <a:ea typeface="Arial"/>
                <a:cs typeface="Arial"/>
              </a:defRPr>
            </a:lvl8pPr>
            <a:lvl9pPr algn="l">
              <a:defRPr sz="2175" b="1">
                <a:solidFill>
                  <a:srgbClr val="192F43"/>
                </a:solidFill>
                <a:latin typeface="Arial"/>
                <a:ea typeface="Arial"/>
                <a:cs typeface="Arial"/>
              </a:defRPr>
            </a:lvl9pPr>
          </a:lstStyle>
          <a:p>
            <a:pPr algn="l">
              <a:lnSpc>
                <a:spcPct val="107000"/>
              </a:lnSpc>
              <a:buNone/>
              <a:defRPr sz="2175" b="1">
                <a:solidFill>
                  <a:srgbClr val="192F43"/>
                </a:solidFill>
                <a:latin typeface="Arial"/>
                <a:ea typeface="Arial"/>
                <a:cs typeface="Arial"/>
              </a:defRPr>
            </a:pPr>
            <a:r>
              <a:rPr sz="2175" b="1">
                <a:solidFill>
                  <a:srgbClr val="192F43"/>
                </a:solidFill>
                <a:latin typeface="Arial"/>
                <a:ea typeface="Arial"/>
                <a:cs typeface="Arial"/>
              </a:rPr>
              <a:t>Độ nét</a:t>
            </a:r>
          </a:p>
        </p:txBody>
      </p:sp>
      <p:sp>
        <p:nvSpPr>
          <p:cNvPr id="14" name="Rectangle 13">
            <a:extLst>
              <a:ext uri="{FF2B5EF4-FFF2-40B4-BE49-F238E27FC236}">
                <a16:creationId xmlns:a16="http://schemas.microsoft.com/office/drawing/2014/main" id="{05CFF56B-0150-47A0-8790-C0F90A47E9E1}"/>
              </a:ext>
            </a:extLst>
          </p:cNvPr>
          <p:cNvSpPr>
            <a:spLocks noGrp="1"/>
          </p:cNvSpPr>
          <p:nvPr/>
        </p:nvSpPr>
        <p:spPr>
          <a:xfrm>
            <a:off x="609600" y="5305425"/>
            <a:ext cx="5238750" cy="952500"/>
          </a:xfrm>
          <a:prstGeom prst="rect">
            <a:avLst/>
          </a:prstGeom>
          <a:noFill/>
          <a:ln w="0">
            <a:noFill/>
          </a:ln>
        </p:spPr>
        <p:txBody>
          <a:bodyPr wrap="square" lIns="0" tIns="0" rIns="0" bIns="0" anchor="t">
            <a:noAutofit/>
          </a:bodyPr>
          <a:lstStyle>
            <a:defPPr algn="l">
              <a:defRPr sz="2025" b="0">
                <a:solidFill>
                  <a:srgbClr val="526779"/>
                </a:solidFill>
                <a:latin typeface="Arial"/>
                <a:ea typeface="Arial"/>
                <a:cs typeface="Arial"/>
              </a:defRPr>
            </a:defPPr>
            <a:lvl1pPr algn="l">
              <a:defRPr sz="2025" b="0">
                <a:solidFill>
                  <a:srgbClr val="526779"/>
                </a:solidFill>
                <a:latin typeface="Arial"/>
                <a:ea typeface="Arial"/>
                <a:cs typeface="Arial"/>
              </a:defRPr>
            </a:lvl1pPr>
            <a:lvl2pPr algn="l">
              <a:defRPr sz="2025" b="0">
                <a:solidFill>
                  <a:srgbClr val="526779"/>
                </a:solidFill>
                <a:latin typeface="Arial"/>
                <a:ea typeface="Arial"/>
                <a:cs typeface="Arial"/>
              </a:defRPr>
            </a:lvl2pPr>
            <a:lvl3pPr algn="l">
              <a:defRPr sz="2025" b="0">
                <a:solidFill>
                  <a:srgbClr val="526779"/>
                </a:solidFill>
                <a:latin typeface="Arial"/>
                <a:ea typeface="Arial"/>
                <a:cs typeface="Arial"/>
              </a:defRPr>
            </a:lvl3pPr>
            <a:lvl4pPr algn="l">
              <a:defRPr sz="2025" b="0">
                <a:solidFill>
                  <a:srgbClr val="526779"/>
                </a:solidFill>
                <a:latin typeface="Arial"/>
                <a:ea typeface="Arial"/>
                <a:cs typeface="Arial"/>
              </a:defRPr>
            </a:lvl4pPr>
            <a:lvl5pPr algn="l">
              <a:defRPr sz="2025" b="0">
                <a:solidFill>
                  <a:srgbClr val="526779"/>
                </a:solidFill>
                <a:latin typeface="Arial"/>
                <a:ea typeface="Arial"/>
                <a:cs typeface="Arial"/>
              </a:defRPr>
            </a:lvl5pPr>
            <a:lvl6pPr algn="l">
              <a:defRPr sz="2025" b="0">
                <a:solidFill>
                  <a:srgbClr val="526779"/>
                </a:solidFill>
                <a:latin typeface="Arial"/>
                <a:ea typeface="Arial"/>
                <a:cs typeface="Arial"/>
              </a:defRPr>
            </a:lvl6pPr>
            <a:lvl7pPr algn="l">
              <a:defRPr sz="2025" b="0">
                <a:solidFill>
                  <a:srgbClr val="526779"/>
                </a:solidFill>
                <a:latin typeface="Arial"/>
                <a:ea typeface="Arial"/>
                <a:cs typeface="Arial"/>
              </a:defRPr>
            </a:lvl7pPr>
            <a:lvl8pPr algn="l">
              <a:defRPr sz="2025" b="0">
                <a:solidFill>
                  <a:srgbClr val="526779"/>
                </a:solidFill>
                <a:latin typeface="Arial"/>
                <a:ea typeface="Arial"/>
                <a:cs typeface="Arial"/>
              </a:defRPr>
            </a:lvl8pPr>
            <a:lvl9pPr algn="l">
              <a:defRPr sz="2025" b="0">
                <a:solidFill>
                  <a:srgbClr val="526779"/>
                </a:solidFill>
                <a:latin typeface="Arial"/>
                <a:ea typeface="Arial"/>
                <a:cs typeface="Arial"/>
              </a:defRPr>
            </a:lvl9pPr>
          </a:lstStyle>
          <a:p>
            <a:pPr algn="l">
              <a:lnSpc>
                <a:spcPct val="107000"/>
              </a:lnSpc>
              <a:buNone/>
              <a:defRPr sz="2025" b="0">
                <a:solidFill>
                  <a:srgbClr val="526779"/>
                </a:solidFill>
                <a:latin typeface="Arial"/>
                <a:ea typeface="Arial"/>
                <a:cs typeface="Arial"/>
              </a:defRPr>
            </a:pPr>
            <a:r>
              <a:rPr sz="2025" b="0">
                <a:solidFill>
                  <a:srgbClr val="526779"/>
                </a:solidFill>
                <a:latin typeface="Arial"/>
                <a:ea typeface="Arial"/>
                <a:cs typeface="Arial"/>
              </a:rPr>
              <a:t>Bề rộng biên, defocus, Laplacian</a:t>
            </a:r>
          </a:p>
        </p:txBody>
      </p:sp>
      <p:sp>
        <p:nvSpPr>
          <p:cNvPr id="15" name="Rectangle 14">
            <a:extLst>
              <a:ext uri="{FF2B5EF4-FFF2-40B4-BE49-F238E27FC236}">
                <a16:creationId xmlns:a16="http://schemas.microsoft.com/office/drawing/2014/main" id="{5CC32F32-EFF5-4D9B-AE43-24670D4BF065}"/>
              </a:ext>
            </a:extLst>
          </p:cNvPr>
          <p:cNvSpPr>
            <a:spLocks noGrp="1"/>
          </p:cNvSpPr>
          <p:nvPr/>
        </p:nvSpPr>
        <p:spPr>
          <a:xfrm>
            <a:off x="6343650" y="4867275"/>
            <a:ext cx="5238750" cy="400050"/>
          </a:xfrm>
          <a:prstGeom prst="rect">
            <a:avLst/>
          </a:prstGeom>
          <a:noFill/>
          <a:ln w="0">
            <a:noFill/>
          </a:ln>
        </p:spPr>
        <p:txBody>
          <a:bodyPr wrap="square" lIns="0" tIns="0" rIns="0" bIns="0" anchor="t">
            <a:noAutofit/>
          </a:bodyPr>
          <a:lstStyle>
            <a:defPPr algn="l">
              <a:defRPr sz="2175" b="1">
                <a:solidFill>
                  <a:srgbClr val="192F43"/>
                </a:solidFill>
                <a:latin typeface="Arial"/>
                <a:ea typeface="Arial"/>
                <a:cs typeface="Arial"/>
              </a:defRPr>
            </a:defPPr>
            <a:lvl1pPr algn="l">
              <a:defRPr sz="2175" b="1">
                <a:solidFill>
                  <a:srgbClr val="192F43"/>
                </a:solidFill>
                <a:latin typeface="Arial"/>
                <a:ea typeface="Arial"/>
                <a:cs typeface="Arial"/>
              </a:defRPr>
            </a:lvl1pPr>
            <a:lvl2pPr algn="l">
              <a:defRPr sz="2175" b="1">
                <a:solidFill>
                  <a:srgbClr val="192F43"/>
                </a:solidFill>
                <a:latin typeface="Arial"/>
                <a:ea typeface="Arial"/>
                <a:cs typeface="Arial"/>
              </a:defRPr>
            </a:lvl2pPr>
            <a:lvl3pPr algn="l">
              <a:defRPr sz="2175" b="1">
                <a:solidFill>
                  <a:srgbClr val="192F43"/>
                </a:solidFill>
                <a:latin typeface="Arial"/>
                <a:ea typeface="Arial"/>
                <a:cs typeface="Arial"/>
              </a:defRPr>
            </a:lvl3pPr>
            <a:lvl4pPr algn="l">
              <a:defRPr sz="2175" b="1">
                <a:solidFill>
                  <a:srgbClr val="192F43"/>
                </a:solidFill>
                <a:latin typeface="Arial"/>
                <a:ea typeface="Arial"/>
                <a:cs typeface="Arial"/>
              </a:defRPr>
            </a:lvl4pPr>
            <a:lvl5pPr algn="l">
              <a:defRPr sz="2175" b="1">
                <a:solidFill>
                  <a:srgbClr val="192F43"/>
                </a:solidFill>
                <a:latin typeface="Arial"/>
                <a:ea typeface="Arial"/>
                <a:cs typeface="Arial"/>
              </a:defRPr>
            </a:lvl5pPr>
            <a:lvl6pPr algn="l">
              <a:defRPr sz="2175" b="1">
                <a:solidFill>
                  <a:srgbClr val="192F43"/>
                </a:solidFill>
                <a:latin typeface="Arial"/>
                <a:ea typeface="Arial"/>
                <a:cs typeface="Arial"/>
              </a:defRPr>
            </a:lvl6pPr>
            <a:lvl7pPr algn="l">
              <a:defRPr sz="2175" b="1">
                <a:solidFill>
                  <a:srgbClr val="192F43"/>
                </a:solidFill>
                <a:latin typeface="Arial"/>
                <a:ea typeface="Arial"/>
                <a:cs typeface="Arial"/>
              </a:defRPr>
            </a:lvl7pPr>
            <a:lvl8pPr algn="l">
              <a:defRPr sz="2175" b="1">
                <a:solidFill>
                  <a:srgbClr val="192F43"/>
                </a:solidFill>
                <a:latin typeface="Arial"/>
                <a:ea typeface="Arial"/>
                <a:cs typeface="Arial"/>
              </a:defRPr>
            </a:lvl8pPr>
            <a:lvl9pPr algn="l">
              <a:defRPr sz="2175" b="1">
                <a:solidFill>
                  <a:srgbClr val="192F43"/>
                </a:solidFill>
                <a:latin typeface="Arial"/>
                <a:ea typeface="Arial"/>
                <a:cs typeface="Arial"/>
              </a:defRPr>
            </a:lvl9pPr>
          </a:lstStyle>
          <a:p>
            <a:pPr algn="l">
              <a:lnSpc>
                <a:spcPct val="107000"/>
              </a:lnSpc>
              <a:buNone/>
              <a:defRPr sz="2175" b="1">
                <a:solidFill>
                  <a:srgbClr val="192F43"/>
                </a:solidFill>
                <a:latin typeface="Arial"/>
                <a:ea typeface="Arial"/>
                <a:cs typeface="Arial"/>
              </a:defRPr>
            </a:pPr>
            <a:r>
              <a:rPr sz="2175" b="1">
                <a:solidFill>
                  <a:srgbClr val="192F43"/>
                </a:solidFill>
                <a:latin typeface="Arial"/>
                <a:ea typeface="Arial"/>
                <a:cs typeface="Arial"/>
              </a:rPr>
              <a:t>Màu và tương phản</a:t>
            </a:r>
          </a:p>
        </p:txBody>
      </p:sp>
      <p:sp>
        <p:nvSpPr>
          <p:cNvPr id="16" name="Rectangle 15">
            <a:extLst>
              <a:ext uri="{FF2B5EF4-FFF2-40B4-BE49-F238E27FC236}">
                <a16:creationId xmlns:a16="http://schemas.microsoft.com/office/drawing/2014/main" id="{50BEF310-C1E1-4E2A-99E1-CC110E16523E}"/>
              </a:ext>
            </a:extLst>
          </p:cNvPr>
          <p:cNvSpPr>
            <a:spLocks noGrp="1"/>
          </p:cNvSpPr>
          <p:nvPr/>
        </p:nvSpPr>
        <p:spPr>
          <a:xfrm>
            <a:off x="6343650" y="5305425"/>
            <a:ext cx="5238750" cy="952500"/>
          </a:xfrm>
          <a:prstGeom prst="rect">
            <a:avLst/>
          </a:prstGeom>
          <a:noFill/>
          <a:ln w="0">
            <a:noFill/>
          </a:ln>
        </p:spPr>
        <p:txBody>
          <a:bodyPr wrap="square" lIns="0" tIns="0" rIns="0" bIns="0" anchor="t">
            <a:noAutofit/>
          </a:bodyPr>
          <a:lstStyle>
            <a:defPPr algn="l">
              <a:defRPr sz="2025" b="0">
                <a:solidFill>
                  <a:srgbClr val="526779"/>
                </a:solidFill>
                <a:latin typeface="Arial"/>
                <a:ea typeface="Arial"/>
                <a:cs typeface="Arial"/>
              </a:defRPr>
            </a:defPPr>
            <a:lvl1pPr algn="l">
              <a:defRPr sz="2025" b="0">
                <a:solidFill>
                  <a:srgbClr val="526779"/>
                </a:solidFill>
                <a:latin typeface="Arial"/>
                <a:ea typeface="Arial"/>
                <a:cs typeface="Arial"/>
              </a:defRPr>
            </a:lvl1pPr>
            <a:lvl2pPr algn="l">
              <a:defRPr sz="2025" b="0">
                <a:solidFill>
                  <a:srgbClr val="526779"/>
                </a:solidFill>
                <a:latin typeface="Arial"/>
                <a:ea typeface="Arial"/>
                <a:cs typeface="Arial"/>
              </a:defRPr>
            </a:lvl2pPr>
            <a:lvl3pPr algn="l">
              <a:defRPr sz="2025" b="0">
                <a:solidFill>
                  <a:srgbClr val="526779"/>
                </a:solidFill>
                <a:latin typeface="Arial"/>
                <a:ea typeface="Arial"/>
                <a:cs typeface="Arial"/>
              </a:defRPr>
            </a:lvl3pPr>
            <a:lvl4pPr algn="l">
              <a:defRPr sz="2025" b="0">
                <a:solidFill>
                  <a:srgbClr val="526779"/>
                </a:solidFill>
                <a:latin typeface="Arial"/>
                <a:ea typeface="Arial"/>
                <a:cs typeface="Arial"/>
              </a:defRPr>
            </a:lvl4pPr>
            <a:lvl5pPr algn="l">
              <a:defRPr sz="2025" b="0">
                <a:solidFill>
                  <a:srgbClr val="526779"/>
                </a:solidFill>
                <a:latin typeface="Arial"/>
                <a:ea typeface="Arial"/>
                <a:cs typeface="Arial"/>
              </a:defRPr>
            </a:lvl5pPr>
            <a:lvl6pPr algn="l">
              <a:defRPr sz="2025" b="0">
                <a:solidFill>
                  <a:srgbClr val="526779"/>
                </a:solidFill>
                <a:latin typeface="Arial"/>
                <a:ea typeface="Arial"/>
                <a:cs typeface="Arial"/>
              </a:defRPr>
            </a:lvl6pPr>
            <a:lvl7pPr algn="l">
              <a:defRPr sz="2025" b="0">
                <a:solidFill>
                  <a:srgbClr val="526779"/>
                </a:solidFill>
                <a:latin typeface="Arial"/>
                <a:ea typeface="Arial"/>
                <a:cs typeface="Arial"/>
              </a:defRPr>
            </a:lvl7pPr>
            <a:lvl8pPr algn="l">
              <a:defRPr sz="2025" b="0">
                <a:solidFill>
                  <a:srgbClr val="526779"/>
                </a:solidFill>
                <a:latin typeface="Arial"/>
                <a:ea typeface="Arial"/>
                <a:cs typeface="Arial"/>
              </a:defRPr>
            </a:lvl8pPr>
            <a:lvl9pPr algn="l">
              <a:defRPr sz="2025" b="0">
                <a:solidFill>
                  <a:srgbClr val="526779"/>
                </a:solidFill>
                <a:latin typeface="Arial"/>
                <a:ea typeface="Arial"/>
                <a:cs typeface="Arial"/>
              </a:defRPr>
            </a:lvl9pPr>
          </a:lstStyle>
          <a:p>
            <a:pPr algn="l">
              <a:lnSpc>
                <a:spcPct val="107000"/>
              </a:lnSpc>
              <a:buNone/>
              <a:defRPr sz="2025" b="0">
                <a:solidFill>
                  <a:srgbClr val="526779"/>
                </a:solidFill>
                <a:latin typeface="Arial"/>
                <a:ea typeface="Arial"/>
                <a:cs typeface="Arial"/>
              </a:defRPr>
            </a:pPr>
            <a:r>
              <a:rPr sz="2025" b="0">
                <a:solidFill>
                  <a:srgbClr val="526779"/>
                </a:solidFill>
                <a:latin typeface="Arial"/>
                <a:ea typeface="Arial"/>
                <a:cs typeface="Arial"/>
              </a:rPr>
              <a:t>Chroma, nguồn sáng, phân bố cường độ</a:t>
            </a:r>
          </a:p>
        </p:txBody>
      </p:sp>
      <p:sp>
        <p:nvSpPr>
          <p:cNvPr id="17" name="Rectangle 16">
            <a:extLst>
              <a:ext uri="{FF2B5EF4-FFF2-40B4-BE49-F238E27FC236}">
                <a16:creationId xmlns:a16="http://schemas.microsoft.com/office/drawing/2014/main" id="{61813523-90A5-4542-A46D-41CF9BE485B7}"/>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Đầu ra: số đo kỹ thuật và mức độ lỗi. VLM diễn giải ý nghĩa ngữ cảnh ở Module 4.</a:t>
            </a:r>
          </a:p>
        </p:txBody>
      </p:sp>
    </p:spTree>
    <p:extLst>
      <p:ext uri="{BB962C8B-B14F-4D97-AF65-F5344CB8AC3E}">
        <p14:creationId xmlns:p14="http://schemas.microsoft.com/office/powerpoint/2010/main" val="15674969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7150C688-3A13-491D-94D6-59029E8A0A8A}"/>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1  PHÂN TÍCH VÀ ĐÁNH GIÁ</a:t>
            </a:r>
          </a:p>
        </p:txBody>
      </p:sp>
      <p:sp>
        <p:nvSpPr>
          <p:cNvPr id="2" name="Rectangle 1">
            <a:extLst>
              <a:ext uri="{FF2B5EF4-FFF2-40B4-BE49-F238E27FC236}">
                <a16:creationId xmlns:a16="http://schemas.microsoft.com/office/drawing/2014/main" id="{971FA33B-183C-49C7-84EF-73D261580030}"/>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Đánh giá ảnh sau xử lý</a:t>
            </a:r>
          </a:p>
        </p:txBody>
      </p:sp>
      <p:sp>
        <p:nvSpPr>
          <p:cNvPr id="3" name="Rectangle 2">
            <a:extLst>
              <a:ext uri="{FF2B5EF4-FFF2-40B4-BE49-F238E27FC236}">
                <a16:creationId xmlns:a16="http://schemas.microsoft.com/office/drawing/2014/main" id="{015D0004-0004-4E31-9813-A8671BE159E9}"/>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05</a:t>
            </a:r>
          </a:p>
        </p:txBody>
      </p:sp>
      <p:sp>
        <p:nvSpPr>
          <p:cNvPr id="4" name="Rectangle 3">
            <a:extLst>
              <a:ext uri="{FF2B5EF4-FFF2-40B4-BE49-F238E27FC236}">
                <a16:creationId xmlns:a16="http://schemas.microsoft.com/office/drawing/2014/main" id="{8ABE43E2-2F81-4446-885E-6D1D7EDDD1DA}"/>
              </a:ext>
            </a:extLst>
          </p:cNvPr>
          <p:cNvSpPr>
            <a:spLocks noGrp="1"/>
          </p:cNvSpPr>
          <p:nvPr/>
        </p:nvSpPr>
        <p:spPr>
          <a:xfrm>
            <a:off x="609600" y="1524000"/>
            <a:ext cx="4933950" cy="1123950"/>
          </a:xfrm>
          <a:prstGeom prst="rect">
            <a:avLst/>
          </a:prstGeom>
          <a:solidFill>
            <a:srgbClr val="E3F1F0"/>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Có ảnh chuẩn</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MSE, PSNR và SSIM</a:t>
            </a:r>
            <a:br>
              <a:rPr sz="1800">
                <a:solidFill>
                  <a:srgbClr val="192F43"/>
                </a:solidFill>
                <a:latin typeface="Arial"/>
                <a:ea typeface="Arial"/>
                <a:cs typeface="Arial"/>
              </a:rPr>
            </a:br>
            <a:r>
              <a:rPr sz="1800">
                <a:solidFill>
                  <a:srgbClr val="192F43"/>
                </a:solidFill>
                <a:latin typeface="Arial"/>
                <a:ea typeface="Arial"/>
                <a:cs typeface="Arial"/>
              </a:rPr>
              <a:t>Dữ liệu tổng hợp</a:t>
            </a:r>
          </a:p>
        </p:txBody>
      </p:sp>
      <p:sp>
        <p:nvSpPr>
          <p:cNvPr id="5" name="Rectangle 4">
            <a:extLst>
              <a:ext uri="{FF2B5EF4-FFF2-40B4-BE49-F238E27FC236}">
                <a16:creationId xmlns:a16="http://schemas.microsoft.com/office/drawing/2014/main" id="{14B0530F-065D-47E2-92FF-7F83D530F7B8}"/>
              </a:ext>
            </a:extLst>
          </p:cNvPr>
          <p:cNvSpPr>
            <a:spLocks noGrp="1"/>
          </p:cNvSpPr>
          <p:nvPr/>
        </p:nvSpPr>
        <p:spPr>
          <a:xfrm>
            <a:off x="6648450" y="1524000"/>
            <a:ext cx="4933950" cy="1123950"/>
          </a:xfrm>
          <a:prstGeom prst="rect">
            <a:avLst/>
          </a:prstGeom>
          <a:solidFill>
            <a:srgbClr val="F9EFDF"/>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Ảnh thật</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Heuristic, lỗi theo vùng</a:t>
            </a:r>
            <a:br>
              <a:rPr sz="1800">
                <a:solidFill>
                  <a:srgbClr val="192F43"/>
                </a:solidFill>
                <a:latin typeface="Arial"/>
                <a:ea typeface="Arial"/>
                <a:cs typeface="Arial"/>
              </a:rPr>
            </a:br>
            <a:r>
              <a:rPr sz="1800">
                <a:solidFill>
                  <a:srgbClr val="192F43"/>
                </a:solidFill>
                <a:latin typeface="Arial"/>
                <a:ea typeface="Arial"/>
                <a:cs typeface="Arial"/>
              </a:rPr>
              <a:t>BRISQUE / NIQE nếu có</a:t>
            </a:r>
          </a:p>
        </p:txBody>
      </p:sp>
      <p:sp>
        <p:nvSpPr>
          <p:cNvPr id="8" name="Rectangle 7">
            <a:extLst>
              <a:ext uri="{FF2B5EF4-FFF2-40B4-BE49-F238E27FC236}">
                <a16:creationId xmlns:a16="http://schemas.microsoft.com/office/drawing/2014/main" id="{EFEB9231-6FB3-4921-BAAD-572191E1AD9E}"/>
              </a:ext>
            </a:extLst>
          </p:cNvPr>
          <p:cNvSpPr>
            <a:spLocks noGrp="1"/>
          </p:cNvSpPr>
          <p:nvPr/>
        </p:nvSpPr>
        <p:spPr>
          <a:xfrm>
            <a:off x="609600" y="5848350"/>
            <a:ext cx="10972800" cy="409575"/>
          </a:xfrm>
          <a:prstGeom prst="rect">
            <a:avLst/>
          </a:prstGeom>
          <a:noFill/>
          <a:ln w="0">
            <a:noFill/>
          </a:ln>
        </p:spPr>
        <p:txBody>
          <a:bodyPr wrap="square" lIns="0" tIns="0" rIns="0" bIns="0" anchor="t">
            <a:noAutofit/>
          </a:bodyPr>
          <a:lstStyle>
            <a:defPPr algn="l">
              <a:defRPr sz="1875" b="1">
                <a:solidFill>
                  <a:srgbClr val="267C83"/>
                </a:solidFill>
                <a:latin typeface="Arial"/>
                <a:ea typeface="Arial"/>
                <a:cs typeface="Arial"/>
              </a:defRPr>
            </a:defPPr>
            <a:lvl1pPr algn="l">
              <a:defRPr sz="1875" b="1">
                <a:solidFill>
                  <a:srgbClr val="267C83"/>
                </a:solidFill>
                <a:latin typeface="Arial"/>
                <a:ea typeface="Arial"/>
                <a:cs typeface="Arial"/>
              </a:defRPr>
            </a:lvl1pPr>
            <a:lvl2pPr algn="l">
              <a:defRPr sz="1875" b="1">
                <a:solidFill>
                  <a:srgbClr val="267C83"/>
                </a:solidFill>
                <a:latin typeface="Arial"/>
                <a:ea typeface="Arial"/>
                <a:cs typeface="Arial"/>
              </a:defRPr>
            </a:lvl2pPr>
            <a:lvl3pPr algn="l">
              <a:defRPr sz="1875" b="1">
                <a:solidFill>
                  <a:srgbClr val="267C83"/>
                </a:solidFill>
                <a:latin typeface="Arial"/>
                <a:ea typeface="Arial"/>
                <a:cs typeface="Arial"/>
              </a:defRPr>
            </a:lvl3pPr>
            <a:lvl4pPr algn="l">
              <a:defRPr sz="1875" b="1">
                <a:solidFill>
                  <a:srgbClr val="267C83"/>
                </a:solidFill>
                <a:latin typeface="Arial"/>
                <a:ea typeface="Arial"/>
                <a:cs typeface="Arial"/>
              </a:defRPr>
            </a:lvl4pPr>
            <a:lvl5pPr algn="l">
              <a:defRPr sz="1875" b="1">
                <a:solidFill>
                  <a:srgbClr val="267C83"/>
                </a:solidFill>
                <a:latin typeface="Arial"/>
                <a:ea typeface="Arial"/>
                <a:cs typeface="Arial"/>
              </a:defRPr>
            </a:lvl5pPr>
            <a:lvl6pPr algn="l">
              <a:defRPr sz="1875" b="1">
                <a:solidFill>
                  <a:srgbClr val="267C83"/>
                </a:solidFill>
                <a:latin typeface="Arial"/>
                <a:ea typeface="Arial"/>
                <a:cs typeface="Arial"/>
              </a:defRPr>
            </a:lvl6pPr>
            <a:lvl7pPr algn="l">
              <a:defRPr sz="1875" b="1">
                <a:solidFill>
                  <a:srgbClr val="267C83"/>
                </a:solidFill>
                <a:latin typeface="Arial"/>
                <a:ea typeface="Arial"/>
                <a:cs typeface="Arial"/>
              </a:defRPr>
            </a:lvl7pPr>
            <a:lvl8pPr algn="l">
              <a:defRPr sz="1875" b="1">
                <a:solidFill>
                  <a:srgbClr val="267C83"/>
                </a:solidFill>
                <a:latin typeface="Arial"/>
                <a:ea typeface="Arial"/>
                <a:cs typeface="Arial"/>
              </a:defRPr>
            </a:lvl8pPr>
            <a:lvl9pPr algn="l">
              <a:defRPr sz="1875" b="1">
                <a:solidFill>
                  <a:srgbClr val="267C83"/>
                </a:solidFill>
                <a:latin typeface="Arial"/>
                <a:ea typeface="Arial"/>
                <a:cs typeface="Arial"/>
              </a:defRPr>
            </a:lvl9pPr>
          </a:lstStyle>
          <a:p>
            <a:pPr algn="l">
              <a:lnSpc>
                <a:spcPct val="107000"/>
              </a:lnSpc>
              <a:buNone/>
              <a:defRPr sz="1875" b="1">
                <a:solidFill>
                  <a:srgbClr val="267C83"/>
                </a:solidFill>
                <a:latin typeface="Arial"/>
                <a:ea typeface="Arial"/>
                <a:cs typeface="Arial"/>
              </a:defRPr>
            </a:pPr>
            <a:r>
              <a:rPr sz="1875" b="1">
                <a:solidFill>
                  <a:srgbClr val="267C83"/>
                </a:solidFill>
                <a:latin typeface="Arial"/>
                <a:ea typeface="Arial"/>
                <a:cs typeface="Arial"/>
              </a:rPr>
              <a:t>Tiếp theo: Module 2 xác định vùng cần chỉnh</a:t>
            </a:r>
          </a:p>
        </p:txBody>
      </p:sp>
      <p:sp>
        <p:nvSpPr>
          <p:cNvPr id="9" name="Rectangle 8">
            <a:extLst>
              <a:ext uri="{FF2B5EF4-FFF2-40B4-BE49-F238E27FC236}">
                <a16:creationId xmlns:a16="http://schemas.microsoft.com/office/drawing/2014/main" id="{50F422D2-06BB-4F0B-B0B2-05239C36C62A}"/>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Hợp đồng bàn giao: ảnh và số đo. Quyết định tiếp tục, rollback thuộc graph điều phối.</a:t>
            </a:r>
          </a:p>
        </p:txBody>
      </p:sp>
      <p:sp>
        <p:nvSpPr>
          <p:cNvPr id="11" name="PSNR formula">
            <a:extLst>
              <a:ext uri="{FF2B5EF4-FFF2-40B4-BE49-F238E27FC236}">
                <a16:creationId xmlns:a16="http://schemas.microsoft.com/office/drawing/2014/main" id="{DED7149A-0BE9-4690-B5EB-4A551C3810BF}"/>
              </a:ext>
            </a:extLst>
          </p:cNvPr>
          <p:cNvSpPr>
            <a:spLocks noGrp="1"/>
          </p:cNvSpPr>
          <p:nvPr/>
        </p:nvSpPr>
        <p:spPr>
          <a:xfrm>
            <a:off x="609600" y="2981325"/>
            <a:ext cx="10972800" cy="523875"/>
          </a:xfrm>
          <a:prstGeom prst="rect">
            <a:avLst/>
          </a:prstGeom>
          <a:noFill/>
          <a:ln w="0">
            <a:noFill/>
          </a:ln>
        </p:spPr>
        <p:txBody>
          <a:bodyPr wrap="square" lIns="0" tIns="0" rIns="0" bIns="0" anchor="t">
            <a:noAutofit/>
          </a:bodyPr>
          <a:lstStyle>
            <a:defPPr algn="l">
              <a:defRPr sz="2700" b="1">
                <a:solidFill>
                  <a:srgbClr val="267C83"/>
                </a:solidFill>
                <a:latin typeface="Arial"/>
                <a:ea typeface="Arial"/>
                <a:cs typeface="Arial"/>
              </a:defRPr>
            </a:defPPr>
            <a:lvl1pPr algn="l">
              <a:defRPr sz="2700" b="1">
                <a:solidFill>
                  <a:srgbClr val="267C83"/>
                </a:solidFill>
                <a:latin typeface="Arial"/>
                <a:ea typeface="Arial"/>
                <a:cs typeface="Arial"/>
              </a:defRPr>
            </a:lvl1pPr>
            <a:lvl2pPr algn="l">
              <a:defRPr sz="2700" b="1">
                <a:solidFill>
                  <a:srgbClr val="267C83"/>
                </a:solidFill>
                <a:latin typeface="Arial"/>
                <a:ea typeface="Arial"/>
                <a:cs typeface="Arial"/>
              </a:defRPr>
            </a:lvl2pPr>
            <a:lvl3pPr algn="l">
              <a:defRPr sz="2700" b="1">
                <a:solidFill>
                  <a:srgbClr val="267C83"/>
                </a:solidFill>
                <a:latin typeface="Arial"/>
                <a:ea typeface="Arial"/>
                <a:cs typeface="Arial"/>
              </a:defRPr>
            </a:lvl3pPr>
            <a:lvl4pPr algn="l">
              <a:defRPr sz="2700" b="1">
                <a:solidFill>
                  <a:srgbClr val="267C83"/>
                </a:solidFill>
                <a:latin typeface="Arial"/>
                <a:ea typeface="Arial"/>
                <a:cs typeface="Arial"/>
              </a:defRPr>
            </a:lvl4pPr>
            <a:lvl5pPr algn="l">
              <a:defRPr sz="2700" b="1">
                <a:solidFill>
                  <a:srgbClr val="267C83"/>
                </a:solidFill>
                <a:latin typeface="Arial"/>
                <a:ea typeface="Arial"/>
                <a:cs typeface="Arial"/>
              </a:defRPr>
            </a:lvl5pPr>
            <a:lvl6pPr algn="l">
              <a:defRPr sz="2700" b="1">
                <a:solidFill>
                  <a:srgbClr val="267C83"/>
                </a:solidFill>
                <a:latin typeface="Arial"/>
                <a:ea typeface="Arial"/>
                <a:cs typeface="Arial"/>
              </a:defRPr>
            </a:lvl6pPr>
            <a:lvl7pPr algn="l">
              <a:defRPr sz="2700" b="1">
                <a:solidFill>
                  <a:srgbClr val="267C83"/>
                </a:solidFill>
                <a:latin typeface="Arial"/>
                <a:ea typeface="Arial"/>
                <a:cs typeface="Arial"/>
              </a:defRPr>
            </a:lvl7pPr>
            <a:lvl8pPr algn="l">
              <a:defRPr sz="2700" b="1">
                <a:solidFill>
                  <a:srgbClr val="267C83"/>
                </a:solidFill>
                <a:latin typeface="Arial"/>
                <a:ea typeface="Arial"/>
                <a:cs typeface="Arial"/>
              </a:defRPr>
            </a:lvl8pPr>
            <a:lvl9pPr algn="l">
              <a:defRPr sz="2700" b="1">
                <a:solidFill>
                  <a:srgbClr val="267C83"/>
                </a:solidFill>
                <a:latin typeface="Arial"/>
                <a:ea typeface="Arial"/>
                <a:cs typeface="Arial"/>
              </a:defRPr>
            </a:lvl9pPr>
          </a:lstStyle>
          <a:p>
            <a:pPr algn="l">
              <a:lnSpc>
                <a:spcPct val="105000"/>
              </a:lnSpc>
              <a:buNone/>
              <a:defRPr sz="2700" b="1">
                <a:solidFill>
                  <a:srgbClr val="267C83"/>
                </a:solidFill>
                <a:latin typeface="Arial"/>
                <a:ea typeface="Arial"/>
                <a:cs typeface="Arial"/>
              </a:defRPr>
            </a:pPr>
            <a:r>
              <a:rPr sz="2700" b="1">
                <a:solidFill>
                  <a:srgbClr val="267C83"/>
                </a:solidFill>
                <a:latin typeface="Arial"/>
                <a:ea typeface="Arial"/>
                <a:cs typeface="Arial"/>
              </a:rPr>
              <a:t>PSNR = 10 log₁₀(255² / MSE)  [dB]</a:t>
            </a:r>
          </a:p>
        </p:txBody>
      </p:sp>
      <p:sp>
        <p:nvSpPr>
          <p:cNvPr id="12" name="MSE definition">
            <a:extLst>
              <a:ext uri="{FF2B5EF4-FFF2-40B4-BE49-F238E27FC236}">
                <a16:creationId xmlns:a16="http://schemas.microsoft.com/office/drawing/2014/main" id="{560B3778-492A-4D1B-B5E3-41FF631687E7}"/>
              </a:ext>
            </a:extLst>
          </p:cNvPr>
          <p:cNvSpPr>
            <a:spLocks noGrp="1"/>
          </p:cNvSpPr>
          <p:nvPr/>
        </p:nvSpPr>
        <p:spPr>
          <a:xfrm>
            <a:off x="609600" y="3638550"/>
            <a:ext cx="10972800" cy="361950"/>
          </a:xfrm>
          <a:prstGeom prst="rect">
            <a:avLst/>
          </a:prstGeom>
          <a:noFill/>
          <a:ln w="0">
            <a:noFill/>
          </a:ln>
        </p:spPr>
        <p:txBody>
          <a:bodyPr wrap="square" lIns="0" tIns="0" rIns="0" bIns="0" anchor="t">
            <a:noAutofit/>
          </a:bodyPr>
          <a:lstStyle>
            <a:defPPr algn="l">
              <a:defRPr sz="1950" b="0">
                <a:solidFill>
                  <a:srgbClr val="192F43"/>
                </a:solidFill>
                <a:latin typeface="Arial"/>
                <a:ea typeface="Arial"/>
                <a:cs typeface="Arial"/>
              </a:defRPr>
            </a:defPPr>
            <a:lvl1pPr algn="l">
              <a:defRPr sz="1950" b="0">
                <a:solidFill>
                  <a:srgbClr val="192F43"/>
                </a:solidFill>
                <a:latin typeface="Arial"/>
                <a:ea typeface="Arial"/>
                <a:cs typeface="Arial"/>
              </a:defRPr>
            </a:lvl1pPr>
            <a:lvl2pPr algn="l">
              <a:defRPr sz="1950" b="0">
                <a:solidFill>
                  <a:srgbClr val="192F43"/>
                </a:solidFill>
                <a:latin typeface="Arial"/>
                <a:ea typeface="Arial"/>
                <a:cs typeface="Arial"/>
              </a:defRPr>
            </a:lvl2pPr>
            <a:lvl3pPr algn="l">
              <a:defRPr sz="1950" b="0">
                <a:solidFill>
                  <a:srgbClr val="192F43"/>
                </a:solidFill>
                <a:latin typeface="Arial"/>
                <a:ea typeface="Arial"/>
                <a:cs typeface="Arial"/>
              </a:defRPr>
            </a:lvl3pPr>
            <a:lvl4pPr algn="l">
              <a:defRPr sz="1950" b="0">
                <a:solidFill>
                  <a:srgbClr val="192F43"/>
                </a:solidFill>
                <a:latin typeface="Arial"/>
                <a:ea typeface="Arial"/>
                <a:cs typeface="Arial"/>
              </a:defRPr>
            </a:lvl4pPr>
            <a:lvl5pPr algn="l">
              <a:defRPr sz="1950" b="0">
                <a:solidFill>
                  <a:srgbClr val="192F43"/>
                </a:solidFill>
                <a:latin typeface="Arial"/>
                <a:ea typeface="Arial"/>
                <a:cs typeface="Arial"/>
              </a:defRPr>
            </a:lvl5pPr>
            <a:lvl6pPr algn="l">
              <a:defRPr sz="1950" b="0">
                <a:solidFill>
                  <a:srgbClr val="192F43"/>
                </a:solidFill>
                <a:latin typeface="Arial"/>
                <a:ea typeface="Arial"/>
                <a:cs typeface="Arial"/>
              </a:defRPr>
            </a:lvl6pPr>
            <a:lvl7pPr algn="l">
              <a:defRPr sz="1950" b="0">
                <a:solidFill>
                  <a:srgbClr val="192F43"/>
                </a:solidFill>
                <a:latin typeface="Arial"/>
                <a:ea typeface="Arial"/>
                <a:cs typeface="Arial"/>
              </a:defRPr>
            </a:lvl7pPr>
            <a:lvl8pPr algn="l">
              <a:defRPr sz="1950" b="0">
                <a:solidFill>
                  <a:srgbClr val="192F43"/>
                </a:solidFill>
                <a:latin typeface="Arial"/>
                <a:ea typeface="Arial"/>
                <a:cs typeface="Arial"/>
              </a:defRPr>
            </a:lvl8pPr>
            <a:lvl9pPr algn="l">
              <a:defRPr sz="1950" b="0">
                <a:solidFill>
                  <a:srgbClr val="192F43"/>
                </a:solidFill>
                <a:latin typeface="Arial"/>
                <a:ea typeface="Arial"/>
                <a:cs typeface="Arial"/>
              </a:defRPr>
            </a:lvl9pPr>
          </a:lstStyle>
          <a:p>
            <a:pPr algn="l">
              <a:lnSpc>
                <a:spcPct val="105000"/>
              </a:lnSpc>
              <a:buNone/>
              <a:defRPr sz="1950" b="0">
                <a:solidFill>
                  <a:srgbClr val="192F43"/>
                </a:solidFill>
                <a:latin typeface="Arial"/>
                <a:ea typeface="Arial"/>
                <a:cs typeface="Arial"/>
              </a:defRPr>
            </a:pPr>
            <a:r>
              <a:rPr sz="1950" b="0">
                <a:solidFill>
                  <a:srgbClr val="192F43"/>
                </a:solidFill>
                <a:latin typeface="Arial"/>
                <a:ea typeface="Arial"/>
                <a:cs typeface="Arial"/>
              </a:rPr>
              <a:t>MSE: trung bình bình phương sai số giữa ảnh và ảnh chuẩn.</a:t>
            </a:r>
          </a:p>
        </p:txBody>
      </p:sp>
      <p:sp>
        <p:nvSpPr>
          <p:cNvPr id="13" name="PSNR interpretation">
            <a:extLst>
              <a:ext uri="{FF2B5EF4-FFF2-40B4-BE49-F238E27FC236}">
                <a16:creationId xmlns:a16="http://schemas.microsoft.com/office/drawing/2014/main" id="{5C529CED-34B8-4848-A24A-DB26AAE9F7A2}"/>
              </a:ext>
            </a:extLst>
          </p:cNvPr>
          <p:cNvSpPr>
            <a:spLocks noGrp="1"/>
          </p:cNvSpPr>
          <p:nvPr/>
        </p:nvSpPr>
        <p:spPr>
          <a:xfrm>
            <a:off x="609600" y="4076700"/>
            <a:ext cx="10972800" cy="361950"/>
          </a:xfrm>
          <a:prstGeom prst="rect">
            <a:avLst/>
          </a:prstGeom>
          <a:noFill/>
          <a:ln w="0">
            <a:noFill/>
          </a:ln>
        </p:spPr>
        <p:txBody>
          <a:bodyPr wrap="square" lIns="0" tIns="0" rIns="0" bIns="0" anchor="t">
            <a:noAutofit/>
          </a:bodyPr>
          <a:lstStyle>
            <a:defPPr algn="l">
              <a:defRPr sz="1950" b="0">
                <a:solidFill>
                  <a:srgbClr val="192F43"/>
                </a:solidFill>
                <a:latin typeface="Arial"/>
                <a:ea typeface="Arial"/>
                <a:cs typeface="Arial"/>
              </a:defRPr>
            </a:defPPr>
            <a:lvl1pPr algn="l">
              <a:defRPr sz="1950" b="0">
                <a:solidFill>
                  <a:srgbClr val="192F43"/>
                </a:solidFill>
                <a:latin typeface="Arial"/>
                <a:ea typeface="Arial"/>
                <a:cs typeface="Arial"/>
              </a:defRPr>
            </a:lvl1pPr>
            <a:lvl2pPr algn="l">
              <a:defRPr sz="1950" b="0">
                <a:solidFill>
                  <a:srgbClr val="192F43"/>
                </a:solidFill>
                <a:latin typeface="Arial"/>
                <a:ea typeface="Arial"/>
                <a:cs typeface="Arial"/>
              </a:defRPr>
            </a:lvl2pPr>
            <a:lvl3pPr algn="l">
              <a:defRPr sz="1950" b="0">
                <a:solidFill>
                  <a:srgbClr val="192F43"/>
                </a:solidFill>
                <a:latin typeface="Arial"/>
                <a:ea typeface="Arial"/>
                <a:cs typeface="Arial"/>
              </a:defRPr>
            </a:lvl3pPr>
            <a:lvl4pPr algn="l">
              <a:defRPr sz="1950" b="0">
                <a:solidFill>
                  <a:srgbClr val="192F43"/>
                </a:solidFill>
                <a:latin typeface="Arial"/>
                <a:ea typeface="Arial"/>
                <a:cs typeface="Arial"/>
              </a:defRPr>
            </a:lvl4pPr>
            <a:lvl5pPr algn="l">
              <a:defRPr sz="1950" b="0">
                <a:solidFill>
                  <a:srgbClr val="192F43"/>
                </a:solidFill>
                <a:latin typeface="Arial"/>
                <a:ea typeface="Arial"/>
                <a:cs typeface="Arial"/>
              </a:defRPr>
            </a:lvl5pPr>
            <a:lvl6pPr algn="l">
              <a:defRPr sz="1950" b="0">
                <a:solidFill>
                  <a:srgbClr val="192F43"/>
                </a:solidFill>
                <a:latin typeface="Arial"/>
                <a:ea typeface="Arial"/>
                <a:cs typeface="Arial"/>
              </a:defRPr>
            </a:lvl6pPr>
            <a:lvl7pPr algn="l">
              <a:defRPr sz="1950" b="0">
                <a:solidFill>
                  <a:srgbClr val="192F43"/>
                </a:solidFill>
                <a:latin typeface="Arial"/>
                <a:ea typeface="Arial"/>
                <a:cs typeface="Arial"/>
              </a:defRPr>
            </a:lvl7pPr>
            <a:lvl8pPr algn="l">
              <a:defRPr sz="1950" b="0">
                <a:solidFill>
                  <a:srgbClr val="192F43"/>
                </a:solidFill>
                <a:latin typeface="Arial"/>
                <a:ea typeface="Arial"/>
                <a:cs typeface="Arial"/>
              </a:defRPr>
            </a:lvl8pPr>
            <a:lvl9pPr algn="l">
              <a:defRPr sz="1950" b="0">
                <a:solidFill>
                  <a:srgbClr val="192F43"/>
                </a:solidFill>
                <a:latin typeface="Arial"/>
                <a:ea typeface="Arial"/>
                <a:cs typeface="Arial"/>
              </a:defRPr>
            </a:lvl9pPr>
          </a:lstStyle>
          <a:p>
            <a:pPr algn="l">
              <a:lnSpc>
                <a:spcPct val="105000"/>
              </a:lnSpc>
              <a:buNone/>
              <a:defRPr sz="1950" b="0">
                <a:solidFill>
                  <a:srgbClr val="192F43"/>
                </a:solidFill>
                <a:latin typeface="Arial"/>
                <a:ea typeface="Arial"/>
                <a:cs typeface="Arial"/>
              </a:defRPr>
            </a:pPr>
            <a:r>
              <a:rPr sz="1950" b="0">
                <a:solidFill>
                  <a:srgbClr val="192F43"/>
                </a:solidFill>
                <a:latin typeface="Arial"/>
                <a:ea typeface="Arial"/>
                <a:cs typeface="Arial"/>
              </a:rPr>
              <a:t>255: mức cực đại uint8. PSNR cao hơn khi sai số nhỏ hơn.</a:t>
            </a:r>
          </a:p>
        </p:txBody>
      </p:sp>
      <p:sp>
        <p:nvSpPr>
          <p:cNvPr id="14" name="PSNR example">
            <a:extLst>
              <a:ext uri="{FF2B5EF4-FFF2-40B4-BE49-F238E27FC236}">
                <a16:creationId xmlns:a16="http://schemas.microsoft.com/office/drawing/2014/main" id="{71C4FBC3-E51A-4AFF-B989-B5C0F4C8F69C}"/>
              </a:ext>
            </a:extLst>
          </p:cNvPr>
          <p:cNvSpPr>
            <a:spLocks noGrp="1"/>
          </p:cNvSpPr>
          <p:nvPr/>
        </p:nvSpPr>
        <p:spPr>
          <a:xfrm>
            <a:off x="609600" y="4552950"/>
            <a:ext cx="10972800" cy="381000"/>
          </a:xfrm>
          <a:prstGeom prst="rect">
            <a:avLst/>
          </a:prstGeom>
          <a:noFill/>
          <a:ln w="0">
            <a:noFill/>
          </a:ln>
        </p:spPr>
        <p:txBody>
          <a:bodyPr wrap="square" lIns="0" tIns="0" rIns="0" bIns="0" anchor="t">
            <a:noAutofit/>
          </a:bodyPr>
          <a:lstStyle>
            <a:defPPr algn="l">
              <a:defRPr sz="2100" b="1">
                <a:solidFill>
                  <a:srgbClr val="267C83"/>
                </a:solidFill>
                <a:latin typeface="Arial"/>
                <a:ea typeface="Arial"/>
                <a:cs typeface="Arial"/>
              </a:defRPr>
            </a:defPPr>
            <a:lvl1pPr algn="l">
              <a:defRPr sz="2100" b="1">
                <a:solidFill>
                  <a:srgbClr val="267C83"/>
                </a:solidFill>
                <a:latin typeface="Arial"/>
                <a:ea typeface="Arial"/>
                <a:cs typeface="Arial"/>
              </a:defRPr>
            </a:lvl1pPr>
            <a:lvl2pPr algn="l">
              <a:defRPr sz="2100" b="1">
                <a:solidFill>
                  <a:srgbClr val="267C83"/>
                </a:solidFill>
                <a:latin typeface="Arial"/>
                <a:ea typeface="Arial"/>
                <a:cs typeface="Arial"/>
              </a:defRPr>
            </a:lvl2pPr>
            <a:lvl3pPr algn="l">
              <a:defRPr sz="2100" b="1">
                <a:solidFill>
                  <a:srgbClr val="267C83"/>
                </a:solidFill>
                <a:latin typeface="Arial"/>
                <a:ea typeface="Arial"/>
                <a:cs typeface="Arial"/>
              </a:defRPr>
            </a:lvl3pPr>
            <a:lvl4pPr algn="l">
              <a:defRPr sz="2100" b="1">
                <a:solidFill>
                  <a:srgbClr val="267C83"/>
                </a:solidFill>
                <a:latin typeface="Arial"/>
                <a:ea typeface="Arial"/>
                <a:cs typeface="Arial"/>
              </a:defRPr>
            </a:lvl4pPr>
            <a:lvl5pPr algn="l">
              <a:defRPr sz="2100" b="1">
                <a:solidFill>
                  <a:srgbClr val="267C83"/>
                </a:solidFill>
                <a:latin typeface="Arial"/>
                <a:ea typeface="Arial"/>
                <a:cs typeface="Arial"/>
              </a:defRPr>
            </a:lvl5pPr>
            <a:lvl6pPr algn="l">
              <a:defRPr sz="2100" b="1">
                <a:solidFill>
                  <a:srgbClr val="267C83"/>
                </a:solidFill>
                <a:latin typeface="Arial"/>
                <a:ea typeface="Arial"/>
                <a:cs typeface="Arial"/>
              </a:defRPr>
            </a:lvl6pPr>
            <a:lvl7pPr algn="l">
              <a:defRPr sz="2100" b="1">
                <a:solidFill>
                  <a:srgbClr val="267C83"/>
                </a:solidFill>
                <a:latin typeface="Arial"/>
                <a:ea typeface="Arial"/>
                <a:cs typeface="Arial"/>
              </a:defRPr>
            </a:lvl7pPr>
            <a:lvl8pPr algn="l">
              <a:defRPr sz="2100" b="1">
                <a:solidFill>
                  <a:srgbClr val="267C83"/>
                </a:solidFill>
                <a:latin typeface="Arial"/>
                <a:ea typeface="Arial"/>
                <a:cs typeface="Arial"/>
              </a:defRPr>
            </a:lvl8pPr>
            <a:lvl9pPr algn="l">
              <a:defRPr sz="2100" b="1">
                <a:solidFill>
                  <a:srgbClr val="267C83"/>
                </a:solidFill>
                <a:latin typeface="Arial"/>
                <a:ea typeface="Arial"/>
                <a:cs typeface="Arial"/>
              </a:defRPr>
            </a:lvl9pPr>
          </a:lstStyle>
          <a:p>
            <a:pPr algn="l">
              <a:lnSpc>
                <a:spcPct val="105000"/>
              </a:lnSpc>
              <a:buNone/>
              <a:defRPr sz="2100" b="1">
                <a:solidFill>
                  <a:srgbClr val="267C83"/>
                </a:solidFill>
                <a:latin typeface="Arial"/>
                <a:ea typeface="Arial"/>
                <a:cs typeface="Arial"/>
              </a:defRPr>
            </a:pPr>
            <a:r>
              <a:rPr sz="2100" b="1">
                <a:solidFill>
                  <a:srgbClr val="267C83"/>
                </a:solidFill>
                <a:latin typeface="Arial"/>
                <a:ea typeface="Arial"/>
                <a:cs typeface="Arial"/>
              </a:rPr>
              <a:t>Ví dụ: MSE = 100 thì PSNR ≈ 28,13 dB</a:t>
            </a:r>
          </a:p>
        </p:txBody>
      </p:sp>
      <p:sp>
        <p:nvSpPr>
          <p:cNvPr id="15" name="PSNR boundary">
            <a:extLst>
              <a:ext uri="{FF2B5EF4-FFF2-40B4-BE49-F238E27FC236}">
                <a16:creationId xmlns:a16="http://schemas.microsoft.com/office/drawing/2014/main" id="{E41D7839-EF2F-400D-89CA-02E556F14E4E}"/>
              </a:ext>
            </a:extLst>
          </p:cNvPr>
          <p:cNvSpPr>
            <a:spLocks noGrp="1"/>
          </p:cNvSpPr>
          <p:nvPr/>
        </p:nvSpPr>
        <p:spPr>
          <a:xfrm>
            <a:off x="609600" y="5105400"/>
            <a:ext cx="10972800" cy="600075"/>
          </a:xfrm>
          <a:prstGeom prst="rect">
            <a:avLst/>
          </a:prstGeom>
          <a:noFill/>
          <a:ln w="0">
            <a:noFill/>
          </a:ln>
        </p:spPr>
        <p:txBody>
          <a:bodyPr wrap="square" lIns="0" tIns="0" rIns="0" bIns="0" anchor="t">
            <a:noAutofit/>
          </a:bodyPr>
          <a:lstStyle>
            <a:defPPr algn="l">
              <a:defRPr sz="1725" b="0">
                <a:solidFill>
                  <a:srgbClr val="526779"/>
                </a:solidFill>
                <a:latin typeface="Arial"/>
                <a:ea typeface="Arial"/>
                <a:cs typeface="Arial"/>
              </a:defRPr>
            </a:defPPr>
            <a:lvl1pPr algn="l">
              <a:defRPr sz="1725" b="0">
                <a:solidFill>
                  <a:srgbClr val="526779"/>
                </a:solidFill>
                <a:latin typeface="Arial"/>
                <a:ea typeface="Arial"/>
                <a:cs typeface="Arial"/>
              </a:defRPr>
            </a:lvl1pPr>
            <a:lvl2pPr algn="l">
              <a:defRPr sz="1725" b="0">
                <a:solidFill>
                  <a:srgbClr val="526779"/>
                </a:solidFill>
                <a:latin typeface="Arial"/>
                <a:ea typeface="Arial"/>
                <a:cs typeface="Arial"/>
              </a:defRPr>
            </a:lvl2pPr>
            <a:lvl3pPr algn="l">
              <a:defRPr sz="1725" b="0">
                <a:solidFill>
                  <a:srgbClr val="526779"/>
                </a:solidFill>
                <a:latin typeface="Arial"/>
                <a:ea typeface="Arial"/>
                <a:cs typeface="Arial"/>
              </a:defRPr>
            </a:lvl3pPr>
            <a:lvl4pPr algn="l">
              <a:defRPr sz="1725" b="0">
                <a:solidFill>
                  <a:srgbClr val="526779"/>
                </a:solidFill>
                <a:latin typeface="Arial"/>
                <a:ea typeface="Arial"/>
                <a:cs typeface="Arial"/>
              </a:defRPr>
            </a:lvl4pPr>
            <a:lvl5pPr algn="l">
              <a:defRPr sz="1725" b="0">
                <a:solidFill>
                  <a:srgbClr val="526779"/>
                </a:solidFill>
                <a:latin typeface="Arial"/>
                <a:ea typeface="Arial"/>
                <a:cs typeface="Arial"/>
              </a:defRPr>
            </a:lvl5pPr>
            <a:lvl6pPr algn="l">
              <a:defRPr sz="1725" b="0">
                <a:solidFill>
                  <a:srgbClr val="526779"/>
                </a:solidFill>
                <a:latin typeface="Arial"/>
                <a:ea typeface="Arial"/>
                <a:cs typeface="Arial"/>
              </a:defRPr>
            </a:lvl6pPr>
            <a:lvl7pPr algn="l">
              <a:defRPr sz="1725" b="0">
                <a:solidFill>
                  <a:srgbClr val="526779"/>
                </a:solidFill>
                <a:latin typeface="Arial"/>
                <a:ea typeface="Arial"/>
                <a:cs typeface="Arial"/>
              </a:defRPr>
            </a:lvl7pPr>
            <a:lvl8pPr algn="l">
              <a:defRPr sz="1725" b="0">
                <a:solidFill>
                  <a:srgbClr val="526779"/>
                </a:solidFill>
                <a:latin typeface="Arial"/>
                <a:ea typeface="Arial"/>
                <a:cs typeface="Arial"/>
              </a:defRPr>
            </a:lvl8pPr>
            <a:lvl9pPr algn="l">
              <a:defRPr sz="1725" b="0">
                <a:solidFill>
                  <a:srgbClr val="526779"/>
                </a:solidFill>
                <a:latin typeface="Arial"/>
                <a:ea typeface="Arial"/>
                <a:cs typeface="Arial"/>
              </a:defRPr>
            </a:lvl9pPr>
          </a:lstStyle>
          <a:p>
            <a:pPr algn="l">
              <a:lnSpc>
                <a:spcPct val="105000"/>
              </a:lnSpc>
              <a:buNone/>
              <a:defRPr sz="1725" b="0">
                <a:solidFill>
                  <a:srgbClr val="526779"/>
                </a:solidFill>
                <a:latin typeface="Arial"/>
                <a:ea typeface="Arial"/>
                <a:cs typeface="Arial"/>
              </a:defRPr>
            </a:pPr>
            <a:r>
              <a:rPr sz="1725" b="0">
                <a:solidFill>
                  <a:srgbClr val="526779"/>
                </a:solidFill>
                <a:latin typeface="Arial"/>
                <a:ea typeface="Arial"/>
                <a:cs typeface="Arial"/>
              </a:rPr>
              <a:t>Cần ảnh chuẩn phù hợp. MSE gần 0: code quy ước 100 dB.</a:t>
            </a:r>
          </a:p>
          <a:p>
            <a:pPr algn="l">
              <a:lnSpc>
                <a:spcPct val="105000"/>
              </a:lnSpc>
              <a:buNone/>
              <a:defRPr sz="1725" b="0">
                <a:solidFill>
                  <a:srgbClr val="526779"/>
                </a:solidFill>
                <a:latin typeface="Arial"/>
                <a:ea typeface="Arial"/>
                <a:cs typeface="Arial"/>
              </a:defRPr>
            </a:pPr>
            <a:r>
              <a:rPr sz="1725" b="0">
                <a:solidFill>
                  <a:srgbClr val="526779"/>
                </a:solidFill>
                <a:latin typeface="Arial"/>
                <a:ea typeface="Arial"/>
                <a:cs typeface="Arial"/>
              </a:rPr>
              <a:t>Điểm nội bộ 0–100 là thước đo khác với PSNR.</a:t>
            </a:r>
          </a:p>
        </p:txBody>
      </p:sp>
    </p:spTree>
    <p:extLst>
      <p:ext uri="{BB962C8B-B14F-4D97-AF65-F5344CB8AC3E}">
        <p14:creationId xmlns:p14="http://schemas.microsoft.com/office/powerpoint/2010/main" val="1805981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cxnSp>
        <p:nvCxnSpPr>
          <p:cNvPr id="8" name="Straight Arrow Connector 7">
            <a:extLst>
              <a:ext uri="{FF2B5EF4-FFF2-40B4-BE49-F238E27FC236}">
                <a16:creationId xmlns:a16="http://schemas.microsoft.com/office/drawing/2014/main" id="{B106EC1F-2B61-413B-AF7A-8ACCFBF3F682}"/>
              </a:ext>
            </a:extLst>
          </p:cNvPr>
          <p:cNvCxnSpPr>
            <a:stCxn id="5" idx="3"/>
            <a:endCxn id="6" idx="1"/>
          </p:cNvCxnSpPr>
          <p:nvPr/>
        </p:nvCxnSpPr>
        <p:spPr>
          <a:xfrm>
            <a:off x="7620000" y="2562225"/>
            <a:ext cx="914400" cy="0"/>
          </a:xfrm>
          <a:prstGeom prst="straightConnector1">
            <a:avLst/>
          </a:prstGeom>
          <a:ln w="19050">
            <a:solidFill>
              <a:srgbClr val="617E8F"/>
            </a:solidFill>
            <a:tailEnd type="triangle" w="med" len="med"/>
          </a:ln>
        </p:spPr>
      </p:cxnSp>
      <p:cxnSp>
        <p:nvCxnSpPr>
          <p:cNvPr id="7" name="Straight Arrow Connector 6">
            <a:extLst>
              <a:ext uri="{FF2B5EF4-FFF2-40B4-BE49-F238E27FC236}">
                <a16:creationId xmlns:a16="http://schemas.microsoft.com/office/drawing/2014/main" id="{47799B26-46FC-4172-B607-C0082D71662B}"/>
              </a:ext>
            </a:extLst>
          </p:cNvPr>
          <p:cNvCxnSpPr>
            <a:stCxn id="4" idx="3"/>
            <a:endCxn id="5" idx="1"/>
          </p:cNvCxnSpPr>
          <p:nvPr/>
        </p:nvCxnSpPr>
        <p:spPr>
          <a:xfrm>
            <a:off x="3657600" y="2562225"/>
            <a:ext cx="914400" cy="0"/>
          </a:xfrm>
          <a:prstGeom prst="straightConnector1">
            <a:avLst/>
          </a:prstGeom>
          <a:ln w="19050">
            <a:solidFill>
              <a:srgbClr val="617E8F"/>
            </a:solidFill>
            <a:tailEnd type="triangle" w="med" len="med"/>
          </a:ln>
        </p:spPr>
      </p:cxnSp>
      <p:sp>
        <p:nvSpPr>
          <p:cNvPr id="12" name="Rectangle 11">
            <a:extLst>
              <a:ext uri="{FF2B5EF4-FFF2-40B4-BE49-F238E27FC236}">
                <a16:creationId xmlns:a16="http://schemas.microsoft.com/office/drawing/2014/main" id="{1159D245-5782-4FD9-8F38-582F5C3D16CD}"/>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2  VÙNG VÀ MẶT NẠ</a:t>
            </a:r>
          </a:p>
        </p:txBody>
      </p:sp>
      <p:sp>
        <p:nvSpPr>
          <p:cNvPr id="2" name="Rectangle 1">
            <a:extLst>
              <a:ext uri="{FF2B5EF4-FFF2-40B4-BE49-F238E27FC236}">
                <a16:creationId xmlns:a16="http://schemas.microsoft.com/office/drawing/2014/main" id="{A8315555-DA1A-4AEB-B339-F59FCA886C60}"/>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Yêu cầu vùng được chuyển thành mask</a:t>
            </a:r>
          </a:p>
        </p:txBody>
      </p:sp>
      <p:sp>
        <p:nvSpPr>
          <p:cNvPr id="3" name="Rectangle 2">
            <a:extLst>
              <a:ext uri="{FF2B5EF4-FFF2-40B4-BE49-F238E27FC236}">
                <a16:creationId xmlns:a16="http://schemas.microsoft.com/office/drawing/2014/main" id="{63D00EF0-F3A7-4DC5-82D2-4A9D9EDE4F6D}"/>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06</a:t>
            </a:r>
          </a:p>
        </p:txBody>
      </p:sp>
      <p:sp>
        <p:nvSpPr>
          <p:cNvPr id="4" name="Rectangle 3">
            <a:extLst>
              <a:ext uri="{FF2B5EF4-FFF2-40B4-BE49-F238E27FC236}">
                <a16:creationId xmlns:a16="http://schemas.microsoft.com/office/drawing/2014/main" id="{E03117C0-9FB0-46BA-AF4A-7BA77062D9FF}"/>
              </a:ext>
            </a:extLst>
          </p:cNvPr>
          <p:cNvSpPr>
            <a:spLocks noGrp="1"/>
          </p:cNvSpPr>
          <p:nvPr/>
        </p:nvSpPr>
        <p:spPr>
          <a:xfrm>
            <a:off x="609600" y="1819275"/>
            <a:ext cx="3048000" cy="14859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Yêu cầu vùng</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Tên vùng hoặc đối tượng</a:t>
            </a:r>
            <a:br>
              <a:rPr sz="1800">
                <a:solidFill>
                  <a:srgbClr val="192F43"/>
                </a:solidFill>
                <a:latin typeface="Arial"/>
                <a:ea typeface="Arial"/>
                <a:cs typeface="Arial"/>
              </a:rPr>
            </a:br>
            <a:r>
              <a:rPr sz="1800">
                <a:solidFill>
                  <a:srgbClr val="192F43"/>
                </a:solidFill>
                <a:latin typeface="Arial"/>
                <a:ea typeface="Arial"/>
                <a:cs typeface="Arial"/>
              </a:rPr>
              <a:t>Bbox tùy chọn</a:t>
            </a:r>
          </a:p>
        </p:txBody>
      </p:sp>
      <p:sp>
        <p:nvSpPr>
          <p:cNvPr id="5" name="Rectangle 4">
            <a:extLst>
              <a:ext uri="{FF2B5EF4-FFF2-40B4-BE49-F238E27FC236}">
                <a16:creationId xmlns:a16="http://schemas.microsoft.com/office/drawing/2014/main" id="{8B8EB2BA-0AA4-4F3C-A026-5E0D9DC2CAD4}"/>
              </a:ext>
            </a:extLst>
          </p:cNvPr>
          <p:cNvSpPr>
            <a:spLocks noGrp="1"/>
          </p:cNvSpPr>
          <p:nvPr/>
        </p:nvSpPr>
        <p:spPr>
          <a:xfrm>
            <a:off x="4572000" y="1819275"/>
            <a:ext cx="3048000" cy="14859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Region Engine</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Chọn backend</a:t>
            </a:r>
            <a:br>
              <a:rPr sz="1800">
                <a:solidFill>
                  <a:srgbClr val="192F43"/>
                </a:solidFill>
                <a:latin typeface="Arial"/>
                <a:ea typeface="Arial"/>
                <a:cs typeface="Arial"/>
              </a:rPr>
            </a:br>
            <a:r>
              <a:rPr sz="1800">
                <a:solidFill>
                  <a:srgbClr val="192F43"/>
                </a:solidFill>
                <a:latin typeface="Arial"/>
                <a:ea typeface="Arial"/>
                <a:cs typeface="Arial"/>
              </a:rPr>
              <a:t>Tạo và làm mềm mask</a:t>
            </a:r>
          </a:p>
        </p:txBody>
      </p:sp>
      <p:sp>
        <p:nvSpPr>
          <p:cNvPr id="6" name="Rectangle 5">
            <a:extLst>
              <a:ext uri="{FF2B5EF4-FFF2-40B4-BE49-F238E27FC236}">
                <a16:creationId xmlns:a16="http://schemas.microsoft.com/office/drawing/2014/main" id="{314486E4-C6EA-4AFA-A928-CAF45BA9CF42}"/>
              </a:ext>
            </a:extLst>
          </p:cNvPr>
          <p:cNvSpPr>
            <a:spLocks noGrp="1"/>
          </p:cNvSpPr>
          <p:nvPr/>
        </p:nvSpPr>
        <p:spPr>
          <a:xfrm>
            <a:off x="8534400" y="1819275"/>
            <a:ext cx="3048000" cy="1485900"/>
          </a:xfrm>
          <a:prstGeom prst="rect">
            <a:avLst/>
          </a:prstGeom>
          <a:solidFill>
            <a:srgbClr val="E3F1F0"/>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Mask đầu ra</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float32 trong [0, 1]</a:t>
            </a:r>
            <a:br>
              <a:rPr sz="1800">
                <a:solidFill>
                  <a:srgbClr val="192F43"/>
                </a:solidFill>
                <a:latin typeface="Arial"/>
                <a:ea typeface="Arial"/>
                <a:cs typeface="Arial"/>
              </a:rPr>
            </a:br>
            <a:r>
              <a:rPr sz="1800">
                <a:solidFill>
                  <a:srgbClr val="192F43"/>
                </a:solidFill>
                <a:latin typeface="Arial"/>
                <a:ea typeface="Arial"/>
                <a:cs typeface="Arial"/>
              </a:rPr>
              <a:t>Cùng kích thước ảnh</a:t>
            </a:r>
          </a:p>
        </p:txBody>
      </p:sp>
      <p:sp>
        <p:nvSpPr>
          <p:cNvPr id="9" name="Rectangle 8">
            <a:extLst>
              <a:ext uri="{FF2B5EF4-FFF2-40B4-BE49-F238E27FC236}">
                <a16:creationId xmlns:a16="http://schemas.microsoft.com/office/drawing/2014/main" id="{09475D2A-73D8-49C2-B825-7F9914EA2EFB}"/>
              </a:ext>
            </a:extLst>
          </p:cNvPr>
          <p:cNvSpPr>
            <a:spLocks noGrp="1"/>
          </p:cNvSpPr>
          <p:nvPr/>
        </p:nvSpPr>
        <p:spPr>
          <a:xfrm>
            <a:off x="609600" y="4057650"/>
            <a:ext cx="10858500" cy="400050"/>
          </a:xfrm>
          <a:prstGeom prst="rect">
            <a:avLst/>
          </a:prstGeom>
          <a:noFill/>
          <a:ln w="0">
            <a:noFill/>
          </a:ln>
        </p:spPr>
        <p:txBody>
          <a:bodyPr wrap="square" lIns="0" tIns="0" rIns="0" bIns="0" anchor="t">
            <a:noAutofit/>
          </a:bodyPr>
          <a:lstStyle>
            <a:defPPr algn="l">
              <a:defRPr sz="2175" b="1">
                <a:solidFill>
                  <a:srgbClr val="192F43"/>
                </a:solidFill>
                <a:latin typeface="Arial"/>
                <a:ea typeface="Arial"/>
                <a:cs typeface="Arial"/>
              </a:defRPr>
            </a:defPPr>
            <a:lvl1pPr algn="l">
              <a:defRPr sz="2175" b="1">
                <a:solidFill>
                  <a:srgbClr val="192F43"/>
                </a:solidFill>
                <a:latin typeface="Arial"/>
                <a:ea typeface="Arial"/>
                <a:cs typeface="Arial"/>
              </a:defRPr>
            </a:lvl1pPr>
            <a:lvl2pPr algn="l">
              <a:defRPr sz="2175" b="1">
                <a:solidFill>
                  <a:srgbClr val="192F43"/>
                </a:solidFill>
                <a:latin typeface="Arial"/>
                <a:ea typeface="Arial"/>
                <a:cs typeface="Arial"/>
              </a:defRPr>
            </a:lvl2pPr>
            <a:lvl3pPr algn="l">
              <a:defRPr sz="2175" b="1">
                <a:solidFill>
                  <a:srgbClr val="192F43"/>
                </a:solidFill>
                <a:latin typeface="Arial"/>
                <a:ea typeface="Arial"/>
                <a:cs typeface="Arial"/>
              </a:defRPr>
            </a:lvl3pPr>
            <a:lvl4pPr algn="l">
              <a:defRPr sz="2175" b="1">
                <a:solidFill>
                  <a:srgbClr val="192F43"/>
                </a:solidFill>
                <a:latin typeface="Arial"/>
                <a:ea typeface="Arial"/>
                <a:cs typeface="Arial"/>
              </a:defRPr>
            </a:lvl4pPr>
            <a:lvl5pPr algn="l">
              <a:defRPr sz="2175" b="1">
                <a:solidFill>
                  <a:srgbClr val="192F43"/>
                </a:solidFill>
                <a:latin typeface="Arial"/>
                <a:ea typeface="Arial"/>
                <a:cs typeface="Arial"/>
              </a:defRPr>
            </a:lvl5pPr>
            <a:lvl6pPr algn="l">
              <a:defRPr sz="2175" b="1">
                <a:solidFill>
                  <a:srgbClr val="192F43"/>
                </a:solidFill>
                <a:latin typeface="Arial"/>
                <a:ea typeface="Arial"/>
                <a:cs typeface="Arial"/>
              </a:defRPr>
            </a:lvl6pPr>
            <a:lvl7pPr algn="l">
              <a:defRPr sz="2175" b="1">
                <a:solidFill>
                  <a:srgbClr val="192F43"/>
                </a:solidFill>
                <a:latin typeface="Arial"/>
                <a:ea typeface="Arial"/>
                <a:cs typeface="Arial"/>
              </a:defRPr>
            </a:lvl7pPr>
            <a:lvl8pPr algn="l">
              <a:defRPr sz="2175" b="1">
                <a:solidFill>
                  <a:srgbClr val="192F43"/>
                </a:solidFill>
                <a:latin typeface="Arial"/>
                <a:ea typeface="Arial"/>
                <a:cs typeface="Arial"/>
              </a:defRPr>
            </a:lvl8pPr>
            <a:lvl9pPr algn="l">
              <a:defRPr sz="2175" b="1">
                <a:solidFill>
                  <a:srgbClr val="192F43"/>
                </a:solidFill>
                <a:latin typeface="Arial"/>
                <a:ea typeface="Arial"/>
                <a:cs typeface="Arial"/>
              </a:defRPr>
            </a:lvl9pPr>
          </a:lstStyle>
          <a:p>
            <a:pPr algn="l">
              <a:lnSpc>
                <a:spcPct val="107000"/>
              </a:lnSpc>
              <a:buNone/>
              <a:defRPr sz="2175" b="1">
                <a:solidFill>
                  <a:srgbClr val="192F43"/>
                </a:solidFill>
                <a:latin typeface="Arial"/>
                <a:ea typeface="Arial"/>
                <a:cs typeface="Arial"/>
              </a:defRPr>
            </a:pPr>
            <a:r>
              <a:rPr sz="2175" b="1">
                <a:solidFill>
                  <a:srgbClr val="192F43"/>
                </a:solidFill>
                <a:latin typeface="Arial"/>
                <a:ea typeface="Arial"/>
                <a:cs typeface="Arial"/>
              </a:rPr>
              <a:t>Vùng hỗ trợ</a:t>
            </a:r>
          </a:p>
        </p:txBody>
      </p:sp>
      <p:sp>
        <p:nvSpPr>
          <p:cNvPr id="10" name="Rectangle 9">
            <a:extLst>
              <a:ext uri="{FF2B5EF4-FFF2-40B4-BE49-F238E27FC236}">
                <a16:creationId xmlns:a16="http://schemas.microsoft.com/office/drawing/2014/main" id="{B1530FD9-E53F-4147-9D22-8B32DFEB5E71}"/>
              </a:ext>
            </a:extLst>
          </p:cNvPr>
          <p:cNvSpPr>
            <a:spLocks noGrp="1"/>
          </p:cNvSpPr>
          <p:nvPr/>
        </p:nvSpPr>
        <p:spPr>
          <a:xfrm>
            <a:off x="609600" y="4495800"/>
            <a:ext cx="10858500" cy="952500"/>
          </a:xfrm>
          <a:prstGeom prst="rect">
            <a:avLst/>
          </a:prstGeom>
          <a:noFill/>
          <a:ln w="0">
            <a:noFill/>
          </a:ln>
        </p:spPr>
        <p:txBody>
          <a:bodyPr wrap="square" lIns="0" tIns="0" rIns="0" bIns="0" anchor="t">
            <a:noAutofit/>
          </a:bodyPr>
          <a:lstStyle>
            <a:defPPr algn="l">
              <a:defRPr sz="2025" b="0">
                <a:solidFill>
                  <a:srgbClr val="526779"/>
                </a:solidFill>
                <a:latin typeface="Arial"/>
                <a:ea typeface="Arial"/>
                <a:cs typeface="Arial"/>
              </a:defRPr>
            </a:defPPr>
            <a:lvl1pPr algn="l">
              <a:defRPr sz="2025" b="0">
                <a:solidFill>
                  <a:srgbClr val="526779"/>
                </a:solidFill>
                <a:latin typeface="Arial"/>
                <a:ea typeface="Arial"/>
                <a:cs typeface="Arial"/>
              </a:defRPr>
            </a:lvl1pPr>
            <a:lvl2pPr algn="l">
              <a:defRPr sz="2025" b="0">
                <a:solidFill>
                  <a:srgbClr val="526779"/>
                </a:solidFill>
                <a:latin typeface="Arial"/>
                <a:ea typeface="Arial"/>
                <a:cs typeface="Arial"/>
              </a:defRPr>
            </a:lvl2pPr>
            <a:lvl3pPr algn="l">
              <a:defRPr sz="2025" b="0">
                <a:solidFill>
                  <a:srgbClr val="526779"/>
                </a:solidFill>
                <a:latin typeface="Arial"/>
                <a:ea typeface="Arial"/>
                <a:cs typeface="Arial"/>
              </a:defRPr>
            </a:lvl3pPr>
            <a:lvl4pPr algn="l">
              <a:defRPr sz="2025" b="0">
                <a:solidFill>
                  <a:srgbClr val="526779"/>
                </a:solidFill>
                <a:latin typeface="Arial"/>
                <a:ea typeface="Arial"/>
                <a:cs typeface="Arial"/>
              </a:defRPr>
            </a:lvl4pPr>
            <a:lvl5pPr algn="l">
              <a:defRPr sz="2025" b="0">
                <a:solidFill>
                  <a:srgbClr val="526779"/>
                </a:solidFill>
                <a:latin typeface="Arial"/>
                <a:ea typeface="Arial"/>
                <a:cs typeface="Arial"/>
              </a:defRPr>
            </a:lvl5pPr>
            <a:lvl6pPr algn="l">
              <a:defRPr sz="2025" b="0">
                <a:solidFill>
                  <a:srgbClr val="526779"/>
                </a:solidFill>
                <a:latin typeface="Arial"/>
                <a:ea typeface="Arial"/>
                <a:cs typeface="Arial"/>
              </a:defRPr>
            </a:lvl6pPr>
            <a:lvl7pPr algn="l">
              <a:defRPr sz="2025" b="0">
                <a:solidFill>
                  <a:srgbClr val="526779"/>
                </a:solidFill>
                <a:latin typeface="Arial"/>
                <a:ea typeface="Arial"/>
                <a:cs typeface="Arial"/>
              </a:defRPr>
            </a:lvl7pPr>
            <a:lvl8pPr algn="l">
              <a:defRPr sz="2025" b="0">
                <a:solidFill>
                  <a:srgbClr val="526779"/>
                </a:solidFill>
                <a:latin typeface="Arial"/>
                <a:ea typeface="Arial"/>
                <a:cs typeface="Arial"/>
              </a:defRPr>
            </a:lvl8pPr>
            <a:lvl9pPr algn="l">
              <a:defRPr sz="2025" b="0">
                <a:solidFill>
                  <a:srgbClr val="526779"/>
                </a:solidFill>
                <a:latin typeface="Arial"/>
                <a:ea typeface="Arial"/>
                <a:cs typeface="Arial"/>
              </a:defRPr>
            </a:lvl9pPr>
          </a:lstStyle>
          <a:p>
            <a:pPr algn="l">
              <a:lnSpc>
                <a:spcPct val="107000"/>
              </a:lnSpc>
              <a:buNone/>
              <a:defRPr sz="2025" b="0">
                <a:solidFill>
                  <a:srgbClr val="526779"/>
                </a:solidFill>
                <a:latin typeface="Arial"/>
                <a:ea typeface="Arial"/>
                <a:cs typeface="Arial"/>
              </a:defRPr>
            </a:pPr>
            <a:r>
              <a:rPr sz="2025" b="0">
                <a:solidFill>
                  <a:srgbClr val="526779"/>
                </a:solidFill>
                <a:latin typeface="Arial"/>
                <a:ea typeface="Arial"/>
                <a:cs typeface="Arial"/>
              </a:rPr>
              <a:t>Toàn ảnh, vùng vị trí, khuôn mặt, đối tượng ngữ nghĩa</a:t>
            </a:r>
          </a:p>
        </p:txBody>
      </p:sp>
      <p:sp>
        <p:nvSpPr>
          <p:cNvPr id="11" name="Rectangle 10">
            <a:extLst>
              <a:ext uri="{FF2B5EF4-FFF2-40B4-BE49-F238E27FC236}">
                <a16:creationId xmlns:a16="http://schemas.microsoft.com/office/drawing/2014/main" id="{195FEB3F-0B9D-48C4-AF31-F781A91A4814}"/>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Module 4 cung cấp mục tiêu xử lý. Module 2 tạo mask để Module 3 giới hạn tác động.</a:t>
            </a:r>
          </a:p>
        </p:txBody>
      </p:sp>
    </p:spTree>
    <p:extLst>
      <p:ext uri="{BB962C8B-B14F-4D97-AF65-F5344CB8AC3E}">
        <p14:creationId xmlns:p14="http://schemas.microsoft.com/office/powerpoint/2010/main" val="19628752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6B50CFFF-CC9D-46F8-B6A4-879FB0D739D8}"/>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2  VÙNG VÀ MẶT NẠ</a:t>
            </a:r>
          </a:p>
        </p:txBody>
      </p:sp>
      <p:sp>
        <p:nvSpPr>
          <p:cNvPr id="2" name="Rectangle 1">
            <a:extLst>
              <a:ext uri="{FF2B5EF4-FFF2-40B4-BE49-F238E27FC236}">
                <a16:creationId xmlns:a16="http://schemas.microsoft.com/office/drawing/2014/main" id="{16F2CF59-DACC-46E4-898D-1F1075DED9D2}"/>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Định vị vùng theo mục tiêu và asset</a:t>
            </a:r>
          </a:p>
        </p:txBody>
      </p:sp>
      <p:sp>
        <p:nvSpPr>
          <p:cNvPr id="3" name="Rectangle 2">
            <a:extLst>
              <a:ext uri="{FF2B5EF4-FFF2-40B4-BE49-F238E27FC236}">
                <a16:creationId xmlns:a16="http://schemas.microsoft.com/office/drawing/2014/main" id="{EE943658-BA5B-409F-9DF5-49B5307B7722}"/>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07</a:t>
            </a:r>
          </a:p>
        </p:txBody>
      </p:sp>
      <p:sp>
        <p:nvSpPr>
          <p:cNvPr id="4" name="Rectangle 3">
            <a:extLst>
              <a:ext uri="{FF2B5EF4-FFF2-40B4-BE49-F238E27FC236}">
                <a16:creationId xmlns:a16="http://schemas.microsoft.com/office/drawing/2014/main" id="{4E4A7133-9289-410E-BBD7-C309044EBCB0}"/>
              </a:ext>
            </a:extLst>
          </p:cNvPr>
          <p:cNvSpPr>
            <a:spLocks noGrp="1"/>
          </p:cNvSpPr>
          <p:nvPr/>
        </p:nvSpPr>
        <p:spPr>
          <a:xfrm>
            <a:off x="4095750" y="1562100"/>
            <a:ext cx="4000500" cy="100965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Chọn đường tạo vùng</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Ảnh, loại vùng và model local</a:t>
            </a:r>
          </a:p>
        </p:txBody>
      </p:sp>
      <p:cxnSp>
        <p:nvCxnSpPr>
          <p:cNvPr id="5" name="Straight Arrow Connector 4">
            <a:extLst>
              <a:ext uri="{FF2B5EF4-FFF2-40B4-BE49-F238E27FC236}">
                <a16:creationId xmlns:a16="http://schemas.microsoft.com/office/drawing/2014/main" id="{E07460A7-C6C0-43D8-8EB1-1931B51CDB3A}"/>
              </a:ext>
            </a:extLst>
          </p:cNvPr>
          <p:cNvCxnSpPr/>
          <p:nvPr/>
        </p:nvCxnSpPr>
        <p:spPr>
          <a:xfrm>
            <a:off x="6096000" y="2571750"/>
            <a:ext cx="0" cy="447675"/>
          </a:xfrm>
          <a:prstGeom prst="straightConnector1">
            <a:avLst/>
          </a:prstGeom>
          <a:ln w="19050">
            <a:solidFill>
              <a:srgbClr val="617E8F"/>
            </a:solidFill>
          </a:ln>
        </p:spPr>
      </p:cxnSp>
      <p:cxnSp>
        <p:nvCxnSpPr>
          <p:cNvPr id="6" name="Straight Arrow Connector 5">
            <a:extLst>
              <a:ext uri="{FF2B5EF4-FFF2-40B4-BE49-F238E27FC236}">
                <a16:creationId xmlns:a16="http://schemas.microsoft.com/office/drawing/2014/main" id="{69D71886-5ADF-4B32-9003-9CE54EE884D4}"/>
              </a:ext>
            </a:extLst>
          </p:cNvPr>
          <p:cNvCxnSpPr/>
          <p:nvPr/>
        </p:nvCxnSpPr>
        <p:spPr>
          <a:xfrm>
            <a:off x="2133600" y="3019425"/>
            <a:ext cx="7924800" cy="0"/>
          </a:xfrm>
          <a:prstGeom prst="straightConnector1">
            <a:avLst/>
          </a:prstGeom>
          <a:ln w="19050">
            <a:solidFill>
              <a:srgbClr val="617E8F"/>
            </a:solidFill>
          </a:ln>
        </p:spPr>
      </p:cxnSp>
      <p:cxnSp>
        <p:nvCxnSpPr>
          <p:cNvPr id="7" name="Straight Arrow Connector 6">
            <a:extLst>
              <a:ext uri="{FF2B5EF4-FFF2-40B4-BE49-F238E27FC236}">
                <a16:creationId xmlns:a16="http://schemas.microsoft.com/office/drawing/2014/main" id="{C6FD2F6F-DE7C-49A7-98A1-9FDB1444D6EF}"/>
              </a:ext>
            </a:extLst>
          </p:cNvPr>
          <p:cNvCxnSpPr/>
          <p:nvPr/>
        </p:nvCxnSpPr>
        <p:spPr>
          <a:xfrm>
            <a:off x="2133600" y="3019425"/>
            <a:ext cx="0" cy="485775"/>
          </a:xfrm>
          <a:prstGeom prst="straightConnector1">
            <a:avLst/>
          </a:prstGeom>
          <a:ln w="19050">
            <a:solidFill>
              <a:srgbClr val="617E8F"/>
            </a:solidFill>
            <a:tailEnd type="triangle" w="med" len="med"/>
          </a:ln>
        </p:spPr>
      </p:cxnSp>
      <p:cxnSp>
        <p:nvCxnSpPr>
          <p:cNvPr id="8" name="Straight Arrow Connector 7">
            <a:extLst>
              <a:ext uri="{FF2B5EF4-FFF2-40B4-BE49-F238E27FC236}">
                <a16:creationId xmlns:a16="http://schemas.microsoft.com/office/drawing/2014/main" id="{BE29E8BA-6422-4A07-87E6-D8A79256601F}"/>
              </a:ext>
            </a:extLst>
          </p:cNvPr>
          <p:cNvCxnSpPr/>
          <p:nvPr/>
        </p:nvCxnSpPr>
        <p:spPr>
          <a:xfrm>
            <a:off x="6096000" y="3019425"/>
            <a:ext cx="0" cy="485775"/>
          </a:xfrm>
          <a:prstGeom prst="straightConnector1">
            <a:avLst/>
          </a:prstGeom>
          <a:ln w="19050">
            <a:solidFill>
              <a:srgbClr val="617E8F"/>
            </a:solidFill>
            <a:tailEnd type="triangle" w="med" len="med"/>
          </a:ln>
        </p:spPr>
      </p:cxnSp>
      <p:cxnSp>
        <p:nvCxnSpPr>
          <p:cNvPr id="9" name="Straight Arrow Connector 8">
            <a:extLst>
              <a:ext uri="{FF2B5EF4-FFF2-40B4-BE49-F238E27FC236}">
                <a16:creationId xmlns:a16="http://schemas.microsoft.com/office/drawing/2014/main" id="{ADEE8BBF-010E-4F17-B6BF-45BA7AFEF6E8}"/>
              </a:ext>
            </a:extLst>
          </p:cNvPr>
          <p:cNvCxnSpPr/>
          <p:nvPr/>
        </p:nvCxnSpPr>
        <p:spPr>
          <a:xfrm>
            <a:off x="10058400" y="3019425"/>
            <a:ext cx="0" cy="485775"/>
          </a:xfrm>
          <a:prstGeom prst="straightConnector1">
            <a:avLst/>
          </a:prstGeom>
          <a:ln w="19050">
            <a:solidFill>
              <a:srgbClr val="617E8F"/>
            </a:solidFill>
            <a:tailEnd type="triangle" w="med" len="med"/>
          </a:ln>
        </p:spPr>
      </p:cxnSp>
      <p:sp>
        <p:nvSpPr>
          <p:cNvPr id="10" name="Rectangle 9">
            <a:extLst>
              <a:ext uri="{FF2B5EF4-FFF2-40B4-BE49-F238E27FC236}">
                <a16:creationId xmlns:a16="http://schemas.microsoft.com/office/drawing/2014/main" id="{61B10943-1FBE-4DB7-97AC-C05669047CF4}"/>
              </a:ext>
            </a:extLst>
          </p:cNvPr>
          <p:cNvSpPr>
            <a:spLocks noGrp="1"/>
          </p:cNvSpPr>
          <p:nvPr/>
        </p:nvSpPr>
        <p:spPr>
          <a:xfrm>
            <a:off x="609600" y="3505200"/>
            <a:ext cx="3048000" cy="15240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MediaPipe</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Khuôn mặt</a:t>
            </a:r>
            <a:br>
              <a:rPr sz="1800">
                <a:solidFill>
                  <a:srgbClr val="192F43"/>
                </a:solidFill>
                <a:latin typeface="Arial"/>
                <a:ea typeface="Arial"/>
                <a:cs typeface="Arial"/>
              </a:rPr>
            </a:br>
            <a:r>
              <a:rPr sz="1800">
                <a:solidFill>
                  <a:srgbClr val="192F43"/>
                </a:solidFill>
                <a:latin typeface="Arial"/>
                <a:ea typeface="Arial"/>
                <a:cs typeface="Arial"/>
              </a:rPr>
              <a:t>Oval khi có Landmarker</a:t>
            </a:r>
          </a:p>
        </p:txBody>
      </p:sp>
      <p:sp>
        <p:nvSpPr>
          <p:cNvPr id="11" name="Rectangle 10">
            <a:extLst>
              <a:ext uri="{FF2B5EF4-FFF2-40B4-BE49-F238E27FC236}">
                <a16:creationId xmlns:a16="http://schemas.microsoft.com/office/drawing/2014/main" id="{AEE8F857-1E7F-4B8B-BF91-F0C099DE2469}"/>
              </a:ext>
            </a:extLst>
          </p:cNvPr>
          <p:cNvSpPr>
            <a:spLocks noGrp="1"/>
          </p:cNvSpPr>
          <p:nvPr/>
        </p:nvSpPr>
        <p:spPr>
          <a:xfrm>
            <a:off x="4572000" y="3505200"/>
            <a:ext cx="3048000" cy="1524000"/>
          </a:xfrm>
          <a:prstGeom prst="rect">
            <a:avLst/>
          </a:prstGeom>
          <a:solidFill>
            <a:srgbClr val="E3F1F0"/>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GroundingDINO + SAM</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Vùng ngữ nghĩa</a:t>
            </a:r>
            <a:br>
              <a:rPr sz="1800">
                <a:solidFill>
                  <a:srgbClr val="192F43"/>
                </a:solidFill>
                <a:latin typeface="Arial"/>
                <a:ea typeface="Arial"/>
                <a:cs typeface="Arial"/>
              </a:rPr>
            </a:br>
            <a:r>
              <a:rPr sz="1800">
                <a:solidFill>
                  <a:srgbClr val="192F43"/>
                </a:solidFill>
                <a:latin typeface="Arial"/>
                <a:ea typeface="Arial"/>
                <a:cs typeface="Arial"/>
              </a:rPr>
              <a:t>Bbox rồi mặt nạ</a:t>
            </a:r>
          </a:p>
        </p:txBody>
      </p:sp>
      <p:sp>
        <p:nvSpPr>
          <p:cNvPr id="12" name="Rectangle 11">
            <a:extLst>
              <a:ext uri="{FF2B5EF4-FFF2-40B4-BE49-F238E27FC236}">
                <a16:creationId xmlns:a16="http://schemas.microsoft.com/office/drawing/2014/main" id="{0337456A-A7B6-4794-9E31-49384A375D35}"/>
              </a:ext>
            </a:extLst>
          </p:cNvPr>
          <p:cNvSpPr>
            <a:spLocks noGrp="1"/>
          </p:cNvSpPr>
          <p:nvPr/>
        </p:nvSpPr>
        <p:spPr>
          <a:xfrm>
            <a:off x="8534400" y="3505200"/>
            <a:ext cx="3048000" cy="1524000"/>
          </a:xfrm>
          <a:prstGeom prst="rect">
            <a:avLst/>
          </a:prstGeom>
          <a:solidFill>
            <a:srgbClr val="F9EFDF"/>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GrabCut</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Khởi tạo bằng bbox</a:t>
            </a:r>
            <a:br>
              <a:rPr sz="1800">
                <a:solidFill>
                  <a:srgbClr val="192F43"/>
                </a:solidFill>
                <a:latin typeface="Arial"/>
                <a:ea typeface="Arial"/>
                <a:cs typeface="Arial"/>
              </a:rPr>
            </a:br>
            <a:r>
              <a:rPr sz="1800">
                <a:solidFill>
                  <a:srgbClr val="192F43"/>
                </a:solidFill>
                <a:latin typeface="Arial"/>
                <a:ea typeface="Arial"/>
                <a:cs typeface="Arial"/>
              </a:rPr>
              <a:t>Khi thiếu model ngữ nghĩa</a:t>
            </a:r>
          </a:p>
        </p:txBody>
      </p:sp>
      <p:sp>
        <p:nvSpPr>
          <p:cNvPr id="13" name="Rectangle 12">
            <a:extLst>
              <a:ext uri="{FF2B5EF4-FFF2-40B4-BE49-F238E27FC236}">
                <a16:creationId xmlns:a16="http://schemas.microsoft.com/office/drawing/2014/main" id="{1D7577CD-D4A9-4664-BB53-121EAB0A196E}"/>
              </a:ext>
            </a:extLst>
          </p:cNvPr>
          <p:cNvSpPr>
            <a:spLocks noGrp="1"/>
          </p:cNvSpPr>
          <p:nvPr/>
        </p:nvSpPr>
        <p:spPr>
          <a:xfrm>
            <a:off x="609600" y="5476875"/>
            <a:ext cx="10858500" cy="447675"/>
          </a:xfrm>
          <a:prstGeom prst="rect">
            <a:avLst/>
          </a:prstGeom>
          <a:noFill/>
          <a:ln w="0">
            <a:noFill/>
          </a:ln>
        </p:spPr>
        <p:txBody>
          <a:bodyPr wrap="square" lIns="0" tIns="0" rIns="0" bIns="0" anchor="t">
            <a:noAutofit/>
          </a:bodyPr>
          <a:lstStyle>
            <a:defPPr algn="l">
              <a:defRPr sz="2325" b="1">
                <a:solidFill>
                  <a:srgbClr val="267C83"/>
                </a:solidFill>
                <a:latin typeface="Arial"/>
                <a:ea typeface="Arial"/>
                <a:cs typeface="Arial"/>
              </a:defRPr>
            </a:defPPr>
            <a:lvl1pPr algn="l">
              <a:defRPr sz="2325" b="1">
                <a:solidFill>
                  <a:srgbClr val="267C83"/>
                </a:solidFill>
                <a:latin typeface="Arial"/>
                <a:ea typeface="Arial"/>
                <a:cs typeface="Arial"/>
              </a:defRPr>
            </a:lvl1pPr>
            <a:lvl2pPr algn="l">
              <a:defRPr sz="2325" b="1">
                <a:solidFill>
                  <a:srgbClr val="267C83"/>
                </a:solidFill>
                <a:latin typeface="Arial"/>
                <a:ea typeface="Arial"/>
                <a:cs typeface="Arial"/>
              </a:defRPr>
            </a:lvl2pPr>
            <a:lvl3pPr algn="l">
              <a:defRPr sz="2325" b="1">
                <a:solidFill>
                  <a:srgbClr val="267C83"/>
                </a:solidFill>
                <a:latin typeface="Arial"/>
                <a:ea typeface="Arial"/>
                <a:cs typeface="Arial"/>
              </a:defRPr>
            </a:lvl3pPr>
            <a:lvl4pPr algn="l">
              <a:defRPr sz="2325" b="1">
                <a:solidFill>
                  <a:srgbClr val="267C83"/>
                </a:solidFill>
                <a:latin typeface="Arial"/>
                <a:ea typeface="Arial"/>
                <a:cs typeface="Arial"/>
              </a:defRPr>
            </a:lvl4pPr>
            <a:lvl5pPr algn="l">
              <a:defRPr sz="2325" b="1">
                <a:solidFill>
                  <a:srgbClr val="267C83"/>
                </a:solidFill>
                <a:latin typeface="Arial"/>
                <a:ea typeface="Arial"/>
                <a:cs typeface="Arial"/>
              </a:defRPr>
            </a:lvl5pPr>
            <a:lvl6pPr algn="l">
              <a:defRPr sz="2325" b="1">
                <a:solidFill>
                  <a:srgbClr val="267C83"/>
                </a:solidFill>
                <a:latin typeface="Arial"/>
                <a:ea typeface="Arial"/>
                <a:cs typeface="Arial"/>
              </a:defRPr>
            </a:lvl6pPr>
            <a:lvl7pPr algn="l">
              <a:defRPr sz="2325" b="1">
                <a:solidFill>
                  <a:srgbClr val="267C83"/>
                </a:solidFill>
                <a:latin typeface="Arial"/>
                <a:ea typeface="Arial"/>
                <a:cs typeface="Arial"/>
              </a:defRPr>
            </a:lvl7pPr>
            <a:lvl8pPr algn="l">
              <a:defRPr sz="2325" b="1">
                <a:solidFill>
                  <a:srgbClr val="267C83"/>
                </a:solidFill>
                <a:latin typeface="Arial"/>
                <a:ea typeface="Arial"/>
                <a:cs typeface="Arial"/>
              </a:defRPr>
            </a:lvl8pPr>
            <a:lvl9pPr algn="l">
              <a:defRPr sz="2325" b="1">
                <a:solidFill>
                  <a:srgbClr val="267C83"/>
                </a:solidFill>
                <a:latin typeface="Arial"/>
                <a:ea typeface="Arial"/>
                <a:cs typeface="Arial"/>
              </a:defRPr>
            </a:lvl9pPr>
          </a:lstStyle>
          <a:p>
            <a:pPr algn="l">
              <a:lnSpc>
                <a:spcPct val="107000"/>
              </a:lnSpc>
              <a:buNone/>
              <a:defRPr sz="2325" b="1">
                <a:solidFill>
                  <a:srgbClr val="267C83"/>
                </a:solidFill>
                <a:latin typeface="Arial"/>
                <a:ea typeface="Arial"/>
                <a:cs typeface="Arial"/>
              </a:defRPr>
            </a:pPr>
            <a:r>
              <a:rPr sz="2325" b="1">
                <a:solidFill>
                  <a:srgbClr val="267C83"/>
                </a:solidFill>
                <a:latin typeface="Arial"/>
                <a:ea typeface="Arial"/>
                <a:cs typeface="Arial"/>
              </a:rPr>
              <a:t>Các model định vị vùng không sinh ảnh phục chế</a:t>
            </a:r>
          </a:p>
        </p:txBody>
      </p:sp>
      <p:sp>
        <p:nvSpPr>
          <p:cNvPr id="14" name="Rectangle 13">
            <a:extLst>
              <a:ext uri="{FF2B5EF4-FFF2-40B4-BE49-F238E27FC236}">
                <a16:creationId xmlns:a16="http://schemas.microsoft.com/office/drawing/2014/main" id="{C9127440-2E50-453D-854C-49976AF70746}"/>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Vùng hình học có thể tạo trực tiếp. Đường chạy thực phụ thuộc bbox và asset có sẵn.</a:t>
            </a:r>
          </a:p>
        </p:txBody>
      </p:sp>
    </p:spTree>
    <p:extLst>
      <p:ext uri="{BB962C8B-B14F-4D97-AF65-F5344CB8AC3E}">
        <p14:creationId xmlns:p14="http://schemas.microsoft.com/office/powerpoint/2010/main" val="18435272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00774BE-5840-4DEA-A227-4D6FE4BF6853}"/>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2  VÙNG VÀ MẶT NẠ</a:t>
            </a:r>
          </a:p>
        </p:txBody>
      </p:sp>
      <p:sp>
        <p:nvSpPr>
          <p:cNvPr id="2" name="Rectangle 1">
            <a:extLst>
              <a:ext uri="{FF2B5EF4-FFF2-40B4-BE49-F238E27FC236}">
                <a16:creationId xmlns:a16="http://schemas.microsoft.com/office/drawing/2014/main" id="{2D4379F3-C9A3-4F2E-BD0A-E77D04D705CE}"/>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Mask mềm giúp ghép vùng tự nhiên</a:t>
            </a:r>
          </a:p>
        </p:txBody>
      </p:sp>
      <p:sp>
        <p:nvSpPr>
          <p:cNvPr id="3" name="Rectangle 2">
            <a:extLst>
              <a:ext uri="{FF2B5EF4-FFF2-40B4-BE49-F238E27FC236}">
                <a16:creationId xmlns:a16="http://schemas.microsoft.com/office/drawing/2014/main" id="{1AC61BCC-7948-4EC1-8913-63FA7320FBBD}"/>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08</a:t>
            </a:r>
          </a:p>
        </p:txBody>
      </p:sp>
      <p:pic>
        <p:nvPicPr>
          <p:cNvPr id="4" name="Picture 3">
            <a:extLst>
              <a:ext uri="{FF2B5EF4-FFF2-40B4-BE49-F238E27FC236}">
                <a16:creationId xmlns:a16="http://schemas.microsoft.com/office/drawing/2014/main" id="{8308BA9D-2503-40E5-9245-FCF1F6CF6C69}"/>
              </a:ext>
            </a:extLst>
          </p:cNvPr>
          <p:cNvPicPr>
            <a:picLocks noChangeAspect="1"/>
          </p:cNvPicPr>
          <p:nvPr/>
        </p:nvPicPr>
        <p:blipFill>
          <a:blip r:embed="rId3"/>
          <a:stretch/>
        </p:blipFill>
        <p:spPr>
          <a:xfrm>
            <a:off x="609600" y="1560443"/>
            <a:ext cx="10972800" cy="3279913"/>
          </a:xfrm>
          <a:prstGeom prst="rect">
            <a:avLst/>
          </a:prstGeom>
        </p:spPr>
      </p:pic>
      <p:sp>
        <p:nvSpPr>
          <p:cNvPr id="5" name="Rectangle 4">
            <a:extLst>
              <a:ext uri="{FF2B5EF4-FFF2-40B4-BE49-F238E27FC236}">
                <a16:creationId xmlns:a16="http://schemas.microsoft.com/office/drawing/2014/main" id="{7AFFB7D3-3F91-417B-9FFA-3418F3124A07}"/>
              </a:ext>
            </a:extLst>
          </p:cNvPr>
          <p:cNvSpPr>
            <a:spLocks noGrp="1"/>
          </p:cNvSpPr>
          <p:nvPr/>
        </p:nvSpPr>
        <p:spPr>
          <a:xfrm>
            <a:off x="609600" y="5124450"/>
            <a:ext cx="10972800" cy="476250"/>
          </a:xfrm>
          <a:prstGeom prst="rect">
            <a:avLst/>
          </a:prstGeom>
          <a:noFill/>
          <a:ln w="0">
            <a:noFill/>
          </a:ln>
        </p:spPr>
        <p:txBody>
          <a:bodyPr wrap="square" lIns="0" tIns="0" rIns="0" bIns="0" anchor="t">
            <a:noAutofit/>
          </a:bodyPr>
          <a:lstStyle>
            <a:defPPr algn="l">
              <a:defRPr sz="2325" b="1">
                <a:solidFill>
                  <a:srgbClr val="267C83"/>
                </a:solidFill>
                <a:latin typeface="Arial"/>
                <a:ea typeface="Arial"/>
                <a:cs typeface="Arial"/>
              </a:defRPr>
            </a:defPPr>
            <a:lvl1pPr algn="l">
              <a:defRPr sz="2325" b="1">
                <a:solidFill>
                  <a:srgbClr val="267C83"/>
                </a:solidFill>
                <a:latin typeface="Arial"/>
                <a:ea typeface="Arial"/>
                <a:cs typeface="Arial"/>
              </a:defRPr>
            </a:lvl1pPr>
            <a:lvl2pPr algn="l">
              <a:defRPr sz="2325" b="1">
                <a:solidFill>
                  <a:srgbClr val="267C83"/>
                </a:solidFill>
                <a:latin typeface="Arial"/>
                <a:ea typeface="Arial"/>
                <a:cs typeface="Arial"/>
              </a:defRPr>
            </a:lvl2pPr>
            <a:lvl3pPr algn="l">
              <a:defRPr sz="2325" b="1">
                <a:solidFill>
                  <a:srgbClr val="267C83"/>
                </a:solidFill>
                <a:latin typeface="Arial"/>
                <a:ea typeface="Arial"/>
                <a:cs typeface="Arial"/>
              </a:defRPr>
            </a:lvl3pPr>
            <a:lvl4pPr algn="l">
              <a:defRPr sz="2325" b="1">
                <a:solidFill>
                  <a:srgbClr val="267C83"/>
                </a:solidFill>
                <a:latin typeface="Arial"/>
                <a:ea typeface="Arial"/>
                <a:cs typeface="Arial"/>
              </a:defRPr>
            </a:lvl4pPr>
            <a:lvl5pPr algn="l">
              <a:defRPr sz="2325" b="1">
                <a:solidFill>
                  <a:srgbClr val="267C83"/>
                </a:solidFill>
                <a:latin typeface="Arial"/>
                <a:ea typeface="Arial"/>
                <a:cs typeface="Arial"/>
              </a:defRPr>
            </a:lvl5pPr>
            <a:lvl6pPr algn="l">
              <a:defRPr sz="2325" b="1">
                <a:solidFill>
                  <a:srgbClr val="267C83"/>
                </a:solidFill>
                <a:latin typeface="Arial"/>
                <a:ea typeface="Arial"/>
                <a:cs typeface="Arial"/>
              </a:defRPr>
            </a:lvl6pPr>
            <a:lvl7pPr algn="l">
              <a:defRPr sz="2325" b="1">
                <a:solidFill>
                  <a:srgbClr val="267C83"/>
                </a:solidFill>
                <a:latin typeface="Arial"/>
                <a:ea typeface="Arial"/>
                <a:cs typeface="Arial"/>
              </a:defRPr>
            </a:lvl7pPr>
            <a:lvl8pPr algn="l">
              <a:defRPr sz="2325" b="1">
                <a:solidFill>
                  <a:srgbClr val="267C83"/>
                </a:solidFill>
                <a:latin typeface="Arial"/>
                <a:ea typeface="Arial"/>
                <a:cs typeface="Arial"/>
              </a:defRPr>
            </a:lvl8pPr>
            <a:lvl9pPr algn="l">
              <a:defRPr sz="2325" b="1">
                <a:solidFill>
                  <a:srgbClr val="267C83"/>
                </a:solidFill>
                <a:latin typeface="Arial"/>
                <a:ea typeface="Arial"/>
                <a:cs typeface="Arial"/>
              </a:defRPr>
            </a:lvl9pPr>
          </a:lstStyle>
          <a:p>
            <a:pPr algn="l">
              <a:lnSpc>
                <a:spcPct val="107000"/>
              </a:lnSpc>
              <a:buNone/>
              <a:defRPr sz="2325" b="1">
                <a:solidFill>
                  <a:srgbClr val="267C83"/>
                </a:solidFill>
                <a:latin typeface="Arial"/>
                <a:ea typeface="Arial"/>
                <a:cs typeface="Arial"/>
              </a:defRPr>
            </a:pPr>
            <a:r>
              <a:rPr sz="2325" b="1">
                <a:solidFill>
                  <a:srgbClr val="267C83"/>
                </a:solidFill>
                <a:latin typeface="Arial"/>
                <a:ea typeface="Arial"/>
                <a:cs typeface="Arial"/>
              </a:rPr>
              <a:t>I kết quả = M × I xử lý + (1 − M) × I trước</a:t>
            </a:r>
          </a:p>
        </p:txBody>
      </p:sp>
      <p:sp>
        <p:nvSpPr>
          <p:cNvPr id="6" name="Rectangle 5">
            <a:extLst>
              <a:ext uri="{FF2B5EF4-FFF2-40B4-BE49-F238E27FC236}">
                <a16:creationId xmlns:a16="http://schemas.microsoft.com/office/drawing/2014/main" id="{9F702BE5-09FB-4328-9D6F-8069715BD5D2}"/>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Mask oval trong ví dụ được vẽ tay. Module 2 xuất mask, Module 3 áp phép xử lý và hòa trộn.</a:t>
            </a:r>
          </a:p>
        </p:txBody>
      </p:sp>
    </p:spTree>
    <p:extLst>
      <p:ext uri="{BB962C8B-B14F-4D97-AF65-F5344CB8AC3E}">
        <p14:creationId xmlns:p14="http://schemas.microsoft.com/office/powerpoint/2010/main" val="8858811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0D50757-F38C-402C-8A02-DC310D43357A}"/>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2  VÙNG VÀ MẶT NẠ</a:t>
            </a:r>
          </a:p>
        </p:txBody>
      </p:sp>
      <p:sp>
        <p:nvSpPr>
          <p:cNvPr id="2" name="Rectangle 1">
            <a:extLst>
              <a:ext uri="{FF2B5EF4-FFF2-40B4-BE49-F238E27FC236}">
                <a16:creationId xmlns:a16="http://schemas.microsoft.com/office/drawing/2014/main" id="{E8872A54-A877-427B-9C29-A3D36E6F82BF}"/>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Kiểm tra mask và phạm vi tác động</a:t>
            </a:r>
          </a:p>
        </p:txBody>
      </p:sp>
      <p:sp>
        <p:nvSpPr>
          <p:cNvPr id="3" name="Rectangle 2">
            <a:extLst>
              <a:ext uri="{FF2B5EF4-FFF2-40B4-BE49-F238E27FC236}">
                <a16:creationId xmlns:a16="http://schemas.microsoft.com/office/drawing/2014/main" id="{B36DCB05-1100-4641-9DED-FC4532ABA866}"/>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09</a:t>
            </a:r>
          </a:p>
        </p:txBody>
      </p:sp>
      <p:pic>
        <p:nvPicPr>
          <p:cNvPr id="4" name="Picture 3">
            <a:extLst>
              <a:ext uri="{FF2B5EF4-FFF2-40B4-BE49-F238E27FC236}">
                <a16:creationId xmlns:a16="http://schemas.microsoft.com/office/drawing/2014/main" id="{98350F1E-EF44-49F3-A9C1-558548FF4D5C}"/>
              </a:ext>
            </a:extLst>
          </p:cNvPr>
          <p:cNvPicPr>
            <a:picLocks noChangeAspect="1"/>
          </p:cNvPicPr>
          <p:nvPr/>
        </p:nvPicPr>
        <p:blipFill>
          <a:blip r:embed="rId3"/>
          <a:stretch/>
        </p:blipFill>
        <p:spPr>
          <a:xfrm>
            <a:off x="1470725" y="1457325"/>
            <a:ext cx="9250551" cy="3638550"/>
          </a:xfrm>
          <a:prstGeom prst="rect">
            <a:avLst/>
          </a:prstGeom>
        </p:spPr>
      </p:pic>
      <p:sp>
        <p:nvSpPr>
          <p:cNvPr id="5" name="Rectangle 4">
            <a:extLst>
              <a:ext uri="{FF2B5EF4-FFF2-40B4-BE49-F238E27FC236}">
                <a16:creationId xmlns:a16="http://schemas.microsoft.com/office/drawing/2014/main" id="{B890289C-D240-4EDA-835E-0742E7CB9251}"/>
              </a:ext>
            </a:extLst>
          </p:cNvPr>
          <p:cNvSpPr>
            <a:spLocks noGrp="1"/>
          </p:cNvSpPr>
          <p:nvPr/>
        </p:nvSpPr>
        <p:spPr>
          <a:xfrm>
            <a:off x="609600" y="5219700"/>
            <a:ext cx="10858500" cy="466725"/>
          </a:xfrm>
          <a:prstGeom prst="rect">
            <a:avLst/>
          </a:prstGeom>
          <a:noFill/>
          <a:ln w="0">
            <a:noFill/>
          </a:ln>
        </p:spPr>
        <p:txBody>
          <a:bodyPr wrap="square" lIns="0" tIns="0" rIns="0" bIns="0" anchor="t">
            <a:noAutofit/>
          </a:bodyPr>
          <a:lstStyle>
            <a:defPPr algn="l">
              <a:defRPr sz="2325" b="1">
                <a:solidFill>
                  <a:srgbClr val="267C83"/>
                </a:solidFill>
                <a:latin typeface="Arial"/>
                <a:ea typeface="Arial"/>
                <a:cs typeface="Arial"/>
              </a:defRPr>
            </a:defPPr>
            <a:lvl1pPr algn="l">
              <a:defRPr sz="2325" b="1">
                <a:solidFill>
                  <a:srgbClr val="267C83"/>
                </a:solidFill>
                <a:latin typeface="Arial"/>
                <a:ea typeface="Arial"/>
                <a:cs typeface="Arial"/>
              </a:defRPr>
            </a:lvl1pPr>
            <a:lvl2pPr algn="l">
              <a:defRPr sz="2325" b="1">
                <a:solidFill>
                  <a:srgbClr val="267C83"/>
                </a:solidFill>
                <a:latin typeface="Arial"/>
                <a:ea typeface="Arial"/>
                <a:cs typeface="Arial"/>
              </a:defRPr>
            </a:lvl2pPr>
            <a:lvl3pPr algn="l">
              <a:defRPr sz="2325" b="1">
                <a:solidFill>
                  <a:srgbClr val="267C83"/>
                </a:solidFill>
                <a:latin typeface="Arial"/>
                <a:ea typeface="Arial"/>
                <a:cs typeface="Arial"/>
              </a:defRPr>
            </a:lvl3pPr>
            <a:lvl4pPr algn="l">
              <a:defRPr sz="2325" b="1">
                <a:solidFill>
                  <a:srgbClr val="267C83"/>
                </a:solidFill>
                <a:latin typeface="Arial"/>
                <a:ea typeface="Arial"/>
                <a:cs typeface="Arial"/>
              </a:defRPr>
            </a:lvl4pPr>
            <a:lvl5pPr algn="l">
              <a:defRPr sz="2325" b="1">
                <a:solidFill>
                  <a:srgbClr val="267C83"/>
                </a:solidFill>
                <a:latin typeface="Arial"/>
                <a:ea typeface="Arial"/>
                <a:cs typeface="Arial"/>
              </a:defRPr>
            </a:lvl5pPr>
            <a:lvl6pPr algn="l">
              <a:defRPr sz="2325" b="1">
                <a:solidFill>
                  <a:srgbClr val="267C83"/>
                </a:solidFill>
                <a:latin typeface="Arial"/>
                <a:ea typeface="Arial"/>
                <a:cs typeface="Arial"/>
              </a:defRPr>
            </a:lvl6pPr>
            <a:lvl7pPr algn="l">
              <a:defRPr sz="2325" b="1">
                <a:solidFill>
                  <a:srgbClr val="267C83"/>
                </a:solidFill>
                <a:latin typeface="Arial"/>
                <a:ea typeface="Arial"/>
                <a:cs typeface="Arial"/>
              </a:defRPr>
            </a:lvl7pPr>
            <a:lvl8pPr algn="l">
              <a:defRPr sz="2325" b="1">
                <a:solidFill>
                  <a:srgbClr val="267C83"/>
                </a:solidFill>
                <a:latin typeface="Arial"/>
                <a:ea typeface="Arial"/>
                <a:cs typeface="Arial"/>
              </a:defRPr>
            </a:lvl8pPr>
            <a:lvl9pPr algn="l">
              <a:defRPr sz="2325" b="1">
                <a:solidFill>
                  <a:srgbClr val="267C83"/>
                </a:solidFill>
                <a:latin typeface="Arial"/>
                <a:ea typeface="Arial"/>
                <a:cs typeface="Arial"/>
              </a:defRPr>
            </a:lvl9pPr>
          </a:lstStyle>
          <a:p>
            <a:pPr algn="l">
              <a:lnSpc>
                <a:spcPct val="107000"/>
              </a:lnSpc>
              <a:buNone/>
              <a:defRPr sz="2325" b="1">
                <a:solidFill>
                  <a:srgbClr val="267C83"/>
                </a:solidFill>
                <a:latin typeface="Arial"/>
                <a:ea typeface="Arial"/>
                <a:cs typeface="Arial"/>
              </a:defRPr>
            </a:pPr>
            <a:r>
              <a:rPr sz="2325" b="1">
                <a:solidFill>
                  <a:srgbClr val="267C83"/>
                </a:solidFill>
                <a:latin typeface="Arial"/>
                <a:ea typeface="Arial"/>
                <a:cs typeface="Arial"/>
              </a:rPr>
              <a:t>Không định vị được vùng: bỏ qua thao tác</a:t>
            </a:r>
          </a:p>
        </p:txBody>
      </p:sp>
      <p:sp>
        <p:nvSpPr>
          <p:cNvPr id="6" name="Rectangle 5">
            <a:extLst>
              <a:ext uri="{FF2B5EF4-FFF2-40B4-BE49-F238E27FC236}">
                <a16:creationId xmlns:a16="http://schemas.microsoft.com/office/drawing/2014/main" id="{43555309-B4A2-4068-A465-7DA8C92F68AB}"/>
              </a:ext>
            </a:extLst>
          </p:cNvPr>
          <p:cNvSpPr>
            <a:spLocks noGrp="1"/>
          </p:cNvSpPr>
          <p:nvPr/>
        </p:nvSpPr>
        <p:spPr>
          <a:xfrm>
            <a:off x="609600" y="5848350"/>
            <a:ext cx="10972800" cy="409575"/>
          </a:xfrm>
          <a:prstGeom prst="rect">
            <a:avLst/>
          </a:prstGeom>
          <a:noFill/>
          <a:ln w="0">
            <a:noFill/>
          </a:ln>
        </p:spPr>
        <p:txBody>
          <a:bodyPr wrap="square" lIns="0" tIns="0" rIns="0" bIns="0" anchor="t">
            <a:noAutofit/>
          </a:bodyPr>
          <a:lstStyle>
            <a:defPPr algn="l">
              <a:defRPr sz="1875" b="1">
                <a:solidFill>
                  <a:srgbClr val="267C83"/>
                </a:solidFill>
                <a:latin typeface="Arial"/>
                <a:ea typeface="Arial"/>
                <a:cs typeface="Arial"/>
              </a:defRPr>
            </a:defPPr>
            <a:lvl1pPr algn="l">
              <a:defRPr sz="1875" b="1">
                <a:solidFill>
                  <a:srgbClr val="267C83"/>
                </a:solidFill>
                <a:latin typeface="Arial"/>
                <a:ea typeface="Arial"/>
                <a:cs typeface="Arial"/>
              </a:defRPr>
            </a:lvl1pPr>
            <a:lvl2pPr algn="l">
              <a:defRPr sz="1875" b="1">
                <a:solidFill>
                  <a:srgbClr val="267C83"/>
                </a:solidFill>
                <a:latin typeface="Arial"/>
                <a:ea typeface="Arial"/>
                <a:cs typeface="Arial"/>
              </a:defRPr>
            </a:lvl2pPr>
            <a:lvl3pPr algn="l">
              <a:defRPr sz="1875" b="1">
                <a:solidFill>
                  <a:srgbClr val="267C83"/>
                </a:solidFill>
                <a:latin typeface="Arial"/>
                <a:ea typeface="Arial"/>
                <a:cs typeface="Arial"/>
              </a:defRPr>
            </a:lvl3pPr>
            <a:lvl4pPr algn="l">
              <a:defRPr sz="1875" b="1">
                <a:solidFill>
                  <a:srgbClr val="267C83"/>
                </a:solidFill>
                <a:latin typeface="Arial"/>
                <a:ea typeface="Arial"/>
                <a:cs typeface="Arial"/>
              </a:defRPr>
            </a:lvl4pPr>
            <a:lvl5pPr algn="l">
              <a:defRPr sz="1875" b="1">
                <a:solidFill>
                  <a:srgbClr val="267C83"/>
                </a:solidFill>
                <a:latin typeface="Arial"/>
                <a:ea typeface="Arial"/>
                <a:cs typeface="Arial"/>
              </a:defRPr>
            </a:lvl5pPr>
            <a:lvl6pPr algn="l">
              <a:defRPr sz="1875" b="1">
                <a:solidFill>
                  <a:srgbClr val="267C83"/>
                </a:solidFill>
                <a:latin typeface="Arial"/>
                <a:ea typeface="Arial"/>
                <a:cs typeface="Arial"/>
              </a:defRPr>
            </a:lvl6pPr>
            <a:lvl7pPr algn="l">
              <a:defRPr sz="1875" b="1">
                <a:solidFill>
                  <a:srgbClr val="267C83"/>
                </a:solidFill>
                <a:latin typeface="Arial"/>
                <a:ea typeface="Arial"/>
                <a:cs typeface="Arial"/>
              </a:defRPr>
            </a:lvl7pPr>
            <a:lvl8pPr algn="l">
              <a:defRPr sz="1875" b="1">
                <a:solidFill>
                  <a:srgbClr val="267C83"/>
                </a:solidFill>
                <a:latin typeface="Arial"/>
                <a:ea typeface="Arial"/>
                <a:cs typeface="Arial"/>
              </a:defRPr>
            </a:lvl8pPr>
            <a:lvl9pPr algn="l">
              <a:defRPr sz="1875" b="1">
                <a:solidFill>
                  <a:srgbClr val="267C83"/>
                </a:solidFill>
                <a:latin typeface="Arial"/>
                <a:ea typeface="Arial"/>
                <a:cs typeface="Arial"/>
              </a:defRPr>
            </a:lvl9pPr>
          </a:lstStyle>
          <a:p>
            <a:pPr algn="l">
              <a:lnSpc>
                <a:spcPct val="107000"/>
              </a:lnSpc>
              <a:buNone/>
              <a:defRPr sz="1875" b="1">
                <a:solidFill>
                  <a:srgbClr val="267C83"/>
                </a:solidFill>
                <a:latin typeface="Arial"/>
                <a:ea typeface="Arial"/>
                <a:cs typeface="Arial"/>
              </a:defRPr>
            </a:pPr>
            <a:r>
              <a:rPr sz="1875" b="1">
                <a:solidFill>
                  <a:srgbClr val="267C83"/>
                </a:solidFill>
                <a:latin typeface="Arial"/>
                <a:ea typeface="Arial"/>
                <a:cs typeface="Arial"/>
              </a:rPr>
              <a:t>Tiếp theo: Module 3 áp thuật toán lên vùng hợp lệ</a:t>
            </a:r>
          </a:p>
        </p:txBody>
      </p:sp>
      <p:sp>
        <p:nvSpPr>
          <p:cNvPr id="7" name="Rectangle 6">
            <a:extLst>
              <a:ext uri="{FF2B5EF4-FFF2-40B4-BE49-F238E27FC236}">
                <a16:creationId xmlns:a16="http://schemas.microsoft.com/office/drawing/2014/main" id="{CB185C31-CFBC-4E40-BC72-5C962FBABA84}"/>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Mask mặt không đạt QA có thể fallback bbox với cường độ 0,5 tạm thời.</a:t>
            </a:r>
          </a:p>
        </p:txBody>
      </p:sp>
    </p:spTree>
    <p:extLst>
      <p:ext uri="{BB962C8B-B14F-4D97-AF65-F5344CB8AC3E}">
        <p14:creationId xmlns:p14="http://schemas.microsoft.com/office/powerpoint/2010/main" val="18457237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cxnSp>
        <p:nvCxnSpPr>
          <p:cNvPr id="12" name="Straight Arrow Connector 11">
            <a:extLst>
              <a:ext uri="{FF2B5EF4-FFF2-40B4-BE49-F238E27FC236}">
                <a16:creationId xmlns:a16="http://schemas.microsoft.com/office/drawing/2014/main" id="{F83B4D25-C261-4FF0-8F17-9090F0856FA4}"/>
              </a:ext>
            </a:extLst>
          </p:cNvPr>
          <p:cNvCxnSpPr>
            <a:stCxn id="7" idx="3"/>
            <a:endCxn id="8" idx="1"/>
          </p:cNvCxnSpPr>
          <p:nvPr/>
        </p:nvCxnSpPr>
        <p:spPr>
          <a:xfrm>
            <a:off x="9334500" y="2628900"/>
            <a:ext cx="266700" cy="0"/>
          </a:xfrm>
          <a:prstGeom prst="straightConnector1">
            <a:avLst/>
          </a:prstGeom>
          <a:ln w="19050">
            <a:solidFill>
              <a:srgbClr val="617E8F"/>
            </a:solidFill>
            <a:tailEnd type="triangle" w="med" len="med"/>
          </a:ln>
        </p:spPr>
      </p:cxnSp>
      <p:cxnSp>
        <p:nvCxnSpPr>
          <p:cNvPr id="11" name="Straight Arrow Connector 10">
            <a:extLst>
              <a:ext uri="{FF2B5EF4-FFF2-40B4-BE49-F238E27FC236}">
                <a16:creationId xmlns:a16="http://schemas.microsoft.com/office/drawing/2014/main" id="{13DB41A8-6016-493E-A21C-51E88DB7DE57}"/>
              </a:ext>
            </a:extLst>
          </p:cNvPr>
          <p:cNvCxnSpPr>
            <a:stCxn id="6" idx="3"/>
            <a:endCxn id="7" idx="1"/>
          </p:cNvCxnSpPr>
          <p:nvPr/>
        </p:nvCxnSpPr>
        <p:spPr>
          <a:xfrm>
            <a:off x="7086600" y="2628900"/>
            <a:ext cx="266700" cy="0"/>
          </a:xfrm>
          <a:prstGeom prst="straightConnector1">
            <a:avLst/>
          </a:prstGeom>
          <a:ln w="19050">
            <a:solidFill>
              <a:srgbClr val="617E8F"/>
            </a:solidFill>
            <a:tailEnd type="triangle" w="med" len="med"/>
          </a:ln>
        </p:spPr>
      </p:cxnSp>
      <p:cxnSp>
        <p:nvCxnSpPr>
          <p:cNvPr id="10" name="Straight Arrow Connector 9">
            <a:extLst>
              <a:ext uri="{FF2B5EF4-FFF2-40B4-BE49-F238E27FC236}">
                <a16:creationId xmlns:a16="http://schemas.microsoft.com/office/drawing/2014/main" id="{5ED535BD-010C-4486-B3EF-531DE1F77E06}"/>
              </a:ext>
            </a:extLst>
          </p:cNvPr>
          <p:cNvCxnSpPr>
            <a:stCxn id="5" idx="3"/>
            <a:endCxn id="6" idx="1"/>
          </p:cNvCxnSpPr>
          <p:nvPr/>
        </p:nvCxnSpPr>
        <p:spPr>
          <a:xfrm>
            <a:off x="4838700" y="2628900"/>
            <a:ext cx="266700" cy="0"/>
          </a:xfrm>
          <a:prstGeom prst="straightConnector1">
            <a:avLst/>
          </a:prstGeom>
          <a:ln w="19050">
            <a:solidFill>
              <a:srgbClr val="617E8F"/>
            </a:solidFill>
            <a:tailEnd type="triangle" w="med" len="med"/>
          </a:ln>
        </p:spPr>
      </p:cxnSp>
      <p:cxnSp>
        <p:nvCxnSpPr>
          <p:cNvPr id="9" name="Straight Arrow Connector 8">
            <a:extLst>
              <a:ext uri="{FF2B5EF4-FFF2-40B4-BE49-F238E27FC236}">
                <a16:creationId xmlns:a16="http://schemas.microsoft.com/office/drawing/2014/main" id="{57BE9519-E04A-4900-8878-F3CE93EFA028}"/>
              </a:ext>
            </a:extLst>
          </p:cNvPr>
          <p:cNvCxnSpPr>
            <a:stCxn id="4" idx="3"/>
            <a:endCxn id="5" idx="1"/>
          </p:cNvCxnSpPr>
          <p:nvPr/>
        </p:nvCxnSpPr>
        <p:spPr>
          <a:xfrm>
            <a:off x="2590800" y="2628900"/>
            <a:ext cx="266700" cy="0"/>
          </a:xfrm>
          <a:prstGeom prst="straightConnector1">
            <a:avLst/>
          </a:prstGeom>
          <a:ln w="19050">
            <a:solidFill>
              <a:srgbClr val="617E8F"/>
            </a:solidFill>
            <a:tailEnd type="triangle" w="med" len="med"/>
          </a:ln>
        </p:spPr>
      </p:cxnSp>
      <p:sp>
        <p:nvSpPr>
          <p:cNvPr id="16" name="Rectangle 15">
            <a:extLst>
              <a:ext uri="{FF2B5EF4-FFF2-40B4-BE49-F238E27FC236}">
                <a16:creationId xmlns:a16="http://schemas.microsoft.com/office/drawing/2014/main" id="{E9D3D0F7-5C9C-4D8A-B430-3ABD2B3CACFB}"/>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3  XỬ LÝ ĐIỂM ẢNH CỔ ĐIỂN</a:t>
            </a:r>
          </a:p>
        </p:txBody>
      </p:sp>
      <p:sp>
        <p:nvSpPr>
          <p:cNvPr id="2" name="Rectangle 1">
            <a:extLst>
              <a:ext uri="{FF2B5EF4-FFF2-40B4-BE49-F238E27FC236}">
                <a16:creationId xmlns:a16="http://schemas.microsoft.com/office/drawing/2014/main" id="{F62B113A-DF47-45B6-9163-6B908444D698}"/>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Năm công cụ xử lý điểm ảnh</a:t>
            </a:r>
          </a:p>
        </p:txBody>
      </p:sp>
      <p:sp>
        <p:nvSpPr>
          <p:cNvPr id="3" name="Rectangle 2">
            <a:extLst>
              <a:ext uri="{FF2B5EF4-FFF2-40B4-BE49-F238E27FC236}">
                <a16:creationId xmlns:a16="http://schemas.microsoft.com/office/drawing/2014/main" id="{5C4EB8DE-3598-4D0B-8D64-4E4F8DF19087}"/>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10</a:t>
            </a:r>
          </a:p>
        </p:txBody>
      </p:sp>
      <p:sp>
        <p:nvSpPr>
          <p:cNvPr id="4" name="Rectangle 3">
            <a:extLst>
              <a:ext uri="{FF2B5EF4-FFF2-40B4-BE49-F238E27FC236}">
                <a16:creationId xmlns:a16="http://schemas.microsoft.com/office/drawing/2014/main" id="{75261F3F-1428-4015-B230-2CA71D73FCD0}"/>
              </a:ext>
            </a:extLst>
          </p:cNvPr>
          <p:cNvSpPr>
            <a:spLocks noGrp="1"/>
          </p:cNvSpPr>
          <p:nvPr/>
        </p:nvSpPr>
        <p:spPr>
          <a:xfrm>
            <a:off x="609600" y="2076450"/>
            <a:ext cx="1981200" cy="1104900"/>
          </a:xfrm>
          <a:prstGeom prst="rect">
            <a:avLst/>
          </a:prstGeom>
          <a:solidFill>
            <a:srgbClr val="E3F1F0"/>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Denoise</a:t>
            </a:r>
          </a:p>
        </p:txBody>
      </p:sp>
      <p:sp>
        <p:nvSpPr>
          <p:cNvPr id="5" name="Rectangle 4">
            <a:extLst>
              <a:ext uri="{FF2B5EF4-FFF2-40B4-BE49-F238E27FC236}">
                <a16:creationId xmlns:a16="http://schemas.microsoft.com/office/drawing/2014/main" id="{2C58D076-DFE0-414E-8622-64D49F6560E4}"/>
              </a:ext>
            </a:extLst>
          </p:cNvPr>
          <p:cNvSpPr>
            <a:spLocks noGrp="1"/>
          </p:cNvSpPr>
          <p:nvPr/>
        </p:nvSpPr>
        <p:spPr>
          <a:xfrm>
            <a:off x="2857500" y="2076450"/>
            <a:ext cx="1981200" cy="1104900"/>
          </a:xfrm>
          <a:prstGeom prst="rect">
            <a:avLst/>
          </a:prstGeom>
          <a:solidFill>
            <a:srgbClr val="E3F1F0"/>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Gamma</a:t>
            </a:r>
          </a:p>
        </p:txBody>
      </p:sp>
      <p:sp>
        <p:nvSpPr>
          <p:cNvPr id="6" name="Rectangle 5">
            <a:extLst>
              <a:ext uri="{FF2B5EF4-FFF2-40B4-BE49-F238E27FC236}">
                <a16:creationId xmlns:a16="http://schemas.microsoft.com/office/drawing/2014/main" id="{1F85B538-5E30-4538-935C-B785BC7A77A9}"/>
              </a:ext>
            </a:extLst>
          </p:cNvPr>
          <p:cNvSpPr>
            <a:spLocks noGrp="1"/>
          </p:cNvSpPr>
          <p:nvPr/>
        </p:nvSpPr>
        <p:spPr>
          <a:xfrm>
            <a:off x="5105400" y="2076450"/>
            <a:ext cx="1981200" cy="1104900"/>
          </a:xfrm>
          <a:prstGeom prst="rect">
            <a:avLst/>
          </a:prstGeom>
          <a:solidFill>
            <a:srgbClr val="E3F1F0"/>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CLAHE</a:t>
            </a:r>
          </a:p>
        </p:txBody>
      </p:sp>
      <p:sp>
        <p:nvSpPr>
          <p:cNvPr id="7" name="Rectangle 6">
            <a:extLst>
              <a:ext uri="{FF2B5EF4-FFF2-40B4-BE49-F238E27FC236}">
                <a16:creationId xmlns:a16="http://schemas.microsoft.com/office/drawing/2014/main" id="{680BD5E3-4195-4512-9426-DCF6E9A75F1C}"/>
              </a:ext>
            </a:extLst>
          </p:cNvPr>
          <p:cNvSpPr>
            <a:spLocks noGrp="1"/>
          </p:cNvSpPr>
          <p:nvPr/>
        </p:nvSpPr>
        <p:spPr>
          <a:xfrm>
            <a:off x="7353300" y="2076450"/>
            <a:ext cx="1981200" cy="1104900"/>
          </a:xfrm>
          <a:prstGeom prst="rect">
            <a:avLst/>
          </a:prstGeom>
          <a:solidFill>
            <a:srgbClr val="E3F1F0"/>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Sharpen</a:t>
            </a:r>
          </a:p>
        </p:txBody>
      </p:sp>
      <p:sp>
        <p:nvSpPr>
          <p:cNvPr id="8" name="Rectangle 7">
            <a:extLst>
              <a:ext uri="{FF2B5EF4-FFF2-40B4-BE49-F238E27FC236}">
                <a16:creationId xmlns:a16="http://schemas.microsoft.com/office/drawing/2014/main" id="{530595C0-D7EF-4095-98A8-1C4B393D91FA}"/>
              </a:ext>
            </a:extLst>
          </p:cNvPr>
          <p:cNvSpPr>
            <a:spLocks noGrp="1"/>
          </p:cNvSpPr>
          <p:nvPr/>
        </p:nvSpPr>
        <p:spPr>
          <a:xfrm>
            <a:off x="9601200" y="2076450"/>
            <a:ext cx="1981200" cy="1104900"/>
          </a:xfrm>
          <a:prstGeom prst="rect">
            <a:avLst/>
          </a:prstGeom>
          <a:solidFill>
            <a:srgbClr val="E3F1F0"/>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Color</a:t>
            </a:r>
          </a:p>
        </p:txBody>
      </p:sp>
      <p:sp>
        <p:nvSpPr>
          <p:cNvPr id="13" name="Rectangle 12">
            <a:extLst>
              <a:ext uri="{FF2B5EF4-FFF2-40B4-BE49-F238E27FC236}">
                <a16:creationId xmlns:a16="http://schemas.microsoft.com/office/drawing/2014/main" id="{80C4D71C-8608-4FF5-A19C-A63618CBD9D8}"/>
              </a:ext>
            </a:extLst>
          </p:cNvPr>
          <p:cNvSpPr>
            <a:spLocks noGrp="1"/>
          </p:cNvSpPr>
          <p:nvPr/>
        </p:nvSpPr>
        <p:spPr>
          <a:xfrm>
            <a:off x="609600" y="3914775"/>
            <a:ext cx="10858500" cy="476250"/>
          </a:xfrm>
          <a:prstGeom prst="rect">
            <a:avLst/>
          </a:prstGeom>
          <a:noFill/>
          <a:ln w="0">
            <a:noFill/>
          </a:ln>
        </p:spPr>
        <p:txBody>
          <a:bodyPr wrap="square" lIns="0" tIns="0" rIns="0" bIns="0" anchor="t">
            <a:noAutofit/>
          </a:bodyPr>
          <a:lstStyle>
            <a:defPPr algn="l">
              <a:defRPr sz="2475" b="1">
                <a:solidFill>
                  <a:srgbClr val="267C83"/>
                </a:solidFill>
                <a:latin typeface="Arial"/>
                <a:ea typeface="Arial"/>
                <a:cs typeface="Arial"/>
              </a:defRPr>
            </a:defPPr>
            <a:lvl1pPr algn="l">
              <a:defRPr sz="2475" b="1">
                <a:solidFill>
                  <a:srgbClr val="267C83"/>
                </a:solidFill>
                <a:latin typeface="Arial"/>
                <a:ea typeface="Arial"/>
                <a:cs typeface="Arial"/>
              </a:defRPr>
            </a:lvl1pPr>
            <a:lvl2pPr algn="l">
              <a:defRPr sz="2475" b="1">
                <a:solidFill>
                  <a:srgbClr val="267C83"/>
                </a:solidFill>
                <a:latin typeface="Arial"/>
                <a:ea typeface="Arial"/>
                <a:cs typeface="Arial"/>
              </a:defRPr>
            </a:lvl2pPr>
            <a:lvl3pPr algn="l">
              <a:defRPr sz="2475" b="1">
                <a:solidFill>
                  <a:srgbClr val="267C83"/>
                </a:solidFill>
                <a:latin typeface="Arial"/>
                <a:ea typeface="Arial"/>
                <a:cs typeface="Arial"/>
              </a:defRPr>
            </a:lvl3pPr>
            <a:lvl4pPr algn="l">
              <a:defRPr sz="2475" b="1">
                <a:solidFill>
                  <a:srgbClr val="267C83"/>
                </a:solidFill>
                <a:latin typeface="Arial"/>
                <a:ea typeface="Arial"/>
                <a:cs typeface="Arial"/>
              </a:defRPr>
            </a:lvl4pPr>
            <a:lvl5pPr algn="l">
              <a:defRPr sz="2475" b="1">
                <a:solidFill>
                  <a:srgbClr val="267C83"/>
                </a:solidFill>
                <a:latin typeface="Arial"/>
                <a:ea typeface="Arial"/>
                <a:cs typeface="Arial"/>
              </a:defRPr>
            </a:lvl5pPr>
            <a:lvl6pPr algn="l">
              <a:defRPr sz="2475" b="1">
                <a:solidFill>
                  <a:srgbClr val="267C83"/>
                </a:solidFill>
                <a:latin typeface="Arial"/>
                <a:ea typeface="Arial"/>
                <a:cs typeface="Arial"/>
              </a:defRPr>
            </a:lvl6pPr>
            <a:lvl7pPr algn="l">
              <a:defRPr sz="2475" b="1">
                <a:solidFill>
                  <a:srgbClr val="267C83"/>
                </a:solidFill>
                <a:latin typeface="Arial"/>
                <a:ea typeface="Arial"/>
                <a:cs typeface="Arial"/>
              </a:defRPr>
            </a:lvl7pPr>
            <a:lvl8pPr algn="l">
              <a:defRPr sz="2475" b="1">
                <a:solidFill>
                  <a:srgbClr val="267C83"/>
                </a:solidFill>
                <a:latin typeface="Arial"/>
                <a:ea typeface="Arial"/>
                <a:cs typeface="Arial"/>
              </a:defRPr>
            </a:lvl8pPr>
            <a:lvl9pPr algn="l">
              <a:defRPr sz="2475" b="1">
                <a:solidFill>
                  <a:srgbClr val="267C83"/>
                </a:solidFill>
                <a:latin typeface="Arial"/>
                <a:ea typeface="Arial"/>
                <a:cs typeface="Arial"/>
              </a:defRPr>
            </a:lvl9pPr>
          </a:lstStyle>
          <a:p>
            <a:pPr algn="l">
              <a:lnSpc>
                <a:spcPct val="107000"/>
              </a:lnSpc>
              <a:buNone/>
              <a:defRPr sz="2475" b="1">
                <a:solidFill>
                  <a:srgbClr val="267C83"/>
                </a:solidFill>
                <a:latin typeface="Arial"/>
                <a:ea typeface="Arial"/>
                <a:cs typeface="Arial"/>
              </a:defRPr>
            </a:pPr>
            <a:r>
              <a:rPr sz="2475" b="1">
                <a:solidFill>
                  <a:srgbClr val="267C83"/>
                </a:solidFill>
                <a:latin typeface="Arial"/>
                <a:ea typeface="Arial"/>
                <a:cs typeface="Arial"/>
              </a:rPr>
              <a:t>Đầu vào: ảnh, mask và tham số</a:t>
            </a:r>
          </a:p>
        </p:txBody>
      </p:sp>
      <p:sp>
        <p:nvSpPr>
          <p:cNvPr id="14" name="Rectangle 13">
            <a:extLst>
              <a:ext uri="{FF2B5EF4-FFF2-40B4-BE49-F238E27FC236}">
                <a16:creationId xmlns:a16="http://schemas.microsoft.com/office/drawing/2014/main" id="{5A22AC6B-B9AD-47B6-ABDF-F5B80420781A}"/>
              </a:ext>
            </a:extLst>
          </p:cNvPr>
          <p:cNvSpPr>
            <a:spLocks noGrp="1"/>
          </p:cNvSpPr>
          <p:nvPr/>
        </p:nvSpPr>
        <p:spPr>
          <a:xfrm>
            <a:off x="609600" y="4686300"/>
            <a:ext cx="10858500" cy="952500"/>
          </a:xfrm>
          <a:prstGeom prst="rect">
            <a:avLst/>
          </a:prstGeom>
          <a:noFill/>
          <a:ln w="0">
            <a:noFill/>
          </a:ln>
        </p:spPr>
        <p:txBody>
          <a:bodyPr wrap="square" lIns="0" tIns="0" rIns="0" bIns="0" anchor="t">
            <a:noAutofit/>
          </a:bodyPr>
          <a:lstStyle>
            <a:defPPr algn="l">
              <a:defRPr sz="2250" b="0">
                <a:solidFill>
                  <a:srgbClr val="192F43"/>
                </a:solidFill>
                <a:latin typeface="Arial"/>
                <a:ea typeface="Arial"/>
                <a:cs typeface="Arial"/>
              </a:defRPr>
            </a:defPPr>
            <a:lvl1pPr algn="l">
              <a:defRPr sz="2250" b="0">
                <a:solidFill>
                  <a:srgbClr val="192F43"/>
                </a:solidFill>
                <a:latin typeface="Arial"/>
                <a:ea typeface="Arial"/>
                <a:cs typeface="Arial"/>
              </a:defRPr>
            </a:lvl1pPr>
            <a:lvl2pPr algn="l">
              <a:defRPr sz="2250" b="0">
                <a:solidFill>
                  <a:srgbClr val="192F43"/>
                </a:solidFill>
                <a:latin typeface="Arial"/>
                <a:ea typeface="Arial"/>
                <a:cs typeface="Arial"/>
              </a:defRPr>
            </a:lvl2pPr>
            <a:lvl3pPr algn="l">
              <a:defRPr sz="2250" b="0">
                <a:solidFill>
                  <a:srgbClr val="192F43"/>
                </a:solidFill>
                <a:latin typeface="Arial"/>
                <a:ea typeface="Arial"/>
                <a:cs typeface="Arial"/>
              </a:defRPr>
            </a:lvl3pPr>
            <a:lvl4pPr algn="l">
              <a:defRPr sz="2250" b="0">
                <a:solidFill>
                  <a:srgbClr val="192F43"/>
                </a:solidFill>
                <a:latin typeface="Arial"/>
                <a:ea typeface="Arial"/>
                <a:cs typeface="Arial"/>
              </a:defRPr>
            </a:lvl4pPr>
            <a:lvl5pPr algn="l">
              <a:defRPr sz="2250" b="0">
                <a:solidFill>
                  <a:srgbClr val="192F43"/>
                </a:solidFill>
                <a:latin typeface="Arial"/>
                <a:ea typeface="Arial"/>
                <a:cs typeface="Arial"/>
              </a:defRPr>
            </a:lvl5pPr>
            <a:lvl6pPr algn="l">
              <a:defRPr sz="2250" b="0">
                <a:solidFill>
                  <a:srgbClr val="192F43"/>
                </a:solidFill>
                <a:latin typeface="Arial"/>
                <a:ea typeface="Arial"/>
                <a:cs typeface="Arial"/>
              </a:defRPr>
            </a:lvl6pPr>
            <a:lvl7pPr algn="l">
              <a:defRPr sz="2250" b="0">
                <a:solidFill>
                  <a:srgbClr val="192F43"/>
                </a:solidFill>
                <a:latin typeface="Arial"/>
                <a:ea typeface="Arial"/>
                <a:cs typeface="Arial"/>
              </a:defRPr>
            </a:lvl7pPr>
            <a:lvl8pPr algn="l">
              <a:defRPr sz="2250" b="0">
                <a:solidFill>
                  <a:srgbClr val="192F43"/>
                </a:solidFill>
                <a:latin typeface="Arial"/>
                <a:ea typeface="Arial"/>
                <a:cs typeface="Arial"/>
              </a:defRPr>
            </a:lvl8pPr>
            <a:lvl9pPr algn="l">
              <a:defRPr sz="2250" b="0">
                <a:solidFill>
                  <a:srgbClr val="192F43"/>
                </a:solidFill>
                <a:latin typeface="Arial"/>
                <a:ea typeface="Arial"/>
                <a:cs typeface="Arial"/>
              </a:defRPr>
            </a:lvl9pPr>
          </a:lstStyle>
          <a:p>
            <a:pPr algn="l">
              <a:lnSpc>
                <a:spcPct val="107000"/>
              </a:lnSpc>
              <a:buNone/>
              <a:defRPr sz="2250" b="0">
                <a:solidFill>
                  <a:srgbClr val="192F43"/>
                </a:solidFill>
                <a:latin typeface="Arial"/>
                <a:ea typeface="Arial"/>
                <a:cs typeface="Arial"/>
              </a:defRPr>
            </a:pPr>
            <a:r>
              <a:rPr sz="2250" b="0">
                <a:solidFill>
                  <a:srgbClr val="192F43"/>
                </a:solidFill>
                <a:latin typeface="Arial"/>
                <a:ea typeface="Arial"/>
                <a:cs typeface="Arial"/>
              </a:rPr>
              <a:t>Đầu ra giữ nguyên kích thước và kiểu uint8</a:t>
            </a:r>
          </a:p>
          <a:p>
            <a:pPr algn="l">
              <a:lnSpc>
                <a:spcPct val="107000"/>
              </a:lnSpc>
              <a:buNone/>
              <a:defRPr sz="2250" b="0">
                <a:solidFill>
                  <a:srgbClr val="192F43"/>
                </a:solidFill>
                <a:latin typeface="Arial"/>
                <a:ea typeface="Arial"/>
                <a:cs typeface="Arial"/>
              </a:defRPr>
            </a:pPr>
            <a:r>
              <a:rPr sz="2250" b="0">
                <a:solidFill>
                  <a:srgbClr val="192F43"/>
                </a:solidFill>
                <a:latin typeface="Arial"/>
                <a:ea typeface="Arial"/>
                <a:cs typeface="Arial"/>
              </a:rPr>
              <a:t>Planner ấn định thứ tự, engine thực thi thuật toán</a:t>
            </a:r>
          </a:p>
        </p:txBody>
      </p:sp>
      <p:sp>
        <p:nvSpPr>
          <p:cNvPr id="15" name="Rectangle 14">
            <a:extLst>
              <a:ext uri="{FF2B5EF4-FFF2-40B4-BE49-F238E27FC236}">
                <a16:creationId xmlns:a16="http://schemas.microsoft.com/office/drawing/2014/main" id="{087F3E0E-13AB-453E-85A3-DD39197D91C0}"/>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Khử nhiễu đứng trước làm nét. Các phép xử lý đều cổ điển.</a:t>
            </a:r>
          </a:p>
        </p:txBody>
      </p:sp>
    </p:spTree>
    <p:extLst>
      <p:ext uri="{BB962C8B-B14F-4D97-AF65-F5344CB8AC3E}">
        <p14:creationId xmlns:p14="http://schemas.microsoft.com/office/powerpoint/2010/main" val="17655437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1A83110B-041E-452B-B9A9-D641AA0870BB}"/>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3  XỬ LÝ ĐIỂM ẢNH CỔ ĐIỂN</a:t>
            </a:r>
          </a:p>
        </p:txBody>
      </p:sp>
      <p:sp>
        <p:nvSpPr>
          <p:cNvPr id="2" name="Rectangle 1">
            <a:extLst>
              <a:ext uri="{FF2B5EF4-FFF2-40B4-BE49-F238E27FC236}">
                <a16:creationId xmlns:a16="http://schemas.microsoft.com/office/drawing/2014/main" id="{16CB65FA-853C-45E9-8046-2FBED55D6581}"/>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Khử nhiễu và đánh đổi chi tiết</a:t>
            </a:r>
          </a:p>
        </p:txBody>
      </p:sp>
      <p:sp>
        <p:nvSpPr>
          <p:cNvPr id="3" name="Rectangle 2">
            <a:extLst>
              <a:ext uri="{FF2B5EF4-FFF2-40B4-BE49-F238E27FC236}">
                <a16:creationId xmlns:a16="http://schemas.microsoft.com/office/drawing/2014/main" id="{FA5EC1B6-3E89-4DF2-9CE2-3C148ED3DB35}"/>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11</a:t>
            </a:r>
          </a:p>
        </p:txBody>
      </p:sp>
      <p:pic>
        <p:nvPicPr>
          <p:cNvPr id="4" name="Picture 3">
            <a:extLst>
              <a:ext uri="{FF2B5EF4-FFF2-40B4-BE49-F238E27FC236}">
                <a16:creationId xmlns:a16="http://schemas.microsoft.com/office/drawing/2014/main" id="{8A1A4A66-82EC-4EC5-B879-460C189B1D3C}"/>
              </a:ext>
            </a:extLst>
          </p:cNvPr>
          <p:cNvPicPr>
            <a:picLocks noChangeAspect="1"/>
          </p:cNvPicPr>
          <p:nvPr/>
        </p:nvPicPr>
        <p:blipFill>
          <a:blip r:embed="rId3"/>
          <a:srcRect l="933" t="1186" r="67600" b="58814"/>
          <a:stretch/>
        </p:blipFill>
        <p:spPr>
          <a:xfrm>
            <a:off x="609600" y="1752600"/>
            <a:ext cx="2457450" cy="2457450"/>
          </a:xfrm>
          <a:prstGeom prst="rect">
            <a:avLst/>
          </a:prstGeom>
        </p:spPr>
      </p:pic>
      <p:sp>
        <p:nvSpPr>
          <p:cNvPr id="5" name="Rectangle 4">
            <a:extLst>
              <a:ext uri="{FF2B5EF4-FFF2-40B4-BE49-F238E27FC236}">
                <a16:creationId xmlns:a16="http://schemas.microsoft.com/office/drawing/2014/main" id="{FAAE9758-E735-44F9-B41A-9337B84F35F7}"/>
              </a:ext>
            </a:extLst>
          </p:cNvPr>
          <p:cNvSpPr>
            <a:spLocks noGrp="1"/>
          </p:cNvSpPr>
          <p:nvPr/>
        </p:nvSpPr>
        <p:spPr>
          <a:xfrm>
            <a:off x="609600" y="4324350"/>
            <a:ext cx="24574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Crop sạch</a:t>
            </a:r>
          </a:p>
        </p:txBody>
      </p:sp>
      <p:pic>
        <p:nvPicPr>
          <p:cNvPr id="6" name="Picture 5">
            <a:extLst>
              <a:ext uri="{FF2B5EF4-FFF2-40B4-BE49-F238E27FC236}">
                <a16:creationId xmlns:a16="http://schemas.microsoft.com/office/drawing/2014/main" id="{1D23569E-8F26-47FD-8504-C33502861E6E}"/>
              </a:ext>
            </a:extLst>
          </p:cNvPr>
          <p:cNvPicPr>
            <a:picLocks noChangeAspect="1"/>
          </p:cNvPicPr>
          <p:nvPr/>
        </p:nvPicPr>
        <p:blipFill>
          <a:blip r:embed="rId3"/>
          <a:srcRect l="34267" t="1186" r="34267" b="58814"/>
          <a:stretch/>
        </p:blipFill>
        <p:spPr>
          <a:xfrm>
            <a:off x="3467100" y="1752600"/>
            <a:ext cx="2457450" cy="2457450"/>
          </a:xfrm>
          <a:prstGeom prst="rect">
            <a:avLst/>
          </a:prstGeom>
        </p:spPr>
      </p:pic>
      <p:sp>
        <p:nvSpPr>
          <p:cNvPr id="7" name="Rectangle 6">
            <a:extLst>
              <a:ext uri="{FF2B5EF4-FFF2-40B4-BE49-F238E27FC236}">
                <a16:creationId xmlns:a16="http://schemas.microsoft.com/office/drawing/2014/main" id="{FE3597CB-3E0D-415F-ADB1-80D17AA33BA9}"/>
              </a:ext>
            </a:extLst>
          </p:cNvPr>
          <p:cNvSpPr>
            <a:spLocks noGrp="1"/>
          </p:cNvSpPr>
          <p:nvPr/>
        </p:nvSpPr>
        <p:spPr>
          <a:xfrm>
            <a:off x="3467100" y="4324350"/>
            <a:ext cx="24574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Gaussian σ = 25</a:t>
            </a:r>
          </a:p>
        </p:txBody>
      </p:sp>
      <p:pic>
        <p:nvPicPr>
          <p:cNvPr id="8" name="Picture 7">
            <a:extLst>
              <a:ext uri="{FF2B5EF4-FFF2-40B4-BE49-F238E27FC236}">
                <a16:creationId xmlns:a16="http://schemas.microsoft.com/office/drawing/2014/main" id="{7D7C7882-D60D-41B6-8C95-F11097386055}"/>
              </a:ext>
            </a:extLst>
          </p:cNvPr>
          <p:cNvPicPr>
            <a:picLocks noChangeAspect="1"/>
          </p:cNvPicPr>
          <p:nvPr/>
        </p:nvPicPr>
        <p:blipFill>
          <a:blip r:embed="rId3"/>
          <a:srcRect l="933" t="51186" r="67600" b="8814"/>
          <a:stretch/>
        </p:blipFill>
        <p:spPr>
          <a:xfrm>
            <a:off x="6324600" y="1752600"/>
            <a:ext cx="2457450" cy="2457450"/>
          </a:xfrm>
          <a:prstGeom prst="rect">
            <a:avLst/>
          </a:prstGeom>
        </p:spPr>
      </p:pic>
      <p:sp>
        <p:nvSpPr>
          <p:cNvPr id="9" name="Rectangle 8">
            <a:extLst>
              <a:ext uri="{FF2B5EF4-FFF2-40B4-BE49-F238E27FC236}">
                <a16:creationId xmlns:a16="http://schemas.microsoft.com/office/drawing/2014/main" id="{10E28F95-51CE-45C1-8470-B87B547DCD64}"/>
              </a:ext>
            </a:extLst>
          </p:cNvPr>
          <p:cNvSpPr>
            <a:spLocks noGrp="1"/>
          </p:cNvSpPr>
          <p:nvPr/>
        </p:nvSpPr>
        <p:spPr>
          <a:xfrm>
            <a:off x="6324600" y="4324350"/>
            <a:ext cx="24574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Bilateral strength 2</a:t>
            </a:r>
          </a:p>
        </p:txBody>
      </p:sp>
      <p:pic>
        <p:nvPicPr>
          <p:cNvPr id="10" name="Picture 9">
            <a:extLst>
              <a:ext uri="{FF2B5EF4-FFF2-40B4-BE49-F238E27FC236}">
                <a16:creationId xmlns:a16="http://schemas.microsoft.com/office/drawing/2014/main" id="{07FC22E7-DEF2-4680-9884-80EAD584B26F}"/>
              </a:ext>
            </a:extLst>
          </p:cNvPr>
          <p:cNvPicPr>
            <a:picLocks noChangeAspect="1"/>
          </p:cNvPicPr>
          <p:nvPr/>
        </p:nvPicPr>
        <p:blipFill>
          <a:blip r:embed="rId3"/>
          <a:srcRect l="34267" t="51186" r="34267" b="8814"/>
          <a:stretch/>
        </p:blipFill>
        <p:spPr>
          <a:xfrm>
            <a:off x="9182100" y="1752600"/>
            <a:ext cx="2381250" cy="2381250"/>
          </a:xfrm>
          <a:prstGeom prst="rect">
            <a:avLst/>
          </a:prstGeom>
        </p:spPr>
      </p:pic>
      <p:sp>
        <p:nvSpPr>
          <p:cNvPr id="11" name="Rectangle 10">
            <a:extLst>
              <a:ext uri="{FF2B5EF4-FFF2-40B4-BE49-F238E27FC236}">
                <a16:creationId xmlns:a16="http://schemas.microsoft.com/office/drawing/2014/main" id="{CC88FC6A-D37F-4FFC-8BFD-39805ED1EEC2}"/>
              </a:ext>
            </a:extLst>
          </p:cNvPr>
          <p:cNvSpPr>
            <a:spLocks noGrp="1"/>
          </p:cNvSpPr>
          <p:nvPr/>
        </p:nvSpPr>
        <p:spPr>
          <a:xfrm>
            <a:off x="9182100" y="4248150"/>
            <a:ext cx="23812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NLM strength 2</a:t>
            </a:r>
          </a:p>
        </p:txBody>
      </p:sp>
      <p:sp>
        <p:nvSpPr>
          <p:cNvPr id="12" name="Rectangle 11">
            <a:extLst>
              <a:ext uri="{FF2B5EF4-FFF2-40B4-BE49-F238E27FC236}">
                <a16:creationId xmlns:a16="http://schemas.microsoft.com/office/drawing/2014/main" id="{F9A78D61-CDBF-4A3B-A26F-194A915E0C36}"/>
              </a:ext>
            </a:extLst>
          </p:cNvPr>
          <p:cNvSpPr>
            <a:spLocks noGrp="1"/>
          </p:cNvSpPr>
          <p:nvPr/>
        </p:nvSpPr>
        <p:spPr>
          <a:xfrm>
            <a:off x="609600" y="5133975"/>
            <a:ext cx="10858500" cy="476250"/>
          </a:xfrm>
          <a:prstGeom prst="rect">
            <a:avLst/>
          </a:prstGeom>
          <a:noFill/>
          <a:ln w="0">
            <a:noFill/>
          </a:ln>
        </p:spPr>
        <p:txBody>
          <a:bodyPr wrap="square" lIns="0" tIns="0" rIns="0" bIns="0" anchor="t">
            <a:noAutofit/>
          </a:bodyPr>
          <a:lstStyle>
            <a:defPPr algn="l">
              <a:defRPr sz="2475" b="1">
                <a:solidFill>
                  <a:srgbClr val="267C83"/>
                </a:solidFill>
                <a:latin typeface="Arial"/>
                <a:ea typeface="Arial"/>
                <a:cs typeface="Arial"/>
              </a:defRPr>
            </a:defPPr>
            <a:lvl1pPr algn="l">
              <a:defRPr sz="2475" b="1">
                <a:solidFill>
                  <a:srgbClr val="267C83"/>
                </a:solidFill>
                <a:latin typeface="Arial"/>
                <a:ea typeface="Arial"/>
                <a:cs typeface="Arial"/>
              </a:defRPr>
            </a:lvl1pPr>
            <a:lvl2pPr algn="l">
              <a:defRPr sz="2475" b="1">
                <a:solidFill>
                  <a:srgbClr val="267C83"/>
                </a:solidFill>
                <a:latin typeface="Arial"/>
                <a:ea typeface="Arial"/>
                <a:cs typeface="Arial"/>
              </a:defRPr>
            </a:lvl2pPr>
            <a:lvl3pPr algn="l">
              <a:defRPr sz="2475" b="1">
                <a:solidFill>
                  <a:srgbClr val="267C83"/>
                </a:solidFill>
                <a:latin typeface="Arial"/>
                <a:ea typeface="Arial"/>
                <a:cs typeface="Arial"/>
              </a:defRPr>
            </a:lvl3pPr>
            <a:lvl4pPr algn="l">
              <a:defRPr sz="2475" b="1">
                <a:solidFill>
                  <a:srgbClr val="267C83"/>
                </a:solidFill>
                <a:latin typeface="Arial"/>
                <a:ea typeface="Arial"/>
                <a:cs typeface="Arial"/>
              </a:defRPr>
            </a:lvl4pPr>
            <a:lvl5pPr algn="l">
              <a:defRPr sz="2475" b="1">
                <a:solidFill>
                  <a:srgbClr val="267C83"/>
                </a:solidFill>
                <a:latin typeface="Arial"/>
                <a:ea typeface="Arial"/>
                <a:cs typeface="Arial"/>
              </a:defRPr>
            </a:lvl5pPr>
            <a:lvl6pPr algn="l">
              <a:defRPr sz="2475" b="1">
                <a:solidFill>
                  <a:srgbClr val="267C83"/>
                </a:solidFill>
                <a:latin typeface="Arial"/>
                <a:ea typeface="Arial"/>
                <a:cs typeface="Arial"/>
              </a:defRPr>
            </a:lvl6pPr>
            <a:lvl7pPr algn="l">
              <a:defRPr sz="2475" b="1">
                <a:solidFill>
                  <a:srgbClr val="267C83"/>
                </a:solidFill>
                <a:latin typeface="Arial"/>
                <a:ea typeface="Arial"/>
                <a:cs typeface="Arial"/>
              </a:defRPr>
            </a:lvl7pPr>
            <a:lvl8pPr algn="l">
              <a:defRPr sz="2475" b="1">
                <a:solidFill>
                  <a:srgbClr val="267C83"/>
                </a:solidFill>
                <a:latin typeface="Arial"/>
                <a:ea typeface="Arial"/>
                <a:cs typeface="Arial"/>
              </a:defRPr>
            </a:lvl8pPr>
            <a:lvl9pPr algn="l">
              <a:defRPr sz="2475" b="1">
                <a:solidFill>
                  <a:srgbClr val="267C83"/>
                </a:solidFill>
                <a:latin typeface="Arial"/>
                <a:ea typeface="Arial"/>
                <a:cs typeface="Arial"/>
              </a:defRPr>
            </a:lvl9pPr>
          </a:lstStyle>
          <a:p>
            <a:pPr algn="l">
              <a:lnSpc>
                <a:spcPct val="107000"/>
              </a:lnSpc>
              <a:buNone/>
              <a:defRPr sz="2475" b="1">
                <a:solidFill>
                  <a:srgbClr val="267C83"/>
                </a:solidFill>
                <a:latin typeface="Arial"/>
                <a:ea typeface="Arial"/>
                <a:cs typeface="Arial"/>
              </a:defRPr>
            </a:pPr>
            <a:r>
              <a:rPr sz="2475" b="1">
                <a:solidFill>
                  <a:srgbClr val="267C83"/>
                </a:solidFill>
                <a:latin typeface="Arial"/>
                <a:ea typeface="Arial"/>
                <a:cs typeface="Arial"/>
              </a:rPr>
              <a:t>Giảm hạt mạnh có thể làm mất texture</a:t>
            </a:r>
          </a:p>
        </p:txBody>
      </p:sp>
      <p:sp>
        <p:nvSpPr>
          <p:cNvPr id="13" name="Rectangle 12">
            <a:extLst>
              <a:ext uri="{FF2B5EF4-FFF2-40B4-BE49-F238E27FC236}">
                <a16:creationId xmlns:a16="http://schemas.microsoft.com/office/drawing/2014/main" id="{CEC144D8-06AD-4FAF-AE17-BDD06BB1ADE3}"/>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Gaussian, Median, Bilateral, NLM. Sigma mục tiêu = 12,5 × strength. Agent giới hạn 0,1–2,0.</a:t>
            </a:r>
          </a:p>
        </p:txBody>
      </p:sp>
    </p:spTree>
    <p:extLst>
      <p:ext uri="{BB962C8B-B14F-4D97-AF65-F5344CB8AC3E}">
        <p14:creationId xmlns:p14="http://schemas.microsoft.com/office/powerpoint/2010/main" val="16571178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B571EB35-EE33-4562-96E7-868C02484B4D}"/>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3  XỬ LÝ ĐIỂM ẢNH CỔ ĐIỂN</a:t>
            </a:r>
          </a:p>
        </p:txBody>
      </p:sp>
      <p:sp>
        <p:nvSpPr>
          <p:cNvPr id="2" name="Rectangle 1">
            <a:extLst>
              <a:ext uri="{FF2B5EF4-FFF2-40B4-BE49-F238E27FC236}">
                <a16:creationId xmlns:a16="http://schemas.microsoft.com/office/drawing/2014/main" id="{EAA92C18-5A3A-4360-BC99-9D973064B3E4}"/>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Gamma và CLAHE cho sáng và tương phản</a:t>
            </a:r>
          </a:p>
        </p:txBody>
      </p:sp>
      <p:sp>
        <p:nvSpPr>
          <p:cNvPr id="3" name="Rectangle 2">
            <a:extLst>
              <a:ext uri="{FF2B5EF4-FFF2-40B4-BE49-F238E27FC236}">
                <a16:creationId xmlns:a16="http://schemas.microsoft.com/office/drawing/2014/main" id="{28FE1961-6E9E-47E4-AADD-68EF8405763E}"/>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12</a:t>
            </a:r>
          </a:p>
        </p:txBody>
      </p:sp>
      <p:pic>
        <p:nvPicPr>
          <p:cNvPr id="4" name="Picture 3">
            <a:extLst>
              <a:ext uri="{FF2B5EF4-FFF2-40B4-BE49-F238E27FC236}">
                <a16:creationId xmlns:a16="http://schemas.microsoft.com/office/drawing/2014/main" id="{C19D7CFF-B6AA-4D8E-914B-6BB07E9E5BB4}"/>
              </a:ext>
            </a:extLst>
          </p:cNvPr>
          <p:cNvPicPr>
            <a:picLocks noChangeAspect="1"/>
          </p:cNvPicPr>
          <p:nvPr/>
        </p:nvPicPr>
        <p:blipFill>
          <a:blip r:embed="rId3"/>
          <a:srcRect l="933" t="2373" r="67600" b="17627"/>
          <a:stretch/>
        </p:blipFill>
        <p:spPr>
          <a:xfrm>
            <a:off x="609600" y="1628775"/>
            <a:ext cx="2381250" cy="2381250"/>
          </a:xfrm>
          <a:prstGeom prst="rect">
            <a:avLst/>
          </a:prstGeom>
        </p:spPr>
      </p:pic>
      <p:sp>
        <p:nvSpPr>
          <p:cNvPr id="5" name="Rectangle 4">
            <a:extLst>
              <a:ext uri="{FF2B5EF4-FFF2-40B4-BE49-F238E27FC236}">
                <a16:creationId xmlns:a16="http://schemas.microsoft.com/office/drawing/2014/main" id="{E9507655-7063-4259-81DC-6A89375163DC}"/>
              </a:ext>
            </a:extLst>
          </p:cNvPr>
          <p:cNvSpPr>
            <a:spLocks noGrp="1"/>
          </p:cNvSpPr>
          <p:nvPr/>
        </p:nvSpPr>
        <p:spPr>
          <a:xfrm>
            <a:off x="609600" y="4124325"/>
            <a:ext cx="23812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Ảnh tối</a:t>
            </a:r>
          </a:p>
        </p:txBody>
      </p:sp>
      <p:pic>
        <p:nvPicPr>
          <p:cNvPr id="6" name="Picture 5">
            <a:extLst>
              <a:ext uri="{FF2B5EF4-FFF2-40B4-BE49-F238E27FC236}">
                <a16:creationId xmlns:a16="http://schemas.microsoft.com/office/drawing/2014/main" id="{FDC9B838-47D2-4F63-8E37-CBD0C814BBE7}"/>
              </a:ext>
            </a:extLst>
          </p:cNvPr>
          <p:cNvPicPr>
            <a:picLocks noChangeAspect="1"/>
          </p:cNvPicPr>
          <p:nvPr/>
        </p:nvPicPr>
        <p:blipFill>
          <a:blip r:embed="rId3"/>
          <a:srcRect l="67600" t="2373" r="933" b="17627"/>
          <a:stretch/>
        </p:blipFill>
        <p:spPr>
          <a:xfrm>
            <a:off x="3371850" y="1628775"/>
            <a:ext cx="2381250" cy="2381250"/>
          </a:xfrm>
          <a:prstGeom prst="rect">
            <a:avLst/>
          </a:prstGeom>
        </p:spPr>
      </p:pic>
      <p:sp>
        <p:nvSpPr>
          <p:cNvPr id="7" name="Rectangle 6">
            <a:extLst>
              <a:ext uri="{FF2B5EF4-FFF2-40B4-BE49-F238E27FC236}">
                <a16:creationId xmlns:a16="http://schemas.microsoft.com/office/drawing/2014/main" id="{915E75F0-CFC2-4806-8E59-5721901D11F6}"/>
              </a:ext>
            </a:extLst>
          </p:cNvPr>
          <p:cNvSpPr>
            <a:spLocks noGrp="1"/>
          </p:cNvSpPr>
          <p:nvPr/>
        </p:nvSpPr>
        <p:spPr>
          <a:xfrm>
            <a:off x="3371850" y="4124325"/>
            <a:ext cx="23812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Gamma 2,5</a:t>
            </a:r>
          </a:p>
        </p:txBody>
      </p:sp>
      <p:pic>
        <p:nvPicPr>
          <p:cNvPr id="8" name="Picture 7">
            <a:extLst>
              <a:ext uri="{FF2B5EF4-FFF2-40B4-BE49-F238E27FC236}">
                <a16:creationId xmlns:a16="http://schemas.microsoft.com/office/drawing/2014/main" id="{881B0BCE-A9E9-4C94-BEAD-5A3DECECFC40}"/>
              </a:ext>
            </a:extLst>
          </p:cNvPr>
          <p:cNvPicPr>
            <a:picLocks noChangeAspect="1"/>
          </p:cNvPicPr>
          <p:nvPr/>
        </p:nvPicPr>
        <p:blipFill>
          <a:blip r:embed="rId4"/>
          <a:srcRect l="34267" t="2373" r="34267" b="17627"/>
          <a:stretch/>
        </p:blipFill>
        <p:spPr>
          <a:xfrm>
            <a:off x="6343650" y="1628775"/>
            <a:ext cx="2381250" cy="2381250"/>
          </a:xfrm>
          <a:prstGeom prst="rect">
            <a:avLst/>
          </a:prstGeom>
        </p:spPr>
      </p:pic>
      <p:sp>
        <p:nvSpPr>
          <p:cNvPr id="9" name="Rectangle 8">
            <a:extLst>
              <a:ext uri="{FF2B5EF4-FFF2-40B4-BE49-F238E27FC236}">
                <a16:creationId xmlns:a16="http://schemas.microsoft.com/office/drawing/2014/main" id="{434F229F-EA5C-42DF-B831-0AB6B1DC9DE5}"/>
              </a:ext>
            </a:extLst>
          </p:cNvPr>
          <p:cNvSpPr>
            <a:spLocks noGrp="1"/>
          </p:cNvSpPr>
          <p:nvPr/>
        </p:nvSpPr>
        <p:spPr>
          <a:xfrm>
            <a:off x="6343650" y="4124325"/>
            <a:ext cx="23812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Tương phản thấp</a:t>
            </a:r>
          </a:p>
        </p:txBody>
      </p:sp>
      <p:pic>
        <p:nvPicPr>
          <p:cNvPr id="10" name="Picture 9">
            <a:extLst>
              <a:ext uri="{FF2B5EF4-FFF2-40B4-BE49-F238E27FC236}">
                <a16:creationId xmlns:a16="http://schemas.microsoft.com/office/drawing/2014/main" id="{961138D4-9775-4697-830C-B6393AF49E72}"/>
              </a:ext>
            </a:extLst>
          </p:cNvPr>
          <p:cNvPicPr>
            <a:picLocks noChangeAspect="1"/>
          </p:cNvPicPr>
          <p:nvPr/>
        </p:nvPicPr>
        <p:blipFill>
          <a:blip r:embed="rId4"/>
          <a:srcRect l="67600" t="2373" r="933" b="17627"/>
          <a:stretch/>
        </p:blipFill>
        <p:spPr>
          <a:xfrm>
            <a:off x="9105900" y="1628775"/>
            <a:ext cx="2381250" cy="2381250"/>
          </a:xfrm>
          <a:prstGeom prst="rect">
            <a:avLst/>
          </a:prstGeom>
        </p:spPr>
      </p:pic>
      <p:sp>
        <p:nvSpPr>
          <p:cNvPr id="11" name="Rectangle 10">
            <a:extLst>
              <a:ext uri="{FF2B5EF4-FFF2-40B4-BE49-F238E27FC236}">
                <a16:creationId xmlns:a16="http://schemas.microsoft.com/office/drawing/2014/main" id="{F003199C-CDCE-4C51-A6D3-417B4DF890F0}"/>
              </a:ext>
            </a:extLst>
          </p:cNvPr>
          <p:cNvSpPr>
            <a:spLocks noGrp="1"/>
          </p:cNvSpPr>
          <p:nvPr/>
        </p:nvSpPr>
        <p:spPr>
          <a:xfrm>
            <a:off x="9105900" y="4124325"/>
            <a:ext cx="23812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CLAHE clip 2</a:t>
            </a:r>
          </a:p>
        </p:txBody>
      </p:sp>
      <p:sp>
        <p:nvSpPr>
          <p:cNvPr id="12" name="Rectangle 11">
            <a:extLst>
              <a:ext uri="{FF2B5EF4-FFF2-40B4-BE49-F238E27FC236}">
                <a16:creationId xmlns:a16="http://schemas.microsoft.com/office/drawing/2014/main" id="{A6973DFC-7DDD-4996-A217-809C9CAF9553}"/>
              </a:ext>
            </a:extLst>
          </p:cNvPr>
          <p:cNvSpPr>
            <a:spLocks noGrp="1"/>
          </p:cNvSpPr>
          <p:nvPr/>
        </p:nvSpPr>
        <p:spPr>
          <a:xfrm>
            <a:off x="609600" y="4800600"/>
            <a:ext cx="5238750" cy="400050"/>
          </a:xfrm>
          <a:prstGeom prst="rect">
            <a:avLst/>
          </a:prstGeom>
          <a:noFill/>
          <a:ln w="0">
            <a:noFill/>
          </a:ln>
        </p:spPr>
        <p:txBody>
          <a:bodyPr wrap="square" lIns="0" tIns="0" rIns="0" bIns="0" anchor="t">
            <a:noAutofit/>
          </a:bodyPr>
          <a:lstStyle>
            <a:defPPr algn="l">
              <a:defRPr sz="2175" b="1">
                <a:solidFill>
                  <a:srgbClr val="192F43"/>
                </a:solidFill>
                <a:latin typeface="Arial"/>
                <a:ea typeface="Arial"/>
                <a:cs typeface="Arial"/>
              </a:defRPr>
            </a:defPPr>
            <a:lvl1pPr algn="l">
              <a:defRPr sz="2175" b="1">
                <a:solidFill>
                  <a:srgbClr val="192F43"/>
                </a:solidFill>
                <a:latin typeface="Arial"/>
                <a:ea typeface="Arial"/>
                <a:cs typeface="Arial"/>
              </a:defRPr>
            </a:lvl1pPr>
            <a:lvl2pPr algn="l">
              <a:defRPr sz="2175" b="1">
                <a:solidFill>
                  <a:srgbClr val="192F43"/>
                </a:solidFill>
                <a:latin typeface="Arial"/>
                <a:ea typeface="Arial"/>
                <a:cs typeface="Arial"/>
              </a:defRPr>
            </a:lvl2pPr>
            <a:lvl3pPr algn="l">
              <a:defRPr sz="2175" b="1">
                <a:solidFill>
                  <a:srgbClr val="192F43"/>
                </a:solidFill>
                <a:latin typeface="Arial"/>
                <a:ea typeface="Arial"/>
                <a:cs typeface="Arial"/>
              </a:defRPr>
            </a:lvl3pPr>
            <a:lvl4pPr algn="l">
              <a:defRPr sz="2175" b="1">
                <a:solidFill>
                  <a:srgbClr val="192F43"/>
                </a:solidFill>
                <a:latin typeface="Arial"/>
                <a:ea typeface="Arial"/>
                <a:cs typeface="Arial"/>
              </a:defRPr>
            </a:lvl4pPr>
            <a:lvl5pPr algn="l">
              <a:defRPr sz="2175" b="1">
                <a:solidFill>
                  <a:srgbClr val="192F43"/>
                </a:solidFill>
                <a:latin typeface="Arial"/>
                <a:ea typeface="Arial"/>
                <a:cs typeface="Arial"/>
              </a:defRPr>
            </a:lvl5pPr>
            <a:lvl6pPr algn="l">
              <a:defRPr sz="2175" b="1">
                <a:solidFill>
                  <a:srgbClr val="192F43"/>
                </a:solidFill>
                <a:latin typeface="Arial"/>
                <a:ea typeface="Arial"/>
                <a:cs typeface="Arial"/>
              </a:defRPr>
            </a:lvl6pPr>
            <a:lvl7pPr algn="l">
              <a:defRPr sz="2175" b="1">
                <a:solidFill>
                  <a:srgbClr val="192F43"/>
                </a:solidFill>
                <a:latin typeface="Arial"/>
                <a:ea typeface="Arial"/>
                <a:cs typeface="Arial"/>
              </a:defRPr>
            </a:lvl7pPr>
            <a:lvl8pPr algn="l">
              <a:defRPr sz="2175" b="1">
                <a:solidFill>
                  <a:srgbClr val="192F43"/>
                </a:solidFill>
                <a:latin typeface="Arial"/>
                <a:ea typeface="Arial"/>
                <a:cs typeface="Arial"/>
              </a:defRPr>
            </a:lvl8pPr>
            <a:lvl9pPr algn="l">
              <a:defRPr sz="2175" b="1">
                <a:solidFill>
                  <a:srgbClr val="192F43"/>
                </a:solidFill>
                <a:latin typeface="Arial"/>
                <a:ea typeface="Arial"/>
                <a:cs typeface="Arial"/>
              </a:defRPr>
            </a:lvl9pPr>
          </a:lstStyle>
          <a:p>
            <a:pPr algn="l">
              <a:lnSpc>
                <a:spcPct val="107000"/>
              </a:lnSpc>
              <a:buNone/>
              <a:defRPr sz="2175" b="1">
                <a:solidFill>
                  <a:srgbClr val="192F43"/>
                </a:solidFill>
                <a:latin typeface="Arial"/>
                <a:ea typeface="Arial"/>
                <a:cs typeface="Arial"/>
              </a:defRPr>
            </a:pPr>
            <a:r>
              <a:rPr sz="2175" b="1">
                <a:solidFill>
                  <a:srgbClr val="192F43"/>
                </a:solidFill>
                <a:latin typeface="Arial"/>
                <a:ea typeface="Arial"/>
                <a:cs typeface="Arial"/>
              </a:rPr>
              <a:t>Gamma</a:t>
            </a:r>
          </a:p>
        </p:txBody>
      </p:sp>
      <p:sp>
        <p:nvSpPr>
          <p:cNvPr id="14" name="Rectangle 13">
            <a:extLst>
              <a:ext uri="{FF2B5EF4-FFF2-40B4-BE49-F238E27FC236}">
                <a16:creationId xmlns:a16="http://schemas.microsoft.com/office/drawing/2014/main" id="{799B4DFE-75A3-4330-92B3-35956B29ADA9}"/>
              </a:ext>
            </a:extLst>
          </p:cNvPr>
          <p:cNvSpPr>
            <a:spLocks noGrp="1"/>
          </p:cNvSpPr>
          <p:nvPr/>
        </p:nvSpPr>
        <p:spPr>
          <a:xfrm>
            <a:off x="6343650" y="4800600"/>
            <a:ext cx="5238750" cy="400050"/>
          </a:xfrm>
          <a:prstGeom prst="rect">
            <a:avLst/>
          </a:prstGeom>
          <a:noFill/>
          <a:ln w="0">
            <a:noFill/>
          </a:ln>
        </p:spPr>
        <p:txBody>
          <a:bodyPr wrap="square" lIns="0" tIns="0" rIns="0" bIns="0" anchor="t">
            <a:noAutofit/>
          </a:bodyPr>
          <a:lstStyle>
            <a:defPPr algn="l">
              <a:defRPr sz="2175" b="1">
                <a:solidFill>
                  <a:srgbClr val="192F43"/>
                </a:solidFill>
                <a:latin typeface="Arial"/>
                <a:ea typeface="Arial"/>
                <a:cs typeface="Arial"/>
              </a:defRPr>
            </a:defPPr>
            <a:lvl1pPr algn="l">
              <a:defRPr sz="2175" b="1">
                <a:solidFill>
                  <a:srgbClr val="192F43"/>
                </a:solidFill>
                <a:latin typeface="Arial"/>
                <a:ea typeface="Arial"/>
                <a:cs typeface="Arial"/>
              </a:defRPr>
            </a:lvl1pPr>
            <a:lvl2pPr algn="l">
              <a:defRPr sz="2175" b="1">
                <a:solidFill>
                  <a:srgbClr val="192F43"/>
                </a:solidFill>
                <a:latin typeface="Arial"/>
                <a:ea typeface="Arial"/>
                <a:cs typeface="Arial"/>
              </a:defRPr>
            </a:lvl2pPr>
            <a:lvl3pPr algn="l">
              <a:defRPr sz="2175" b="1">
                <a:solidFill>
                  <a:srgbClr val="192F43"/>
                </a:solidFill>
                <a:latin typeface="Arial"/>
                <a:ea typeface="Arial"/>
                <a:cs typeface="Arial"/>
              </a:defRPr>
            </a:lvl3pPr>
            <a:lvl4pPr algn="l">
              <a:defRPr sz="2175" b="1">
                <a:solidFill>
                  <a:srgbClr val="192F43"/>
                </a:solidFill>
                <a:latin typeface="Arial"/>
                <a:ea typeface="Arial"/>
                <a:cs typeface="Arial"/>
              </a:defRPr>
            </a:lvl4pPr>
            <a:lvl5pPr algn="l">
              <a:defRPr sz="2175" b="1">
                <a:solidFill>
                  <a:srgbClr val="192F43"/>
                </a:solidFill>
                <a:latin typeface="Arial"/>
                <a:ea typeface="Arial"/>
                <a:cs typeface="Arial"/>
              </a:defRPr>
            </a:lvl5pPr>
            <a:lvl6pPr algn="l">
              <a:defRPr sz="2175" b="1">
                <a:solidFill>
                  <a:srgbClr val="192F43"/>
                </a:solidFill>
                <a:latin typeface="Arial"/>
                <a:ea typeface="Arial"/>
                <a:cs typeface="Arial"/>
              </a:defRPr>
            </a:lvl6pPr>
            <a:lvl7pPr algn="l">
              <a:defRPr sz="2175" b="1">
                <a:solidFill>
                  <a:srgbClr val="192F43"/>
                </a:solidFill>
                <a:latin typeface="Arial"/>
                <a:ea typeface="Arial"/>
                <a:cs typeface="Arial"/>
              </a:defRPr>
            </a:lvl7pPr>
            <a:lvl8pPr algn="l">
              <a:defRPr sz="2175" b="1">
                <a:solidFill>
                  <a:srgbClr val="192F43"/>
                </a:solidFill>
                <a:latin typeface="Arial"/>
                <a:ea typeface="Arial"/>
                <a:cs typeface="Arial"/>
              </a:defRPr>
            </a:lvl8pPr>
            <a:lvl9pPr algn="l">
              <a:defRPr sz="2175" b="1">
                <a:solidFill>
                  <a:srgbClr val="192F43"/>
                </a:solidFill>
                <a:latin typeface="Arial"/>
                <a:ea typeface="Arial"/>
                <a:cs typeface="Arial"/>
              </a:defRPr>
            </a:lvl9pPr>
          </a:lstStyle>
          <a:p>
            <a:pPr algn="l">
              <a:lnSpc>
                <a:spcPct val="107000"/>
              </a:lnSpc>
              <a:buNone/>
              <a:defRPr sz="2175" b="1">
                <a:solidFill>
                  <a:srgbClr val="192F43"/>
                </a:solidFill>
                <a:latin typeface="Arial"/>
                <a:ea typeface="Arial"/>
                <a:cs typeface="Arial"/>
              </a:defRPr>
            </a:pPr>
            <a:r>
              <a:rPr sz="2175" b="1">
                <a:solidFill>
                  <a:srgbClr val="192F43"/>
                </a:solidFill>
                <a:latin typeface="Arial"/>
                <a:ea typeface="Arial"/>
                <a:cs typeface="Arial"/>
              </a:rPr>
              <a:t>CLAHE</a:t>
            </a:r>
          </a:p>
        </p:txBody>
      </p:sp>
      <p:sp>
        <p:nvSpPr>
          <p:cNvPr id="15" name="Rectangle 14">
            <a:extLst>
              <a:ext uri="{FF2B5EF4-FFF2-40B4-BE49-F238E27FC236}">
                <a16:creationId xmlns:a16="http://schemas.microsoft.com/office/drawing/2014/main" id="{64169C7E-B8D9-446A-ACAA-D12B837D9901}"/>
              </a:ext>
            </a:extLst>
          </p:cNvPr>
          <p:cNvSpPr>
            <a:spLocks noGrp="1"/>
          </p:cNvSpPr>
          <p:nvPr/>
        </p:nvSpPr>
        <p:spPr>
          <a:xfrm>
            <a:off x="6343650" y="5238750"/>
            <a:ext cx="5238750" cy="952500"/>
          </a:xfrm>
          <a:prstGeom prst="rect">
            <a:avLst/>
          </a:prstGeom>
          <a:noFill/>
          <a:ln w="0">
            <a:noFill/>
          </a:ln>
        </p:spPr>
        <p:txBody>
          <a:bodyPr wrap="square" lIns="0" tIns="0" rIns="0" bIns="0" anchor="t">
            <a:noAutofit/>
          </a:bodyPr>
          <a:lstStyle>
            <a:defPPr algn="l">
              <a:defRPr sz="2025" b="0">
                <a:solidFill>
                  <a:srgbClr val="526779"/>
                </a:solidFill>
                <a:latin typeface="Arial"/>
                <a:ea typeface="Arial"/>
                <a:cs typeface="Arial"/>
              </a:defRPr>
            </a:defPPr>
            <a:lvl1pPr algn="l">
              <a:defRPr sz="2025" b="0">
                <a:solidFill>
                  <a:srgbClr val="526779"/>
                </a:solidFill>
                <a:latin typeface="Arial"/>
                <a:ea typeface="Arial"/>
                <a:cs typeface="Arial"/>
              </a:defRPr>
            </a:lvl1pPr>
            <a:lvl2pPr algn="l">
              <a:defRPr sz="2025" b="0">
                <a:solidFill>
                  <a:srgbClr val="526779"/>
                </a:solidFill>
                <a:latin typeface="Arial"/>
                <a:ea typeface="Arial"/>
                <a:cs typeface="Arial"/>
              </a:defRPr>
            </a:lvl2pPr>
            <a:lvl3pPr algn="l">
              <a:defRPr sz="2025" b="0">
                <a:solidFill>
                  <a:srgbClr val="526779"/>
                </a:solidFill>
                <a:latin typeface="Arial"/>
                <a:ea typeface="Arial"/>
                <a:cs typeface="Arial"/>
              </a:defRPr>
            </a:lvl3pPr>
            <a:lvl4pPr algn="l">
              <a:defRPr sz="2025" b="0">
                <a:solidFill>
                  <a:srgbClr val="526779"/>
                </a:solidFill>
                <a:latin typeface="Arial"/>
                <a:ea typeface="Arial"/>
                <a:cs typeface="Arial"/>
              </a:defRPr>
            </a:lvl4pPr>
            <a:lvl5pPr algn="l">
              <a:defRPr sz="2025" b="0">
                <a:solidFill>
                  <a:srgbClr val="526779"/>
                </a:solidFill>
                <a:latin typeface="Arial"/>
                <a:ea typeface="Arial"/>
                <a:cs typeface="Arial"/>
              </a:defRPr>
            </a:lvl5pPr>
            <a:lvl6pPr algn="l">
              <a:defRPr sz="2025" b="0">
                <a:solidFill>
                  <a:srgbClr val="526779"/>
                </a:solidFill>
                <a:latin typeface="Arial"/>
                <a:ea typeface="Arial"/>
                <a:cs typeface="Arial"/>
              </a:defRPr>
            </a:lvl6pPr>
            <a:lvl7pPr algn="l">
              <a:defRPr sz="2025" b="0">
                <a:solidFill>
                  <a:srgbClr val="526779"/>
                </a:solidFill>
                <a:latin typeface="Arial"/>
                <a:ea typeface="Arial"/>
                <a:cs typeface="Arial"/>
              </a:defRPr>
            </a:lvl7pPr>
            <a:lvl8pPr algn="l">
              <a:defRPr sz="2025" b="0">
                <a:solidFill>
                  <a:srgbClr val="526779"/>
                </a:solidFill>
                <a:latin typeface="Arial"/>
                <a:ea typeface="Arial"/>
                <a:cs typeface="Arial"/>
              </a:defRPr>
            </a:lvl8pPr>
            <a:lvl9pPr algn="l">
              <a:defRPr sz="2025" b="0">
                <a:solidFill>
                  <a:srgbClr val="526779"/>
                </a:solidFill>
                <a:latin typeface="Arial"/>
                <a:ea typeface="Arial"/>
                <a:cs typeface="Arial"/>
              </a:defRPr>
            </a:lvl9pPr>
          </a:lstStyle>
          <a:p>
            <a:pPr algn="l">
              <a:lnSpc>
                <a:spcPct val="107000"/>
              </a:lnSpc>
              <a:buNone/>
              <a:defRPr sz="2025" b="0">
                <a:solidFill>
                  <a:srgbClr val="526779"/>
                </a:solidFill>
                <a:latin typeface="Arial"/>
                <a:ea typeface="Arial"/>
                <a:cs typeface="Arial"/>
              </a:defRPr>
            </a:pPr>
            <a:r>
              <a:rPr sz="2025" b="0">
                <a:solidFill>
                  <a:srgbClr val="526779"/>
                </a:solidFill>
                <a:latin typeface="Arial"/>
                <a:ea typeface="Arial"/>
                <a:cs typeface="Arial"/>
              </a:rPr>
              <a:t>Kênh L trong LAB</a:t>
            </a:r>
          </a:p>
          <a:p>
            <a:pPr algn="l">
              <a:lnSpc>
                <a:spcPct val="107000"/>
              </a:lnSpc>
              <a:buNone/>
              <a:defRPr sz="2025" b="0">
                <a:solidFill>
                  <a:srgbClr val="526779"/>
                </a:solidFill>
                <a:latin typeface="Arial"/>
                <a:ea typeface="Arial"/>
                <a:cs typeface="Arial"/>
              </a:defRPr>
            </a:pPr>
            <a:r>
              <a:rPr sz="2025" b="0">
                <a:solidFill>
                  <a:srgbClr val="526779"/>
                </a:solidFill>
                <a:latin typeface="Arial"/>
                <a:ea typeface="Arial"/>
                <a:cs typeface="Arial"/>
              </a:rPr>
              <a:t>Lưới 8×8, giới hạn tương phản</a:t>
            </a:r>
          </a:p>
        </p:txBody>
      </p:sp>
      <p:sp>
        <p:nvSpPr>
          <p:cNvPr id="16" name="Rectangle 15">
            <a:extLst>
              <a:ext uri="{FF2B5EF4-FFF2-40B4-BE49-F238E27FC236}">
                <a16:creationId xmlns:a16="http://schemas.microsoft.com/office/drawing/2014/main" id="{2DA0D879-03FC-469B-9D8D-2E307F0A0F00}"/>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Nâng sáng chỉ làm rõ tín hiệu còn tồn tại, không phục hồi chi tiết đã clipping.</a:t>
            </a:r>
          </a:p>
        </p:txBody>
      </p:sp>
      <p:sp>
        <p:nvSpPr>
          <p:cNvPr id="18" name="Gamma formula">
            <a:extLst>
              <a:ext uri="{FF2B5EF4-FFF2-40B4-BE49-F238E27FC236}">
                <a16:creationId xmlns:a16="http://schemas.microsoft.com/office/drawing/2014/main" id="{5E7156F4-B652-41C6-BAB7-44979184DD07}"/>
              </a:ext>
            </a:extLst>
          </p:cNvPr>
          <p:cNvSpPr>
            <a:spLocks noGrp="1"/>
          </p:cNvSpPr>
          <p:nvPr/>
        </p:nvSpPr>
        <p:spPr>
          <a:xfrm>
            <a:off x="609600" y="5219700"/>
            <a:ext cx="5238750" cy="419100"/>
          </a:xfrm>
          <a:prstGeom prst="rect">
            <a:avLst/>
          </a:prstGeom>
          <a:noFill/>
          <a:ln w="0">
            <a:noFill/>
          </a:ln>
        </p:spPr>
        <p:txBody>
          <a:bodyPr wrap="square" lIns="0" tIns="0" rIns="0" bIns="0" anchor="t">
            <a:noAutofit/>
          </a:bodyPr>
          <a:lstStyle>
            <a:defPPr algn="l">
              <a:defRPr sz="2400" b="1">
                <a:solidFill>
                  <a:srgbClr val="267C83"/>
                </a:solidFill>
                <a:latin typeface="Arial"/>
                <a:ea typeface="Arial"/>
                <a:cs typeface="Arial"/>
              </a:defRPr>
            </a:defPPr>
            <a:lvl1pPr algn="l">
              <a:defRPr sz="2400" b="1">
                <a:solidFill>
                  <a:srgbClr val="267C83"/>
                </a:solidFill>
                <a:latin typeface="Arial"/>
                <a:ea typeface="Arial"/>
                <a:cs typeface="Arial"/>
              </a:defRPr>
            </a:lvl1pPr>
            <a:lvl2pPr algn="l">
              <a:defRPr sz="2400" b="1">
                <a:solidFill>
                  <a:srgbClr val="267C83"/>
                </a:solidFill>
                <a:latin typeface="Arial"/>
                <a:ea typeface="Arial"/>
                <a:cs typeface="Arial"/>
              </a:defRPr>
            </a:lvl2pPr>
            <a:lvl3pPr algn="l">
              <a:defRPr sz="2400" b="1">
                <a:solidFill>
                  <a:srgbClr val="267C83"/>
                </a:solidFill>
                <a:latin typeface="Arial"/>
                <a:ea typeface="Arial"/>
                <a:cs typeface="Arial"/>
              </a:defRPr>
            </a:lvl3pPr>
            <a:lvl4pPr algn="l">
              <a:defRPr sz="2400" b="1">
                <a:solidFill>
                  <a:srgbClr val="267C83"/>
                </a:solidFill>
                <a:latin typeface="Arial"/>
                <a:ea typeface="Arial"/>
                <a:cs typeface="Arial"/>
              </a:defRPr>
            </a:lvl4pPr>
            <a:lvl5pPr algn="l">
              <a:defRPr sz="2400" b="1">
                <a:solidFill>
                  <a:srgbClr val="267C83"/>
                </a:solidFill>
                <a:latin typeface="Arial"/>
                <a:ea typeface="Arial"/>
                <a:cs typeface="Arial"/>
              </a:defRPr>
            </a:lvl5pPr>
            <a:lvl6pPr algn="l">
              <a:defRPr sz="2400" b="1">
                <a:solidFill>
                  <a:srgbClr val="267C83"/>
                </a:solidFill>
                <a:latin typeface="Arial"/>
                <a:ea typeface="Arial"/>
                <a:cs typeface="Arial"/>
              </a:defRPr>
            </a:lvl6pPr>
            <a:lvl7pPr algn="l">
              <a:defRPr sz="2400" b="1">
                <a:solidFill>
                  <a:srgbClr val="267C83"/>
                </a:solidFill>
                <a:latin typeface="Arial"/>
                <a:ea typeface="Arial"/>
                <a:cs typeface="Arial"/>
              </a:defRPr>
            </a:lvl7pPr>
            <a:lvl8pPr algn="l">
              <a:defRPr sz="2400" b="1">
                <a:solidFill>
                  <a:srgbClr val="267C83"/>
                </a:solidFill>
                <a:latin typeface="Arial"/>
                <a:ea typeface="Arial"/>
                <a:cs typeface="Arial"/>
              </a:defRPr>
            </a:lvl8pPr>
            <a:lvl9pPr algn="l">
              <a:defRPr sz="2400" b="1">
                <a:solidFill>
                  <a:srgbClr val="267C83"/>
                </a:solidFill>
                <a:latin typeface="Arial"/>
                <a:ea typeface="Arial"/>
                <a:cs typeface="Arial"/>
              </a:defRPr>
            </a:lvl9pPr>
          </a:lstStyle>
          <a:p>
            <a:pPr algn="l">
              <a:defRPr sz="2400" b="1">
                <a:solidFill>
                  <a:srgbClr val="267C83"/>
                </a:solidFill>
                <a:latin typeface="Arial"/>
                <a:ea typeface="Arial"/>
                <a:cs typeface="Arial"/>
              </a:defRPr>
            </a:pPr>
            <a:r>
              <a:t>s = 255 × (r / 255)</a:t>
            </a:r>
            <a:r>
              <a:rPr sz="1650" baseline="30000"/>
              <a:t>(1/γ)</a:t>
            </a:r>
          </a:p>
        </p:txBody>
      </p:sp>
      <p:sp>
        <p:nvSpPr>
          <p:cNvPr id="19" name="Gamma symbols">
            <a:extLst>
              <a:ext uri="{FF2B5EF4-FFF2-40B4-BE49-F238E27FC236}">
                <a16:creationId xmlns:a16="http://schemas.microsoft.com/office/drawing/2014/main" id="{138C94D9-10E1-4766-8A01-0EDFE97E4BB0}"/>
              </a:ext>
            </a:extLst>
          </p:cNvPr>
          <p:cNvSpPr>
            <a:spLocks noGrp="1"/>
          </p:cNvSpPr>
          <p:nvPr/>
        </p:nvSpPr>
        <p:spPr>
          <a:xfrm>
            <a:off x="609600" y="5667375"/>
            <a:ext cx="5238750" cy="285750"/>
          </a:xfrm>
          <a:prstGeom prst="rect">
            <a:avLst/>
          </a:prstGeom>
          <a:noFill/>
          <a:ln w="0">
            <a:noFill/>
          </a:ln>
        </p:spPr>
        <p:txBody>
          <a:bodyPr wrap="square" lIns="0" tIns="0" rIns="0" bIns="0" anchor="t">
            <a:noAutofit/>
          </a:bodyPr>
          <a:lstStyle>
            <a:defPPr algn="l">
              <a:defRPr sz="1725" b="0">
                <a:solidFill>
                  <a:srgbClr val="192F43"/>
                </a:solidFill>
                <a:latin typeface="Arial"/>
                <a:ea typeface="Arial"/>
                <a:cs typeface="Arial"/>
              </a:defRPr>
            </a:defPPr>
            <a:lvl1pPr algn="l">
              <a:defRPr sz="1725" b="0">
                <a:solidFill>
                  <a:srgbClr val="192F43"/>
                </a:solidFill>
                <a:latin typeface="Arial"/>
                <a:ea typeface="Arial"/>
                <a:cs typeface="Arial"/>
              </a:defRPr>
            </a:lvl1pPr>
            <a:lvl2pPr algn="l">
              <a:defRPr sz="1725" b="0">
                <a:solidFill>
                  <a:srgbClr val="192F43"/>
                </a:solidFill>
                <a:latin typeface="Arial"/>
                <a:ea typeface="Arial"/>
                <a:cs typeface="Arial"/>
              </a:defRPr>
            </a:lvl2pPr>
            <a:lvl3pPr algn="l">
              <a:defRPr sz="1725" b="0">
                <a:solidFill>
                  <a:srgbClr val="192F43"/>
                </a:solidFill>
                <a:latin typeface="Arial"/>
                <a:ea typeface="Arial"/>
                <a:cs typeface="Arial"/>
              </a:defRPr>
            </a:lvl3pPr>
            <a:lvl4pPr algn="l">
              <a:defRPr sz="1725" b="0">
                <a:solidFill>
                  <a:srgbClr val="192F43"/>
                </a:solidFill>
                <a:latin typeface="Arial"/>
                <a:ea typeface="Arial"/>
                <a:cs typeface="Arial"/>
              </a:defRPr>
            </a:lvl4pPr>
            <a:lvl5pPr algn="l">
              <a:defRPr sz="1725" b="0">
                <a:solidFill>
                  <a:srgbClr val="192F43"/>
                </a:solidFill>
                <a:latin typeface="Arial"/>
                <a:ea typeface="Arial"/>
                <a:cs typeface="Arial"/>
              </a:defRPr>
            </a:lvl5pPr>
            <a:lvl6pPr algn="l">
              <a:defRPr sz="1725" b="0">
                <a:solidFill>
                  <a:srgbClr val="192F43"/>
                </a:solidFill>
                <a:latin typeface="Arial"/>
                <a:ea typeface="Arial"/>
                <a:cs typeface="Arial"/>
              </a:defRPr>
            </a:lvl6pPr>
            <a:lvl7pPr algn="l">
              <a:defRPr sz="1725" b="0">
                <a:solidFill>
                  <a:srgbClr val="192F43"/>
                </a:solidFill>
                <a:latin typeface="Arial"/>
                <a:ea typeface="Arial"/>
                <a:cs typeface="Arial"/>
              </a:defRPr>
            </a:lvl7pPr>
            <a:lvl8pPr algn="l">
              <a:defRPr sz="1725" b="0">
                <a:solidFill>
                  <a:srgbClr val="192F43"/>
                </a:solidFill>
                <a:latin typeface="Arial"/>
                <a:ea typeface="Arial"/>
                <a:cs typeface="Arial"/>
              </a:defRPr>
            </a:lvl8pPr>
            <a:lvl9pPr algn="l">
              <a:defRPr sz="1725" b="0">
                <a:solidFill>
                  <a:srgbClr val="192F43"/>
                </a:solidFill>
                <a:latin typeface="Arial"/>
                <a:ea typeface="Arial"/>
                <a:cs typeface="Arial"/>
              </a:defRPr>
            </a:lvl9pPr>
          </a:lstStyle>
          <a:p>
            <a:pPr algn="l">
              <a:lnSpc>
                <a:spcPct val="105000"/>
              </a:lnSpc>
              <a:buNone/>
              <a:defRPr sz="1725" b="0">
                <a:solidFill>
                  <a:srgbClr val="192F43"/>
                </a:solidFill>
                <a:latin typeface="Arial"/>
                <a:ea typeface="Arial"/>
                <a:cs typeface="Arial"/>
              </a:defRPr>
            </a:pPr>
            <a:r>
              <a:rPr sz="1725" b="0">
                <a:solidFill>
                  <a:srgbClr val="192F43"/>
                </a:solidFill>
                <a:latin typeface="Arial"/>
                <a:ea typeface="Arial"/>
                <a:cs typeface="Arial"/>
              </a:rPr>
              <a:t>r, s: mức vào / ra. γ &gt; 1 nâng sáng.</a:t>
            </a:r>
          </a:p>
        </p:txBody>
      </p:sp>
      <p:sp>
        <p:nvSpPr>
          <p:cNvPr id="20" name="Gamma example">
            <a:extLst>
              <a:ext uri="{FF2B5EF4-FFF2-40B4-BE49-F238E27FC236}">
                <a16:creationId xmlns:a16="http://schemas.microsoft.com/office/drawing/2014/main" id="{DBF7EC9A-66F4-49C3-A585-1EBF6538CC30}"/>
              </a:ext>
            </a:extLst>
          </p:cNvPr>
          <p:cNvSpPr>
            <a:spLocks noGrp="1"/>
          </p:cNvSpPr>
          <p:nvPr/>
        </p:nvSpPr>
        <p:spPr>
          <a:xfrm>
            <a:off x="609600" y="5981700"/>
            <a:ext cx="5238750" cy="285750"/>
          </a:xfrm>
          <a:prstGeom prst="rect">
            <a:avLst/>
          </a:prstGeom>
          <a:noFill/>
          <a:ln w="0">
            <a:noFill/>
          </a:ln>
        </p:spPr>
        <p:txBody>
          <a:bodyPr wrap="square" lIns="0" tIns="0" rIns="0" bIns="0" anchor="t">
            <a:noAutofit/>
          </a:bodyPr>
          <a:lstStyle>
            <a:defPPr algn="l">
              <a:defRPr sz="1725" b="0">
                <a:solidFill>
                  <a:srgbClr val="526779"/>
                </a:solidFill>
                <a:latin typeface="Arial"/>
                <a:ea typeface="Arial"/>
                <a:cs typeface="Arial"/>
              </a:defRPr>
            </a:defPPr>
            <a:lvl1pPr algn="l">
              <a:defRPr sz="1725" b="0">
                <a:solidFill>
                  <a:srgbClr val="526779"/>
                </a:solidFill>
                <a:latin typeface="Arial"/>
                <a:ea typeface="Arial"/>
                <a:cs typeface="Arial"/>
              </a:defRPr>
            </a:lvl1pPr>
            <a:lvl2pPr algn="l">
              <a:defRPr sz="1725" b="0">
                <a:solidFill>
                  <a:srgbClr val="526779"/>
                </a:solidFill>
                <a:latin typeface="Arial"/>
                <a:ea typeface="Arial"/>
                <a:cs typeface="Arial"/>
              </a:defRPr>
            </a:lvl2pPr>
            <a:lvl3pPr algn="l">
              <a:defRPr sz="1725" b="0">
                <a:solidFill>
                  <a:srgbClr val="526779"/>
                </a:solidFill>
                <a:latin typeface="Arial"/>
                <a:ea typeface="Arial"/>
                <a:cs typeface="Arial"/>
              </a:defRPr>
            </a:lvl3pPr>
            <a:lvl4pPr algn="l">
              <a:defRPr sz="1725" b="0">
                <a:solidFill>
                  <a:srgbClr val="526779"/>
                </a:solidFill>
                <a:latin typeface="Arial"/>
                <a:ea typeface="Arial"/>
                <a:cs typeface="Arial"/>
              </a:defRPr>
            </a:lvl4pPr>
            <a:lvl5pPr algn="l">
              <a:defRPr sz="1725" b="0">
                <a:solidFill>
                  <a:srgbClr val="526779"/>
                </a:solidFill>
                <a:latin typeface="Arial"/>
                <a:ea typeface="Arial"/>
                <a:cs typeface="Arial"/>
              </a:defRPr>
            </a:lvl5pPr>
            <a:lvl6pPr algn="l">
              <a:defRPr sz="1725" b="0">
                <a:solidFill>
                  <a:srgbClr val="526779"/>
                </a:solidFill>
                <a:latin typeface="Arial"/>
                <a:ea typeface="Arial"/>
                <a:cs typeface="Arial"/>
              </a:defRPr>
            </a:lvl6pPr>
            <a:lvl7pPr algn="l">
              <a:defRPr sz="1725" b="0">
                <a:solidFill>
                  <a:srgbClr val="526779"/>
                </a:solidFill>
                <a:latin typeface="Arial"/>
                <a:ea typeface="Arial"/>
                <a:cs typeface="Arial"/>
              </a:defRPr>
            </a:lvl7pPr>
            <a:lvl8pPr algn="l">
              <a:defRPr sz="1725" b="0">
                <a:solidFill>
                  <a:srgbClr val="526779"/>
                </a:solidFill>
                <a:latin typeface="Arial"/>
                <a:ea typeface="Arial"/>
                <a:cs typeface="Arial"/>
              </a:defRPr>
            </a:lvl8pPr>
            <a:lvl9pPr algn="l">
              <a:defRPr sz="1725" b="0">
                <a:solidFill>
                  <a:srgbClr val="526779"/>
                </a:solidFill>
                <a:latin typeface="Arial"/>
                <a:ea typeface="Arial"/>
                <a:cs typeface="Arial"/>
              </a:defRPr>
            </a:lvl9pPr>
          </a:lstStyle>
          <a:p>
            <a:pPr algn="l">
              <a:lnSpc>
                <a:spcPct val="105000"/>
              </a:lnSpc>
              <a:buNone/>
              <a:defRPr sz="1725" b="0">
                <a:solidFill>
                  <a:srgbClr val="526779"/>
                </a:solidFill>
                <a:latin typeface="Arial"/>
                <a:ea typeface="Arial"/>
                <a:cs typeface="Arial"/>
              </a:defRPr>
            </a:pPr>
            <a:r>
              <a:rPr sz="1725" b="0">
                <a:solidFill>
                  <a:srgbClr val="526779"/>
                </a:solidFill>
                <a:latin typeface="Arial"/>
                <a:ea typeface="Arial"/>
                <a:cs typeface="Arial"/>
              </a:rPr>
              <a:t>r = 64, γ = 2,5: LUT trả s = 146</a:t>
            </a:r>
          </a:p>
        </p:txBody>
      </p:sp>
    </p:spTree>
    <p:extLst>
      <p:ext uri="{BB962C8B-B14F-4D97-AF65-F5344CB8AC3E}">
        <p14:creationId xmlns:p14="http://schemas.microsoft.com/office/powerpoint/2010/main" val="15195086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930E4EDE-77C8-4730-B427-ECDA64099869}"/>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3  XỬ LÝ ĐIỂM ẢNH CỔ ĐIỂN</a:t>
            </a:r>
          </a:p>
        </p:txBody>
      </p:sp>
      <p:sp>
        <p:nvSpPr>
          <p:cNvPr id="2" name="Rectangle 1">
            <a:extLst>
              <a:ext uri="{FF2B5EF4-FFF2-40B4-BE49-F238E27FC236}">
                <a16:creationId xmlns:a16="http://schemas.microsoft.com/office/drawing/2014/main" id="{45DA7D69-B2B2-41E9-AE9F-369018F07EFD}"/>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Tăng nét và điều chỉnh màu</a:t>
            </a:r>
          </a:p>
        </p:txBody>
      </p:sp>
      <p:sp>
        <p:nvSpPr>
          <p:cNvPr id="3" name="Rectangle 2">
            <a:extLst>
              <a:ext uri="{FF2B5EF4-FFF2-40B4-BE49-F238E27FC236}">
                <a16:creationId xmlns:a16="http://schemas.microsoft.com/office/drawing/2014/main" id="{66B05078-54FF-4084-B302-63A8B3C32C18}"/>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13</a:t>
            </a:r>
          </a:p>
        </p:txBody>
      </p:sp>
      <p:pic>
        <p:nvPicPr>
          <p:cNvPr id="4" name="Picture 3">
            <a:extLst>
              <a:ext uri="{FF2B5EF4-FFF2-40B4-BE49-F238E27FC236}">
                <a16:creationId xmlns:a16="http://schemas.microsoft.com/office/drawing/2014/main" id="{C2D8DD16-F9FD-4208-8B9A-E43DF5601CDE}"/>
              </a:ext>
            </a:extLst>
          </p:cNvPr>
          <p:cNvPicPr>
            <a:picLocks noChangeAspect="1"/>
          </p:cNvPicPr>
          <p:nvPr/>
        </p:nvPicPr>
        <p:blipFill>
          <a:blip r:embed="rId3"/>
          <a:srcRect l="25814" t="2692" r="50814" b="20000"/>
          <a:stretch/>
        </p:blipFill>
        <p:spPr>
          <a:xfrm>
            <a:off x="609600" y="1676400"/>
            <a:ext cx="2381250" cy="2381250"/>
          </a:xfrm>
          <a:prstGeom prst="rect">
            <a:avLst/>
          </a:prstGeom>
        </p:spPr>
      </p:pic>
      <p:sp>
        <p:nvSpPr>
          <p:cNvPr id="5" name="Rectangle 4">
            <a:extLst>
              <a:ext uri="{FF2B5EF4-FFF2-40B4-BE49-F238E27FC236}">
                <a16:creationId xmlns:a16="http://schemas.microsoft.com/office/drawing/2014/main" id="{5B6AEF95-C9E6-4F5C-B9BD-964F4A426539}"/>
              </a:ext>
            </a:extLst>
          </p:cNvPr>
          <p:cNvSpPr>
            <a:spLocks noGrp="1"/>
          </p:cNvSpPr>
          <p:nvPr/>
        </p:nvSpPr>
        <p:spPr>
          <a:xfrm>
            <a:off x="609600" y="4171950"/>
            <a:ext cx="23812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Mất nét nhẹ</a:t>
            </a:r>
          </a:p>
        </p:txBody>
      </p:sp>
      <p:pic>
        <p:nvPicPr>
          <p:cNvPr id="6" name="Picture 5">
            <a:extLst>
              <a:ext uri="{FF2B5EF4-FFF2-40B4-BE49-F238E27FC236}">
                <a16:creationId xmlns:a16="http://schemas.microsoft.com/office/drawing/2014/main" id="{F7B49EC8-480C-4BDF-B982-3DB100AFDE4D}"/>
              </a:ext>
            </a:extLst>
          </p:cNvPr>
          <p:cNvPicPr>
            <a:picLocks noChangeAspect="1"/>
          </p:cNvPicPr>
          <p:nvPr/>
        </p:nvPicPr>
        <p:blipFill>
          <a:blip r:embed="rId3"/>
          <a:srcRect l="50814" t="2692" r="25814" b="20000"/>
          <a:stretch/>
        </p:blipFill>
        <p:spPr>
          <a:xfrm>
            <a:off x="3371850" y="1676400"/>
            <a:ext cx="2381250" cy="2381250"/>
          </a:xfrm>
          <a:prstGeom prst="rect">
            <a:avLst/>
          </a:prstGeom>
        </p:spPr>
      </p:pic>
      <p:sp>
        <p:nvSpPr>
          <p:cNvPr id="7" name="Rectangle 6">
            <a:extLst>
              <a:ext uri="{FF2B5EF4-FFF2-40B4-BE49-F238E27FC236}">
                <a16:creationId xmlns:a16="http://schemas.microsoft.com/office/drawing/2014/main" id="{FE650B4A-4982-468E-8498-F24C8F240C40}"/>
              </a:ext>
            </a:extLst>
          </p:cNvPr>
          <p:cNvSpPr>
            <a:spLocks noGrp="1"/>
          </p:cNvSpPr>
          <p:nvPr/>
        </p:nvSpPr>
        <p:spPr>
          <a:xfrm>
            <a:off x="3371850" y="4171950"/>
            <a:ext cx="23812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Unsharp amount 0,8</a:t>
            </a:r>
          </a:p>
        </p:txBody>
      </p:sp>
      <p:pic>
        <p:nvPicPr>
          <p:cNvPr id="8" name="Picture 7">
            <a:extLst>
              <a:ext uri="{FF2B5EF4-FFF2-40B4-BE49-F238E27FC236}">
                <a16:creationId xmlns:a16="http://schemas.microsoft.com/office/drawing/2014/main" id="{4EDF585D-CB35-46AD-98E6-C4C8E3A61EBB}"/>
              </a:ext>
            </a:extLst>
          </p:cNvPr>
          <p:cNvPicPr>
            <a:picLocks noChangeAspect="1"/>
          </p:cNvPicPr>
          <p:nvPr/>
        </p:nvPicPr>
        <p:blipFill>
          <a:blip r:embed="rId4"/>
          <a:srcRect l="729" t="2456" r="75729" b="18246"/>
          <a:stretch/>
        </p:blipFill>
        <p:spPr>
          <a:xfrm>
            <a:off x="6343650" y="1676400"/>
            <a:ext cx="2381250" cy="2381250"/>
          </a:xfrm>
          <a:prstGeom prst="rect">
            <a:avLst/>
          </a:prstGeom>
        </p:spPr>
      </p:pic>
      <p:sp>
        <p:nvSpPr>
          <p:cNvPr id="9" name="Rectangle 8">
            <a:extLst>
              <a:ext uri="{FF2B5EF4-FFF2-40B4-BE49-F238E27FC236}">
                <a16:creationId xmlns:a16="http://schemas.microsoft.com/office/drawing/2014/main" id="{8C462A1B-05FB-4EDB-88A7-3F066F658DF6}"/>
              </a:ext>
            </a:extLst>
          </p:cNvPr>
          <p:cNvSpPr>
            <a:spLocks noGrp="1"/>
          </p:cNvSpPr>
          <p:nvPr/>
        </p:nvSpPr>
        <p:spPr>
          <a:xfrm>
            <a:off x="6343650" y="4171950"/>
            <a:ext cx="23812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Màu gốc</a:t>
            </a:r>
          </a:p>
        </p:txBody>
      </p:sp>
      <p:pic>
        <p:nvPicPr>
          <p:cNvPr id="10" name="Picture 9">
            <a:extLst>
              <a:ext uri="{FF2B5EF4-FFF2-40B4-BE49-F238E27FC236}">
                <a16:creationId xmlns:a16="http://schemas.microsoft.com/office/drawing/2014/main" id="{29B18571-4DB5-4B0E-9AF9-6BFE5DEC358B}"/>
              </a:ext>
            </a:extLst>
          </p:cNvPr>
          <p:cNvPicPr>
            <a:picLocks noChangeAspect="1"/>
          </p:cNvPicPr>
          <p:nvPr/>
        </p:nvPicPr>
        <p:blipFill>
          <a:blip r:embed="rId4"/>
          <a:srcRect l="50729" t="2456" r="25729" b="18246"/>
          <a:stretch/>
        </p:blipFill>
        <p:spPr>
          <a:xfrm>
            <a:off x="9105900" y="1676400"/>
            <a:ext cx="2381250" cy="2381250"/>
          </a:xfrm>
          <a:prstGeom prst="rect">
            <a:avLst/>
          </a:prstGeom>
        </p:spPr>
      </p:pic>
      <p:sp>
        <p:nvSpPr>
          <p:cNvPr id="11" name="Rectangle 10">
            <a:extLst>
              <a:ext uri="{FF2B5EF4-FFF2-40B4-BE49-F238E27FC236}">
                <a16:creationId xmlns:a16="http://schemas.microsoft.com/office/drawing/2014/main" id="{D3D816BC-33FA-46A5-A19E-093C238F8B3C}"/>
              </a:ext>
            </a:extLst>
          </p:cNvPr>
          <p:cNvSpPr>
            <a:spLocks noGrp="1"/>
          </p:cNvSpPr>
          <p:nvPr/>
        </p:nvSpPr>
        <p:spPr>
          <a:xfrm>
            <a:off x="9105900" y="4171950"/>
            <a:ext cx="2381250" cy="552450"/>
          </a:xfrm>
          <a:prstGeom prst="rect">
            <a:avLst/>
          </a:prstGeom>
          <a:noFill/>
          <a:ln w="0">
            <a:noFill/>
          </a:ln>
        </p:spPr>
        <p:txBody>
          <a:bodyPr wrap="square" lIns="0" tIns="0" rIns="0" bIns="0" anchor="t">
            <a:noAutofit/>
          </a:bodyPr>
          <a:lstStyle>
            <a:defPPr algn="ctr">
              <a:defRPr sz="1725" b="0">
                <a:solidFill>
                  <a:srgbClr val="192F43"/>
                </a:solidFill>
                <a:latin typeface="Arial"/>
                <a:ea typeface="Arial"/>
                <a:cs typeface="Arial"/>
              </a:defRPr>
            </a:defPPr>
            <a:lvl1pPr algn="ctr">
              <a:defRPr sz="1725" b="0">
                <a:solidFill>
                  <a:srgbClr val="192F43"/>
                </a:solidFill>
                <a:latin typeface="Arial"/>
                <a:ea typeface="Arial"/>
                <a:cs typeface="Arial"/>
              </a:defRPr>
            </a:lvl1pPr>
            <a:lvl2pPr algn="ctr">
              <a:defRPr sz="1725" b="0">
                <a:solidFill>
                  <a:srgbClr val="192F43"/>
                </a:solidFill>
                <a:latin typeface="Arial"/>
                <a:ea typeface="Arial"/>
                <a:cs typeface="Arial"/>
              </a:defRPr>
            </a:lvl2pPr>
            <a:lvl3pPr algn="ctr">
              <a:defRPr sz="1725" b="0">
                <a:solidFill>
                  <a:srgbClr val="192F43"/>
                </a:solidFill>
                <a:latin typeface="Arial"/>
                <a:ea typeface="Arial"/>
                <a:cs typeface="Arial"/>
              </a:defRPr>
            </a:lvl3pPr>
            <a:lvl4pPr algn="ctr">
              <a:defRPr sz="1725" b="0">
                <a:solidFill>
                  <a:srgbClr val="192F43"/>
                </a:solidFill>
                <a:latin typeface="Arial"/>
                <a:ea typeface="Arial"/>
                <a:cs typeface="Arial"/>
              </a:defRPr>
            </a:lvl4pPr>
            <a:lvl5pPr algn="ctr">
              <a:defRPr sz="1725" b="0">
                <a:solidFill>
                  <a:srgbClr val="192F43"/>
                </a:solidFill>
                <a:latin typeface="Arial"/>
                <a:ea typeface="Arial"/>
                <a:cs typeface="Arial"/>
              </a:defRPr>
            </a:lvl5pPr>
            <a:lvl6pPr algn="ctr">
              <a:defRPr sz="1725" b="0">
                <a:solidFill>
                  <a:srgbClr val="192F43"/>
                </a:solidFill>
                <a:latin typeface="Arial"/>
                <a:ea typeface="Arial"/>
                <a:cs typeface="Arial"/>
              </a:defRPr>
            </a:lvl6pPr>
            <a:lvl7pPr algn="ctr">
              <a:defRPr sz="1725" b="0">
                <a:solidFill>
                  <a:srgbClr val="192F43"/>
                </a:solidFill>
                <a:latin typeface="Arial"/>
                <a:ea typeface="Arial"/>
                <a:cs typeface="Arial"/>
              </a:defRPr>
            </a:lvl7pPr>
            <a:lvl8pPr algn="ctr">
              <a:defRPr sz="1725" b="0">
                <a:solidFill>
                  <a:srgbClr val="192F43"/>
                </a:solidFill>
                <a:latin typeface="Arial"/>
                <a:ea typeface="Arial"/>
                <a:cs typeface="Arial"/>
              </a:defRPr>
            </a:lvl8pPr>
            <a:lvl9pPr algn="ctr">
              <a:defRPr sz="1725" b="0">
                <a:solidFill>
                  <a:srgbClr val="192F43"/>
                </a:solidFill>
                <a:latin typeface="Arial"/>
                <a:ea typeface="Arial"/>
                <a:cs typeface="Arial"/>
              </a:defRPr>
            </a:lvl9pPr>
          </a:lstStyle>
          <a:p>
            <a:pPr algn="ctr">
              <a:lnSpc>
                <a:spcPct val="107000"/>
              </a:lnSpc>
              <a:buNone/>
              <a:defRPr sz="1725" b="0">
                <a:solidFill>
                  <a:srgbClr val="192F43"/>
                </a:solidFill>
                <a:latin typeface="Arial"/>
                <a:ea typeface="Arial"/>
                <a:cs typeface="Arial"/>
              </a:defRPr>
            </a:pPr>
            <a:r>
              <a:rPr sz="1725" b="0">
                <a:solidFill>
                  <a:srgbClr val="192F43"/>
                </a:solidFill>
                <a:latin typeface="Arial"/>
                <a:ea typeface="Arial"/>
                <a:cs typeface="Arial"/>
              </a:rPr>
              <a:t>Tông ấm t = +0,8</a:t>
            </a:r>
          </a:p>
        </p:txBody>
      </p:sp>
      <p:sp>
        <p:nvSpPr>
          <p:cNvPr id="12" name="Rectangle 11">
            <a:extLst>
              <a:ext uri="{FF2B5EF4-FFF2-40B4-BE49-F238E27FC236}">
                <a16:creationId xmlns:a16="http://schemas.microsoft.com/office/drawing/2014/main" id="{FBCA1580-73C2-45B8-8572-38EFB6265125}"/>
              </a:ext>
            </a:extLst>
          </p:cNvPr>
          <p:cNvSpPr>
            <a:spLocks noGrp="1"/>
          </p:cNvSpPr>
          <p:nvPr/>
        </p:nvSpPr>
        <p:spPr>
          <a:xfrm>
            <a:off x="609600" y="4829175"/>
            <a:ext cx="5238750" cy="400050"/>
          </a:xfrm>
          <a:prstGeom prst="rect">
            <a:avLst/>
          </a:prstGeom>
          <a:noFill/>
          <a:ln w="0">
            <a:noFill/>
          </a:ln>
        </p:spPr>
        <p:txBody>
          <a:bodyPr wrap="square" lIns="0" tIns="0" rIns="0" bIns="0" anchor="t">
            <a:noAutofit/>
          </a:bodyPr>
          <a:lstStyle>
            <a:defPPr algn="l">
              <a:defRPr sz="2175" b="1">
                <a:solidFill>
                  <a:srgbClr val="192F43"/>
                </a:solidFill>
                <a:latin typeface="Arial"/>
                <a:ea typeface="Arial"/>
                <a:cs typeface="Arial"/>
              </a:defRPr>
            </a:defPPr>
            <a:lvl1pPr algn="l">
              <a:defRPr sz="2175" b="1">
                <a:solidFill>
                  <a:srgbClr val="192F43"/>
                </a:solidFill>
                <a:latin typeface="Arial"/>
                <a:ea typeface="Arial"/>
                <a:cs typeface="Arial"/>
              </a:defRPr>
            </a:lvl1pPr>
            <a:lvl2pPr algn="l">
              <a:defRPr sz="2175" b="1">
                <a:solidFill>
                  <a:srgbClr val="192F43"/>
                </a:solidFill>
                <a:latin typeface="Arial"/>
                <a:ea typeface="Arial"/>
                <a:cs typeface="Arial"/>
              </a:defRPr>
            </a:lvl2pPr>
            <a:lvl3pPr algn="l">
              <a:defRPr sz="2175" b="1">
                <a:solidFill>
                  <a:srgbClr val="192F43"/>
                </a:solidFill>
                <a:latin typeface="Arial"/>
                <a:ea typeface="Arial"/>
                <a:cs typeface="Arial"/>
              </a:defRPr>
            </a:lvl3pPr>
            <a:lvl4pPr algn="l">
              <a:defRPr sz="2175" b="1">
                <a:solidFill>
                  <a:srgbClr val="192F43"/>
                </a:solidFill>
                <a:latin typeface="Arial"/>
                <a:ea typeface="Arial"/>
                <a:cs typeface="Arial"/>
              </a:defRPr>
            </a:lvl4pPr>
            <a:lvl5pPr algn="l">
              <a:defRPr sz="2175" b="1">
                <a:solidFill>
                  <a:srgbClr val="192F43"/>
                </a:solidFill>
                <a:latin typeface="Arial"/>
                <a:ea typeface="Arial"/>
                <a:cs typeface="Arial"/>
              </a:defRPr>
            </a:lvl5pPr>
            <a:lvl6pPr algn="l">
              <a:defRPr sz="2175" b="1">
                <a:solidFill>
                  <a:srgbClr val="192F43"/>
                </a:solidFill>
                <a:latin typeface="Arial"/>
                <a:ea typeface="Arial"/>
                <a:cs typeface="Arial"/>
              </a:defRPr>
            </a:lvl6pPr>
            <a:lvl7pPr algn="l">
              <a:defRPr sz="2175" b="1">
                <a:solidFill>
                  <a:srgbClr val="192F43"/>
                </a:solidFill>
                <a:latin typeface="Arial"/>
                <a:ea typeface="Arial"/>
                <a:cs typeface="Arial"/>
              </a:defRPr>
            </a:lvl7pPr>
            <a:lvl8pPr algn="l">
              <a:defRPr sz="2175" b="1">
                <a:solidFill>
                  <a:srgbClr val="192F43"/>
                </a:solidFill>
                <a:latin typeface="Arial"/>
                <a:ea typeface="Arial"/>
                <a:cs typeface="Arial"/>
              </a:defRPr>
            </a:lvl8pPr>
            <a:lvl9pPr algn="l">
              <a:defRPr sz="2175" b="1">
                <a:solidFill>
                  <a:srgbClr val="192F43"/>
                </a:solidFill>
                <a:latin typeface="Arial"/>
                <a:ea typeface="Arial"/>
                <a:cs typeface="Arial"/>
              </a:defRPr>
            </a:lvl9pPr>
          </a:lstStyle>
          <a:p>
            <a:pPr algn="l">
              <a:lnSpc>
                <a:spcPct val="107000"/>
              </a:lnSpc>
              <a:buNone/>
              <a:defRPr sz="2175" b="1">
                <a:solidFill>
                  <a:srgbClr val="192F43"/>
                </a:solidFill>
                <a:latin typeface="Arial"/>
                <a:ea typeface="Arial"/>
                <a:cs typeface="Arial"/>
              </a:defRPr>
            </a:pPr>
            <a:r>
              <a:rPr sz="2175" b="1">
                <a:solidFill>
                  <a:srgbClr val="192F43"/>
                </a:solidFill>
                <a:latin typeface="Arial"/>
                <a:ea typeface="Arial"/>
                <a:cs typeface="Arial"/>
              </a:rPr>
              <a:t>Unsharp và Laplacian</a:t>
            </a:r>
          </a:p>
        </p:txBody>
      </p:sp>
      <p:sp>
        <p:nvSpPr>
          <p:cNvPr id="13" name="Rectangle 12">
            <a:extLst>
              <a:ext uri="{FF2B5EF4-FFF2-40B4-BE49-F238E27FC236}">
                <a16:creationId xmlns:a16="http://schemas.microsoft.com/office/drawing/2014/main" id="{2B9FED82-99A4-434F-86C0-A0EEF8785DBA}"/>
              </a:ext>
            </a:extLst>
          </p:cNvPr>
          <p:cNvSpPr>
            <a:spLocks noGrp="1"/>
          </p:cNvSpPr>
          <p:nvPr/>
        </p:nvSpPr>
        <p:spPr>
          <a:xfrm>
            <a:off x="609600" y="5267325"/>
            <a:ext cx="5238750" cy="952500"/>
          </a:xfrm>
          <a:prstGeom prst="rect">
            <a:avLst/>
          </a:prstGeom>
          <a:noFill/>
          <a:ln w="0">
            <a:noFill/>
          </a:ln>
        </p:spPr>
        <p:txBody>
          <a:bodyPr wrap="square" lIns="0" tIns="0" rIns="0" bIns="0" anchor="t">
            <a:noAutofit/>
          </a:bodyPr>
          <a:lstStyle>
            <a:defPPr algn="l">
              <a:defRPr sz="2025" b="0">
                <a:solidFill>
                  <a:srgbClr val="526779"/>
                </a:solidFill>
                <a:latin typeface="Arial"/>
                <a:ea typeface="Arial"/>
                <a:cs typeface="Arial"/>
              </a:defRPr>
            </a:defPPr>
            <a:lvl1pPr algn="l">
              <a:defRPr sz="2025" b="0">
                <a:solidFill>
                  <a:srgbClr val="526779"/>
                </a:solidFill>
                <a:latin typeface="Arial"/>
                <a:ea typeface="Arial"/>
                <a:cs typeface="Arial"/>
              </a:defRPr>
            </a:lvl1pPr>
            <a:lvl2pPr algn="l">
              <a:defRPr sz="2025" b="0">
                <a:solidFill>
                  <a:srgbClr val="526779"/>
                </a:solidFill>
                <a:latin typeface="Arial"/>
                <a:ea typeface="Arial"/>
                <a:cs typeface="Arial"/>
              </a:defRPr>
            </a:lvl2pPr>
            <a:lvl3pPr algn="l">
              <a:defRPr sz="2025" b="0">
                <a:solidFill>
                  <a:srgbClr val="526779"/>
                </a:solidFill>
                <a:latin typeface="Arial"/>
                <a:ea typeface="Arial"/>
                <a:cs typeface="Arial"/>
              </a:defRPr>
            </a:lvl3pPr>
            <a:lvl4pPr algn="l">
              <a:defRPr sz="2025" b="0">
                <a:solidFill>
                  <a:srgbClr val="526779"/>
                </a:solidFill>
                <a:latin typeface="Arial"/>
                <a:ea typeface="Arial"/>
                <a:cs typeface="Arial"/>
              </a:defRPr>
            </a:lvl4pPr>
            <a:lvl5pPr algn="l">
              <a:defRPr sz="2025" b="0">
                <a:solidFill>
                  <a:srgbClr val="526779"/>
                </a:solidFill>
                <a:latin typeface="Arial"/>
                <a:ea typeface="Arial"/>
                <a:cs typeface="Arial"/>
              </a:defRPr>
            </a:lvl5pPr>
            <a:lvl6pPr algn="l">
              <a:defRPr sz="2025" b="0">
                <a:solidFill>
                  <a:srgbClr val="526779"/>
                </a:solidFill>
                <a:latin typeface="Arial"/>
                <a:ea typeface="Arial"/>
                <a:cs typeface="Arial"/>
              </a:defRPr>
            </a:lvl6pPr>
            <a:lvl7pPr algn="l">
              <a:defRPr sz="2025" b="0">
                <a:solidFill>
                  <a:srgbClr val="526779"/>
                </a:solidFill>
                <a:latin typeface="Arial"/>
                <a:ea typeface="Arial"/>
                <a:cs typeface="Arial"/>
              </a:defRPr>
            </a:lvl7pPr>
            <a:lvl8pPr algn="l">
              <a:defRPr sz="2025" b="0">
                <a:solidFill>
                  <a:srgbClr val="526779"/>
                </a:solidFill>
                <a:latin typeface="Arial"/>
                <a:ea typeface="Arial"/>
                <a:cs typeface="Arial"/>
              </a:defRPr>
            </a:lvl8pPr>
            <a:lvl9pPr algn="l">
              <a:defRPr sz="2025" b="0">
                <a:solidFill>
                  <a:srgbClr val="526779"/>
                </a:solidFill>
                <a:latin typeface="Arial"/>
                <a:ea typeface="Arial"/>
                <a:cs typeface="Arial"/>
              </a:defRPr>
            </a:lvl9pPr>
          </a:lstStyle>
          <a:p>
            <a:pPr algn="l">
              <a:lnSpc>
                <a:spcPct val="107000"/>
              </a:lnSpc>
              <a:buNone/>
              <a:defRPr sz="2025" b="0">
                <a:solidFill>
                  <a:srgbClr val="526779"/>
                </a:solidFill>
                <a:latin typeface="Arial"/>
                <a:ea typeface="Arial"/>
                <a:cs typeface="Arial"/>
              </a:defRPr>
            </a:pPr>
            <a:r>
              <a:rPr sz="2025" b="0">
                <a:solidFill>
                  <a:srgbClr val="526779"/>
                </a:solidFill>
                <a:latin typeface="Arial"/>
                <a:ea typeface="Arial"/>
                <a:cs typeface="Arial"/>
              </a:rPr>
              <a:t>Tăng tương phản biên</a:t>
            </a:r>
          </a:p>
          <a:p>
            <a:pPr algn="l">
              <a:lnSpc>
                <a:spcPct val="107000"/>
              </a:lnSpc>
              <a:buNone/>
              <a:defRPr sz="2025" b="0">
                <a:solidFill>
                  <a:srgbClr val="526779"/>
                </a:solidFill>
                <a:latin typeface="Arial"/>
                <a:ea typeface="Arial"/>
                <a:cs typeface="Arial"/>
              </a:defRPr>
            </a:pPr>
            <a:r>
              <a:rPr sz="2025" b="0">
                <a:solidFill>
                  <a:srgbClr val="526779"/>
                </a:solidFill>
                <a:latin typeface="Arial"/>
                <a:ea typeface="Arial"/>
                <a:cs typeface="Arial"/>
              </a:rPr>
              <a:t>Có thể tạo halo hoặc tăng nhiễu</a:t>
            </a:r>
          </a:p>
        </p:txBody>
      </p:sp>
      <p:sp>
        <p:nvSpPr>
          <p:cNvPr id="14" name="Rectangle 13">
            <a:extLst>
              <a:ext uri="{FF2B5EF4-FFF2-40B4-BE49-F238E27FC236}">
                <a16:creationId xmlns:a16="http://schemas.microsoft.com/office/drawing/2014/main" id="{4DC571DA-4648-4705-820C-4612FF0213DF}"/>
              </a:ext>
            </a:extLst>
          </p:cNvPr>
          <p:cNvSpPr>
            <a:spLocks noGrp="1"/>
          </p:cNvSpPr>
          <p:nvPr/>
        </p:nvSpPr>
        <p:spPr>
          <a:xfrm>
            <a:off x="6343650" y="4829175"/>
            <a:ext cx="5238750" cy="400050"/>
          </a:xfrm>
          <a:prstGeom prst="rect">
            <a:avLst/>
          </a:prstGeom>
          <a:noFill/>
          <a:ln w="0">
            <a:noFill/>
          </a:ln>
        </p:spPr>
        <p:txBody>
          <a:bodyPr wrap="square" lIns="0" tIns="0" rIns="0" bIns="0" anchor="t">
            <a:noAutofit/>
          </a:bodyPr>
          <a:lstStyle>
            <a:defPPr algn="l">
              <a:defRPr sz="2175" b="1">
                <a:solidFill>
                  <a:srgbClr val="192F43"/>
                </a:solidFill>
                <a:latin typeface="Arial"/>
                <a:ea typeface="Arial"/>
                <a:cs typeface="Arial"/>
              </a:defRPr>
            </a:defPPr>
            <a:lvl1pPr algn="l">
              <a:defRPr sz="2175" b="1">
                <a:solidFill>
                  <a:srgbClr val="192F43"/>
                </a:solidFill>
                <a:latin typeface="Arial"/>
                <a:ea typeface="Arial"/>
                <a:cs typeface="Arial"/>
              </a:defRPr>
            </a:lvl1pPr>
            <a:lvl2pPr algn="l">
              <a:defRPr sz="2175" b="1">
                <a:solidFill>
                  <a:srgbClr val="192F43"/>
                </a:solidFill>
                <a:latin typeface="Arial"/>
                <a:ea typeface="Arial"/>
                <a:cs typeface="Arial"/>
              </a:defRPr>
            </a:lvl2pPr>
            <a:lvl3pPr algn="l">
              <a:defRPr sz="2175" b="1">
                <a:solidFill>
                  <a:srgbClr val="192F43"/>
                </a:solidFill>
                <a:latin typeface="Arial"/>
                <a:ea typeface="Arial"/>
                <a:cs typeface="Arial"/>
              </a:defRPr>
            </a:lvl3pPr>
            <a:lvl4pPr algn="l">
              <a:defRPr sz="2175" b="1">
                <a:solidFill>
                  <a:srgbClr val="192F43"/>
                </a:solidFill>
                <a:latin typeface="Arial"/>
                <a:ea typeface="Arial"/>
                <a:cs typeface="Arial"/>
              </a:defRPr>
            </a:lvl4pPr>
            <a:lvl5pPr algn="l">
              <a:defRPr sz="2175" b="1">
                <a:solidFill>
                  <a:srgbClr val="192F43"/>
                </a:solidFill>
                <a:latin typeface="Arial"/>
                <a:ea typeface="Arial"/>
                <a:cs typeface="Arial"/>
              </a:defRPr>
            </a:lvl5pPr>
            <a:lvl6pPr algn="l">
              <a:defRPr sz="2175" b="1">
                <a:solidFill>
                  <a:srgbClr val="192F43"/>
                </a:solidFill>
                <a:latin typeface="Arial"/>
                <a:ea typeface="Arial"/>
                <a:cs typeface="Arial"/>
              </a:defRPr>
            </a:lvl6pPr>
            <a:lvl7pPr algn="l">
              <a:defRPr sz="2175" b="1">
                <a:solidFill>
                  <a:srgbClr val="192F43"/>
                </a:solidFill>
                <a:latin typeface="Arial"/>
                <a:ea typeface="Arial"/>
                <a:cs typeface="Arial"/>
              </a:defRPr>
            </a:lvl7pPr>
            <a:lvl8pPr algn="l">
              <a:defRPr sz="2175" b="1">
                <a:solidFill>
                  <a:srgbClr val="192F43"/>
                </a:solidFill>
                <a:latin typeface="Arial"/>
                <a:ea typeface="Arial"/>
                <a:cs typeface="Arial"/>
              </a:defRPr>
            </a:lvl8pPr>
            <a:lvl9pPr algn="l">
              <a:defRPr sz="2175" b="1">
                <a:solidFill>
                  <a:srgbClr val="192F43"/>
                </a:solidFill>
                <a:latin typeface="Arial"/>
                <a:ea typeface="Arial"/>
                <a:cs typeface="Arial"/>
              </a:defRPr>
            </a:lvl9pPr>
          </a:lstStyle>
          <a:p>
            <a:pPr algn="l">
              <a:lnSpc>
                <a:spcPct val="107000"/>
              </a:lnSpc>
              <a:buNone/>
              <a:defRPr sz="2175" b="1">
                <a:solidFill>
                  <a:srgbClr val="192F43"/>
                </a:solidFill>
                <a:latin typeface="Arial"/>
                <a:ea typeface="Arial"/>
                <a:cs typeface="Arial"/>
              </a:defRPr>
            </a:pPr>
            <a:r>
              <a:rPr sz="2175" b="1">
                <a:solidFill>
                  <a:srgbClr val="192F43"/>
                </a:solidFill>
                <a:latin typeface="Arial"/>
                <a:ea typeface="Arial"/>
                <a:cs typeface="Arial"/>
              </a:rPr>
              <a:t>Color correction</a:t>
            </a:r>
          </a:p>
        </p:txBody>
      </p:sp>
      <p:sp>
        <p:nvSpPr>
          <p:cNvPr id="15" name="Rectangle 14">
            <a:extLst>
              <a:ext uri="{FF2B5EF4-FFF2-40B4-BE49-F238E27FC236}">
                <a16:creationId xmlns:a16="http://schemas.microsoft.com/office/drawing/2014/main" id="{3F041ADE-E785-4952-ADAF-C9BF9C22A0D0}"/>
              </a:ext>
            </a:extLst>
          </p:cNvPr>
          <p:cNvSpPr>
            <a:spLocks noGrp="1"/>
          </p:cNvSpPr>
          <p:nvPr/>
        </p:nvSpPr>
        <p:spPr>
          <a:xfrm>
            <a:off x="6343650" y="5267325"/>
            <a:ext cx="5238750" cy="952500"/>
          </a:xfrm>
          <a:prstGeom prst="rect">
            <a:avLst/>
          </a:prstGeom>
          <a:noFill/>
          <a:ln w="0">
            <a:noFill/>
          </a:ln>
        </p:spPr>
        <p:txBody>
          <a:bodyPr wrap="square" lIns="0" tIns="0" rIns="0" bIns="0" anchor="t">
            <a:noAutofit/>
          </a:bodyPr>
          <a:lstStyle>
            <a:defPPr algn="l">
              <a:defRPr sz="2025" b="0">
                <a:solidFill>
                  <a:srgbClr val="526779"/>
                </a:solidFill>
                <a:latin typeface="Arial"/>
                <a:ea typeface="Arial"/>
                <a:cs typeface="Arial"/>
              </a:defRPr>
            </a:defPPr>
            <a:lvl1pPr algn="l">
              <a:defRPr sz="2025" b="0">
                <a:solidFill>
                  <a:srgbClr val="526779"/>
                </a:solidFill>
                <a:latin typeface="Arial"/>
                <a:ea typeface="Arial"/>
                <a:cs typeface="Arial"/>
              </a:defRPr>
            </a:lvl1pPr>
            <a:lvl2pPr algn="l">
              <a:defRPr sz="2025" b="0">
                <a:solidFill>
                  <a:srgbClr val="526779"/>
                </a:solidFill>
                <a:latin typeface="Arial"/>
                <a:ea typeface="Arial"/>
                <a:cs typeface="Arial"/>
              </a:defRPr>
            </a:lvl2pPr>
            <a:lvl3pPr algn="l">
              <a:defRPr sz="2025" b="0">
                <a:solidFill>
                  <a:srgbClr val="526779"/>
                </a:solidFill>
                <a:latin typeface="Arial"/>
                <a:ea typeface="Arial"/>
                <a:cs typeface="Arial"/>
              </a:defRPr>
            </a:lvl3pPr>
            <a:lvl4pPr algn="l">
              <a:defRPr sz="2025" b="0">
                <a:solidFill>
                  <a:srgbClr val="526779"/>
                </a:solidFill>
                <a:latin typeface="Arial"/>
                <a:ea typeface="Arial"/>
                <a:cs typeface="Arial"/>
              </a:defRPr>
            </a:lvl4pPr>
            <a:lvl5pPr algn="l">
              <a:defRPr sz="2025" b="0">
                <a:solidFill>
                  <a:srgbClr val="526779"/>
                </a:solidFill>
                <a:latin typeface="Arial"/>
                <a:ea typeface="Arial"/>
                <a:cs typeface="Arial"/>
              </a:defRPr>
            </a:lvl5pPr>
            <a:lvl6pPr algn="l">
              <a:defRPr sz="2025" b="0">
                <a:solidFill>
                  <a:srgbClr val="526779"/>
                </a:solidFill>
                <a:latin typeface="Arial"/>
                <a:ea typeface="Arial"/>
                <a:cs typeface="Arial"/>
              </a:defRPr>
            </a:lvl6pPr>
            <a:lvl7pPr algn="l">
              <a:defRPr sz="2025" b="0">
                <a:solidFill>
                  <a:srgbClr val="526779"/>
                </a:solidFill>
                <a:latin typeface="Arial"/>
                <a:ea typeface="Arial"/>
                <a:cs typeface="Arial"/>
              </a:defRPr>
            </a:lvl7pPr>
            <a:lvl8pPr algn="l">
              <a:defRPr sz="2025" b="0">
                <a:solidFill>
                  <a:srgbClr val="526779"/>
                </a:solidFill>
                <a:latin typeface="Arial"/>
                <a:ea typeface="Arial"/>
                <a:cs typeface="Arial"/>
              </a:defRPr>
            </a:lvl8pPr>
            <a:lvl9pPr algn="l">
              <a:defRPr sz="2025" b="0">
                <a:solidFill>
                  <a:srgbClr val="526779"/>
                </a:solidFill>
                <a:latin typeface="Arial"/>
                <a:ea typeface="Arial"/>
                <a:cs typeface="Arial"/>
              </a:defRPr>
            </a:lvl9pPr>
          </a:lstStyle>
          <a:p>
            <a:pPr algn="l">
              <a:lnSpc>
                <a:spcPct val="107000"/>
              </a:lnSpc>
              <a:buNone/>
              <a:defRPr sz="2025" b="0">
                <a:solidFill>
                  <a:srgbClr val="526779"/>
                </a:solidFill>
                <a:latin typeface="Arial"/>
                <a:ea typeface="Arial"/>
                <a:cs typeface="Arial"/>
              </a:defRPr>
            </a:pPr>
            <a:r>
              <a:rPr sz="2025" b="0">
                <a:solidFill>
                  <a:srgbClr val="526779"/>
                </a:solidFill>
                <a:latin typeface="Arial"/>
                <a:ea typeface="Arial"/>
                <a:cs typeface="Arial"/>
              </a:rPr>
              <a:t>Nhân saturation trong HSV</a:t>
            </a:r>
          </a:p>
          <a:p>
            <a:pPr algn="l">
              <a:lnSpc>
                <a:spcPct val="107000"/>
              </a:lnSpc>
              <a:buNone/>
              <a:defRPr sz="2025" b="0">
                <a:solidFill>
                  <a:srgbClr val="526779"/>
                </a:solidFill>
                <a:latin typeface="Arial"/>
                <a:ea typeface="Arial"/>
                <a:cs typeface="Arial"/>
              </a:defRPr>
            </a:pPr>
            <a:r>
              <a:rPr sz="2025" b="0">
                <a:solidFill>
                  <a:srgbClr val="526779"/>
                </a:solidFill>
                <a:latin typeface="Arial"/>
                <a:ea typeface="Arial"/>
                <a:cs typeface="Arial"/>
              </a:rPr>
              <a:t>Gain đỏ–lam điều khiển ấm lạnh</a:t>
            </a:r>
          </a:p>
        </p:txBody>
      </p:sp>
      <p:sp>
        <p:nvSpPr>
          <p:cNvPr id="16" name="Rectangle 15">
            <a:extLst>
              <a:ext uri="{FF2B5EF4-FFF2-40B4-BE49-F238E27FC236}">
                <a16:creationId xmlns:a16="http://schemas.microsoft.com/office/drawing/2014/main" id="{0FA51CD3-A623-4FD3-BC0D-CE8C432F1DB5}"/>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Sharpen chưa phải giải chập. Tham số tông ấm lạnh không phải Kelvin.</a:t>
            </a:r>
          </a:p>
        </p:txBody>
      </p:sp>
    </p:spTree>
    <p:extLst>
      <p:ext uri="{BB962C8B-B14F-4D97-AF65-F5344CB8AC3E}">
        <p14:creationId xmlns:p14="http://schemas.microsoft.com/office/powerpoint/2010/main" val="1003342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D41CE0D-4612-4E26-AECF-1E80E59F7421}"/>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3  XỬ LÝ ĐIỂM ẢNH CỔ ĐIỂN</a:t>
            </a:r>
          </a:p>
        </p:txBody>
      </p:sp>
      <p:sp>
        <p:nvSpPr>
          <p:cNvPr id="2" name="Rectangle 1">
            <a:extLst>
              <a:ext uri="{FF2B5EF4-FFF2-40B4-BE49-F238E27FC236}">
                <a16:creationId xmlns:a16="http://schemas.microsoft.com/office/drawing/2014/main" id="{371E45D1-CF11-48DE-8D3D-D393D61561A6}"/>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Kết quả benchmark thành phần</a:t>
            </a:r>
          </a:p>
        </p:txBody>
      </p:sp>
      <p:sp>
        <p:nvSpPr>
          <p:cNvPr id="3" name="Rectangle 2">
            <a:extLst>
              <a:ext uri="{FF2B5EF4-FFF2-40B4-BE49-F238E27FC236}">
                <a16:creationId xmlns:a16="http://schemas.microsoft.com/office/drawing/2014/main" id="{1C8A3E3A-CD4C-4823-9C7C-FDA39F744D68}"/>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14</a:t>
            </a:r>
          </a:p>
        </p:txBody>
      </p:sp>
      <p:graphicFrame>
        <p:nvGraphicFramePr>
          <p:cNvPr id="4" name="Chart">
            <a:extLst>
              <a:ext uri="{FF2B5EF4-FFF2-40B4-BE49-F238E27FC236}">
                <a16:creationId xmlns:a16="http://schemas.microsoft.com/office/drawing/2014/main" id="{D1C4D2A1-344D-4722-9C68-4F5C21544E5B}"/>
              </a:ext>
            </a:extLst>
          </p:cNvPr>
          <p:cNvGraphicFramePr/>
          <p:nvPr/>
        </p:nvGraphicFramePr>
        <p:xfrm>
          <a:off x="609600" y="1590675"/>
          <a:ext cx="7810500" cy="3981450"/>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E0FD0DC8-7B91-4763-91E8-8B1D2B6740BE}"/>
              </a:ext>
            </a:extLst>
          </p:cNvPr>
          <p:cNvSpPr>
            <a:spLocks noGrp="1"/>
          </p:cNvSpPr>
          <p:nvPr/>
        </p:nvSpPr>
        <p:spPr>
          <a:xfrm>
            <a:off x="8953500" y="1962150"/>
            <a:ext cx="2571750" cy="552450"/>
          </a:xfrm>
          <a:prstGeom prst="rect">
            <a:avLst/>
          </a:prstGeom>
          <a:noFill/>
          <a:ln w="0">
            <a:noFill/>
          </a:ln>
        </p:spPr>
        <p:txBody>
          <a:bodyPr wrap="square" lIns="0" tIns="0" rIns="0" bIns="0" anchor="t">
            <a:noAutofit/>
          </a:bodyPr>
          <a:lstStyle>
            <a:defPPr algn="l">
              <a:defRPr sz="2775" b="1">
                <a:solidFill>
                  <a:srgbClr val="267C83"/>
                </a:solidFill>
                <a:latin typeface="Arial"/>
                <a:ea typeface="Arial"/>
                <a:cs typeface="Arial"/>
              </a:defRPr>
            </a:defPPr>
            <a:lvl1pPr algn="l">
              <a:defRPr sz="2775" b="1">
                <a:solidFill>
                  <a:srgbClr val="267C83"/>
                </a:solidFill>
                <a:latin typeface="Arial"/>
                <a:ea typeface="Arial"/>
                <a:cs typeface="Arial"/>
              </a:defRPr>
            </a:lvl1pPr>
            <a:lvl2pPr algn="l">
              <a:defRPr sz="2775" b="1">
                <a:solidFill>
                  <a:srgbClr val="267C83"/>
                </a:solidFill>
                <a:latin typeface="Arial"/>
                <a:ea typeface="Arial"/>
                <a:cs typeface="Arial"/>
              </a:defRPr>
            </a:lvl2pPr>
            <a:lvl3pPr algn="l">
              <a:defRPr sz="2775" b="1">
                <a:solidFill>
                  <a:srgbClr val="267C83"/>
                </a:solidFill>
                <a:latin typeface="Arial"/>
                <a:ea typeface="Arial"/>
                <a:cs typeface="Arial"/>
              </a:defRPr>
            </a:lvl3pPr>
            <a:lvl4pPr algn="l">
              <a:defRPr sz="2775" b="1">
                <a:solidFill>
                  <a:srgbClr val="267C83"/>
                </a:solidFill>
                <a:latin typeface="Arial"/>
                <a:ea typeface="Arial"/>
                <a:cs typeface="Arial"/>
              </a:defRPr>
            </a:lvl4pPr>
            <a:lvl5pPr algn="l">
              <a:defRPr sz="2775" b="1">
                <a:solidFill>
                  <a:srgbClr val="267C83"/>
                </a:solidFill>
                <a:latin typeface="Arial"/>
                <a:ea typeface="Arial"/>
                <a:cs typeface="Arial"/>
              </a:defRPr>
            </a:lvl5pPr>
            <a:lvl6pPr algn="l">
              <a:defRPr sz="2775" b="1">
                <a:solidFill>
                  <a:srgbClr val="267C83"/>
                </a:solidFill>
                <a:latin typeface="Arial"/>
                <a:ea typeface="Arial"/>
                <a:cs typeface="Arial"/>
              </a:defRPr>
            </a:lvl6pPr>
            <a:lvl7pPr algn="l">
              <a:defRPr sz="2775" b="1">
                <a:solidFill>
                  <a:srgbClr val="267C83"/>
                </a:solidFill>
                <a:latin typeface="Arial"/>
                <a:ea typeface="Arial"/>
                <a:cs typeface="Arial"/>
              </a:defRPr>
            </a:lvl7pPr>
            <a:lvl8pPr algn="l">
              <a:defRPr sz="2775" b="1">
                <a:solidFill>
                  <a:srgbClr val="267C83"/>
                </a:solidFill>
                <a:latin typeface="Arial"/>
                <a:ea typeface="Arial"/>
                <a:cs typeface="Arial"/>
              </a:defRPr>
            </a:lvl8pPr>
            <a:lvl9pPr algn="l">
              <a:defRPr sz="2775" b="1">
                <a:solidFill>
                  <a:srgbClr val="267C83"/>
                </a:solidFill>
                <a:latin typeface="Arial"/>
                <a:ea typeface="Arial"/>
                <a:cs typeface="Arial"/>
              </a:defRPr>
            </a:lvl9pPr>
          </a:lstStyle>
          <a:p>
            <a:pPr algn="l">
              <a:lnSpc>
                <a:spcPct val="107000"/>
              </a:lnSpc>
              <a:buNone/>
              <a:defRPr sz="2775" b="1">
                <a:solidFill>
                  <a:srgbClr val="267C83"/>
                </a:solidFill>
                <a:latin typeface="Arial"/>
                <a:ea typeface="Arial"/>
                <a:cs typeface="Arial"/>
              </a:defRPr>
            </a:pPr>
            <a:r>
              <a:rPr sz="2775" b="1">
                <a:solidFill>
                  <a:srgbClr val="267C83"/>
                </a:solidFill>
                <a:latin typeface="Arial"/>
                <a:ea typeface="Arial"/>
                <a:cs typeface="Arial"/>
              </a:rPr>
              <a:t>4 ảnh mẫu</a:t>
            </a:r>
          </a:p>
        </p:txBody>
      </p:sp>
      <p:sp>
        <p:nvSpPr>
          <p:cNvPr id="6" name="Rectangle 5">
            <a:extLst>
              <a:ext uri="{FF2B5EF4-FFF2-40B4-BE49-F238E27FC236}">
                <a16:creationId xmlns:a16="http://schemas.microsoft.com/office/drawing/2014/main" id="{6FA249C8-C583-49D4-87B7-C994BD125BFF}"/>
              </a:ext>
            </a:extLst>
          </p:cNvPr>
          <p:cNvSpPr>
            <a:spLocks noGrp="1"/>
          </p:cNvSpPr>
          <p:nvPr/>
        </p:nvSpPr>
        <p:spPr>
          <a:xfrm>
            <a:off x="8953500" y="2724150"/>
            <a:ext cx="2609850" cy="1104900"/>
          </a:xfrm>
          <a:prstGeom prst="rect">
            <a:avLst/>
          </a:prstGeom>
          <a:noFill/>
          <a:ln w="0">
            <a:noFill/>
          </a:ln>
        </p:spPr>
        <p:txBody>
          <a:bodyPr wrap="square" lIns="0" tIns="0" rIns="0" bIns="0" anchor="t">
            <a:noAutofit/>
          </a:bodyPr>
          <a:lstStyle>
            <a:defPPr algn="l">
              <a:defRPr sz="2025" b="0">
                <a:solidFill>
                  <a:srgbClr val="192F43"/>
                </a:solidFill>
                <a:latin typeface="Arial"/>
                <a:ea typeface="Arial"/>
                <a:cs typeface="Arial"/>
              </a:defRPr>
            </a:defPPr>
            <a:lvl1pPr algn="l">
              <a:defRPr sz="2025" b="0">
                <a:solidFill>
                  <a:srgbClr val="192F43"/>
                </a:solidFill>
                <a:latin typeface="Arial"/>
                <a:ea typeface="Arial"/>
                <a:cs typeface="Arial"/>
              </a:defRPr>
            </a:lvl1pPr>
            <a:lvl2pPr algn="l">
              <a:defRPr sz="2025" b="0">
                <a:solidFill>
                  <a:srgbClr val="192F43"/>
                </a:solidFill>
                <a:latin typeface="Arial"/>
                <a:ea typeface="Arial"/>
                <a:cs typeface="Arial"/>
              </a:defRPr>
            </a:lvl2pPr>
            <a:lvl3pPr algn="l">
              <a:defRPr sz="2025" b="0">
                <a:solidFill>
                  <a:srgbClr val="192F43"/>
                </a:solidFill>
                <a:latin typeface="Arial"/>
                <a:ea typeface="Arial"/>
                <a:cs typeface="Arial"/>
              </a:defRPr>
            </a:lvl3pPr>
            <a:lvl4pPr algn="l">
              <a:defRPr sz="2025" b="0">
                <a:solidFill>
                  <a:srgbClr val="192F43"/>
                </a:solidFill>
                <a:latin typeface="Arial"/>
                <a:ea typeface="Arial"/>
                <a:cs typeface="Arial"/>
              </a:defRPr>
            </a:lvl4pPr>
            <a:lvl5pPr algn="l">
              <a:defRPr sz="2025" b="0">
                <a:solidFill>
                  <a:srgbClr val="192F43"/>
                </a:solidFill>
                <a:latin typeface="Arial"/>
                <a:ea typeface="Arial"/>
                <a:cs typeface="Arial"/>
              </a:defRPr>
            </a:lvl5pPr>
            <a:lvl6pPr algn="l">
              <a:defRPr sz="2025" b="0">
                <a:solidFill>
                  <a:srgbClr val="192F43"/>
                </a:solidFill>
                <a:latin typeface="Arial"/>
                <a:ea typeface="Arial"/>
                <a:cs typeface="Arial"/>
              </a:defRPr>
            </a:lvl6pPr>
            <a:lvl7pPr algn="l">
              <a:defRPr sz="2025" b="0">
                <a:solidFill>
                  <a:srgbClr val="192F43"/>
                </a:solidFill>
                <a:latin typeface="Arial"/>
                <a:ea typeface="Arial"/>
                <a:cs typeface="Arial"/>
              </a:defRPr>
            </a:lvl7pPr>
            <a:lvl8pPr algn="l">
              <a:defRPr sz="2025" b="0">
                <a:solidFill>
                  <a:srgbClr val="192F43"/>
                </a:solidFill>
                <a:latin typeface="Arial"/>
                <a:ea typeface="Arial"/>
                <a:cs typeface="Arial"/>
              </a:defRPr>
            </a:lvl8pPr>
            <a:lvl9pPr algn="l">
              <a:defRPr sz="2025" b="0">
                <a:solidFill>
                  <a:srgbClr val="192F43"/>
                </a:solidFill>
                <a:latin typeface="Arial"/>
                <a:ea typeface="Arial"/>
                <a:cs typeface="Arial"/>
              </a:defRPr>
            </a:lvl9pPr>
          </a:lstStyle>
          <a:p>
            <a:pPr algn="l">
              <a:lnSpc>
                <a:spcPct val="107000"/>
              </a:lnSpc>
              <a:buNone/>
              <a:defRPr sz="2025" b="0">
                <a:solidFill>
                  <a:srgbClr val="192F43"/>
                </a:solidFill>
                <a:latin typeface="Arial"/>
                <a:ea typeface="Arial"/>
                <a:cs typeface="Arial"/>
              </a:defRPr>
            </a:pPr>
            <a:r>
              <a:rPr sz="2025" b="0">
                <a:solidFill>
                  <a:srgbClr val="192F43"/>
                </a:solidFill>
                <a:latin typeface="Arial"/>
                <a:ea typeface="Arial"/>
                <a:cs typeface="Arial"/>
              </a:rPr>
              <a:t>384 px, seed 2026</a:t>
            </a:r>
          </a:p>
          <a:p>
            <a:pPr algn="l">
              <a:lnSpc>
                <a:spcPct val="107000"/>
              </a:lnSpc>
              <a:buNone/>
              <a:defRPr sz="2025" b="0">
                <a:solidFill>
                  <a:srgbClr val="192F43"/>
                </a:solidFill>
                <a:latin typeface="Arial"/>
                <a:ea typeface="Arial"/>
                <a:cs typeface="Arial"/>
              </a:defRPr>
            </a:pPr>
            <a:r>
              <a:rPr sz="2025" b="0">
                <a:solidFill>
                  <a:srgbClr val="192F43"/>
                </a:solidFill>
                <a:latin typeface="Arial"/>
                <a:ea typeface="Arial"/>
                <a:cs typeface="Arial"/>
              </a:rPr>
              <a:t>Quét tham số có GT</a:t>
            </a:r>
          </a:p>
        </p:txBody>
      </p:sp>
      <p:sp>
        <p:nvSpPr>
          <p:cNvPr id="7" name="Rectangle 6">
            <a:extLst>
              <a:ext uri="{FF2B5EF4-FFF2-40B4-BE49-F238E27FC236}">
                <a16:creationId xmlns:a16="http://schemas.microsoft.com/office/drawing/2014/main" id="{56D1E6B1-D46F-4192-8AE5-788C4DB24016}"/>
              </a:ext>
            </a:extLst>
          </p:cNvPr>
          <p:cNvSpPr>
            <a:spLocks noGrp="1"/>
          </p:cNvSpPr>
          <p:nvPr/>
        </p:nvSpPr>
        <p:spPr>
          <a:xfrm>
            <a:off x="609600" y="5848350"/>
            <a:ext cx="10972800" cy="409575"/>
          </a:xfrm>
          <a:prstGeom prst="rect">
            <a:avLst/>
          </a:prstGeom>
          <a:noFill/>
          <a:ln w="0">
            <a:noFill/>
          </a:ln>
        </p:spPr>
        <p:txBody>
          <a:bodyPr wrap="square" lIns="0" tIns="0" rIns="0" bIns="0" anchor="t">
            <a:noAutofit/>
          </a:bodyPr>
          <a:lstStyle>
            <a:defPPr algn="l">
              <a:defRPr sz="1875" b="1">
                <a:solidFill>
                  <a:srgbClr val="267C83"/>
                </a:solidFill>
                <a:latin typeface="Arial"/>
                <a:ea typeface="Arial"/>
                <a:cs typeface="Arial"/>
              </a:defRPr>
            </a:defPPr>
            <a:lvl1pPr algn="l">
              <a:defRPr sz="1875" b="1">
                <a:solidFill>
                  <a:srgbClr val="267C83"/>
                </a:solidFill>
                <a:latin typeface="Arial"/>
                <a:ea typeface="Arial"/>
                <a:cs typeface="Arial"/>
              </a:defRPr>
            </a:lvl1pPr>
            <a:lvl2pPr algn="l">
              <a:defRPr sz="1875" b="1">
                <a:solidFill>
                  <a:srgbClr val="267C83"/>
                </a:solidFill>
                <a:latin typeface="Arial"/>
                <a:ea typeface="Arial"/>
                <a:cs typeface="Arial"/>
              </a:defRPr>
            </a:lvl2pPr>
            <a:lvl3pPr algn="l">
              <a:defRPr sz="1875" b="1">
                <a:solidFill>
                  <a:srgbClr val="267C83"/>
                </a:solidFill>
                <a:latin typeface="Arial"/>
                <a:ea typeface="Arial"/>
                <a:cs typeface="Arial"/>
              </a:defRPr>
            </a:lvl3pPr>
            <a:lvl4pPr algn="l">
              <a:defRPr sz="1875" b="1">
                <a:solidFill>
                  <a:srgbClr val="267C83"/>
                </a:solidFill>
                <a:latin typeface="Arial"/>
                <a:ea typeface="Arial"/>
                <a:cs typeface="Arial"/>
              </a:defRPr>
            </a:lvl4pPr>
            <a:lvl5pPr algn="l">
              <a:defRPr sz="1875" b="1">
                <a:solidFill>
                  <a:srgbClr val="267C83"/>
                </a:solidFill>
                <a:latin typeface="Arial"/>
                <a:ea typeface="Arial"/>
                <a:cs typeface="Arial"/>
              </a:defRPr>
            </a:lvl5pPr>
            <a:lvl6pPr algn="l">
              <a:defRPr sz="1875" b="1">
                <a:solidFill>
                  <a:srgbClr val="267C83"/>
                </a:solidFill>
                <a:latin typeface="Arial"/>
                <a:ea typeface="Arial"/>
                <a:cs typeface="Arial"/>
              </a:defRPr>
            </a:lvl6pPr>
            <a:lvl7pPr algn="l">
              <a:defRPr sz="1875" b="1">
                <a:solidFill>
                  <a:srgbClr val="267C83"/>
                </a:solidFill>
                <a:latin typeface="Arial"/>
                <a:ea typeface="Arial"/>
                <a:cs typeface="Arial"/>
              </a:defRPr>
            </a:lvl7pPr>
            <a:lvl8pPr algn="l">
              <a:defRPr sz="1875" b="1">
                <a:solidFill>
                  <a:srgbClr val="267C83"/>
                </a:solidFill>
                <a:latin typeface="Arial"/>
                <a:ea typeface="Arial"/>
                <a:cs typeface="Arial"/>
              </a:defRPr>
            </a:lvl8pPr>
            <a:lvl9pPr algn="l">
              <a:defRPr sz="1875" b="1">
                <a:solidFill>
                  <a:srgbClr val="267C83"/>
                </a:solidFill>
                <a:latin typeface="Arial"/>
                <a:ea typeface="Arial"/>
                <a:cs typeface="Arial"/>
              </a:defRPr>
            </a:lvl9pPr>
          </a:lstStyle>
          <a:p>
            <a:pPr algn="l">
              <a:lnSpc>
                <a:spcPct val="107000"/>
              </a:lnSpc>
              <a:buNone/>
              <a:defRPr sz="1875" b="1">
                <a:solidFill>
                  <a:srgbClr val="267C83"/>
                </a:solidFill>
                <a:latin typeface="Arial"/>
                <a:ea typeface="Arial"/>
                <a:cs typeface="Arial"/>
              </a:defRPr>
            </a:pPr>
            <a:r>
              <a:rPr sz="1875" b="1">
                <a:solidFill>
                  <a:srgbClr val="267C83"/>
                </a:solidFill>
                <a:latin typeface="Arial"/>
                <a:ea typeface="Arial"/>
                <a:cs typeface="Arial"/>
              </a:rPr>
              <a:t>Tiếp theo: Module 4 chọn công cụ và điều phối vòng lặp</a:t>
            </a:r>
          </a:p>
        </p:txBody>
      </p:sp>
      <p:sp>
        <p:nvSpPr>
          <p:cNvPr id="8" name="Rectangle 7">
            <a:extLst>
              <a:ext uri="{FF2B5EF4-FFF2-40B4-BE49-F238E27FC236}">
                <a16:creationId xmlns:a16="http://schemas.microsoft.com/office/drawing/2014/main" id="{CB201560-EF6F-4087-B179-709DE54FB29C}"/>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Benchmark từng thuật toán có tham số chọn tốt nhất. Chưa đại diện toàn pipeline VLM.</a:t>
            </a:r>
          </a:p>
        </p:txBody>
      </p:sp>
    </p:spTree>
    <p:extLst>
      <p:ext uri="{BB962C8B-B14F-4D97-AF65-F5344CB8AC3E}">
        <p14:creationId xmlns:p14="http://schemas.microsoft.com/office/powerpoint/2010/main" val="10698431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cxnSp>
        <p:nvCxnSpPr>
          <p:cNvPr id="20" name="Straight Arrow Connector 19">
            <a:extLst>
              <a:ext uri="{FF2B5EF4-FFF2-40B4-BE49-F238E27FC236}">
                <a16:creationId xmlns:a16="http://schemas.microsoft.com/office/drawing/2014/main" id="{5A4DA95E-AB5B-4748-9CA4-31880B221F0C}"/>
              </a:ext>
            </a:extLst>
          </p:cNvPr>
          <p:cNvCxnSpPr>
            <a:stCxn id="11" idx="3"/>
            <a:endCxn id="12" idx="1"/>
          </p:cNvCxnSpPr>
          <p:nvPr/>
        </p:nvCxnSpPr>
        <p:spPr>
          <a:xfrm>
            <a:off x="7486650" y="5486400"/>
            <a:ext cx="1314450" cy="0"/>
          </a:xfrm>
          <a:prstGeom prst="straightConnector1">
            <a:avLst/>
          </a:prstGeom>
          <a:ln w="19050">
            <a:solidFill>
              <a:srgbClr val="617E8F"/>
            </a:solidFill>
            <a:tailEnd type="triangle" w="med" len="med"/>
          </a:ln>
        </p:spPr>
      </p:cxnSp>
      <p:cxnSp>
        <p:nvCxnSpPr>
          <p:cNvPr id="19" name="Straight Arrow Connector 18">
            <a:extLst>
              <a:ext uri="{FF2B5EF4-FFF2-40B4-BE49-F238E27FC236}">
                <a16:creationId xmlns:a16="http://schemas.microsoft.com/office/drawing/2014/main" id="{15F5E8F3-3787-4F2B-B644-1661953B995A}"/>
              </a:ext>
            </a:extLst>
          </p:cNvPr>
          <p:cNvCxnSpPr>
            <a:stCxn id="10" idx="3"/>
            <a:endCxn id="11" idx="1"/>
          </p:cNvCxnSpPr>
          <p:nvPr/>
        </p:nvCxnSpPr>
        <p:spPr>
          <a:xfrm>
            <a:off x="3390900" y="5486400"/>
            <a:ext cx="1314450" cy="0"/>
          </a:xfrm>
          <a:prstGeom prst="straightConnector1">
            <a:avLst/>
          </a:prstGeom>
          <a:ln w="19050">
            <a:solidFill>
              <a:srgbClr val="617E8F"/>
            </a:solidFill>
            <a:tailEnd type="triangle" w="med" len="med"/>
          </a:ln>
        </p:spPr>
      </p:cxnSp>
      <p:cxnSp>
        <p:nvCxnSpPr>
          <p:cNvPr id="18" name="Straight Arrow Connector 17">
            <a:extLst>
              <a:ext uri="{FF2B5EF4-FFF2-40B4-BE49-F238E27FC236}">
                <a16:creationId xmlns:a16="http://schemas.microsoft.com/office/drawing/2014/main" id="{2E69871A-B2DF-4A48-A535-D5E776C62001}"/>
              </a:ext>
            </a:extLst>
          </p:cNvPr>
          <p:cNvCxnSpPr>
            <a:stCxn id="9" idx="2"/>
            <a:endCxn id="10" idx="0"/>
          </p:cNvCxnSpPr>
          <p:nvPr/>
        </p:nvCxnSpPr>
        <p:spPr>
          <a:xfrm>
            <a:off x="2000250" y="4248150"/>
            <a:ext cx="0" cy="762000"/>
          </a:xfrm>
          <a:prstGeom prst="straightConnector1">
            <a:avLst/>
          </a:prstGeom>
          <a:ln w="19050">
            <a:solidFill>
              <a:srgbClr val="617E8F"/>
            </a:solidFill>
            <a:tailEnd type="triangle" w="med" len="med"/>
          </a:ln>
        </p:spPr>
      </p:cxnSp>
      <p:cxnSp>
        <p:nvCxnSpPr>
          <p:cNvPr id="17" name="Straight Arrow Connector 16">
            <a:extLst>
              <a:ext uri="{FF2B5EF4-FFF2-40B4-BE49-F238E27FC236}">
                <a16:creationId xmlns:a16="http://schemas.microsoft.com/office/drawing/2014/main" id="{B5E55474-A05C-4209-B15E-6A1F44F00DE7}"/>
              </a:ext>
            </a:extLst>
          </p:cNvPr>
          <p:cNvCxnSpPr>
            <a:stCxn id="8" idx="1"/>
            <a:endCxn id="9" idx="3"/>
          </p:cNvCxnSpPr>
          <p:nvPr/>
        </p:nvCxnSpPr>
        <p:spPr>
          <a:xfrm flipH="1">
            <a:off x="3390900" y="3771900"/>
            <a:ext cx="1314450" cy="0"/>
          </a:xfrm>
          <a:prstGeom prst="straightConnector1">
            <a:avLst/>
          </a:prstGeom>
          <a:ln w="19050">
            <a:solidFill>
              <a:srgbClr val="617E8F"/>
            </a:solidFill>
            <a:tailEnd type="triangle" w="med" len="med"/>
          </a:ln>
        </p:spPr>
      </p:cxnSp>
      <p:cxnSp>
        <p:nvCxnSpPr>
          <p:cNvPr id="16" name="Straight Arrow Connector 15">
            <a:extLst>
              <a:ext uri="{FF2B5EF4-FFF2-40B4-BE49-F238E27FC236}">
                <a16:creationId xmlns:a16="http://schemas.microsoft.com/office/drawing/2014/main" id="{E48B88AA-62DB-4259-80C3-DBFA180971B3}"/>
              </a:ext>
            </a:extLst>
          </p:cNvPr>
          <p:cNvCxnSpPr>
            <a:stCxn id="7" idx="1"/>
            <a:endCxn id="8" idx="3"/>
          </p:cNvCxnSpPr>
          <p:nvPr/>
        </p:nvCxnSpPr>
        <p:spPr>
          <a:xfrm flipH="1">
            <a:off x="7486650" y="3771900"/>
            <a:ext cx="1314450" cy="0"/>
          </a:xfrm>
          <a:prstGeom prst="straightConnector1">
            <a:avLst/>
          </a:prstGeom>
          <a:ln w="19050">
            <a:solidFill>
              <a:srgbClr val="617E8F"/>
            </a:solidFill>
            <a:tailEnd type="triangle" w="med" len="med"/>
          </a:ln>
        </p:spPr>
      </p:cxnSp>
      <p:cxnSp>
        <p:nvCxnSpPr>
          <p:cNvPr id="15" name="Straight Arrow Connector 14">
            <a:extLst>
              <a:ext uri="{FF2B5EF4-FFF2-40B4-BE49-F238E27FC236}">
                <a16:creationId xmlns:a16="http://schemas.microsoft.com/office/drawing/2014/main" id="{829DE9E9-0970-4D7E-828E-9DCCC5971735}"/>
              </a:ext>
            </a:extLst>
          </p:cNvPr>
          <p:cNvCxnSpPr>
            <a:stCxn id="6" idx="2"/>
            <a:endCxn id="7" idx="0"/>
          </p:cNvCxnSpPr>
          <p:nvPr/>
        </p:nvCxnSpPr>
        <p:spPr>
          <a:xfrm>
            <a:off x="10191750" y="2533650"/>
            <a:ext cx="0" cy="762000"/>
          </a:xfrm>
          <a:prstGeom prst="straightConnector1">
            <a:avLst/>
          </a:prstGeom>
          <a:ln w="19050">
            <a:solidFill>
              <a:srgbClr val="617E8F"/>
            </a:solidFill>
            <a:tailEnd type="triangle" w="med" len="med"/>
          </a:ln>
        </p:spPr>
      </p:cxnSp>
      <p:cxnSp>
        <p:nvCxnSpPr>
          <p:cNvPr id="14" name="Straight Arrow Connector 13">
            <a:extLst>
              <a:ext uri="{FF2B5EF4-FFF2-40B4-BE49-F238E27FC236}">
                <a16:creationId xmlns:a16="http://schemas.microsoft.com/office/drawing/2014/main" id="{EA64DF0C-D0BE-471E-A4B8-9D13AD6402D8}"/>
              </a:ext>
            </a:extLst>
          </p:cNvPr>
          <p:cNvCxnSpPr>
            <a:stCxn id="5" idx="3"/>
            <a:endCxn id="6" idx="1"/>
          </p:cNvCxnSpPr>
          <p:nvPr/>
        </p:nvCxnSpPr>
        <p:spPr>
          <a:xfrm>
            <a:off x="7486650" y="2057400"/>
            <a:ext cx="1314450" cy="0"/>
          </a:xfrm>
          <a:prstGeom prst="straightConnector1">
            <a:avLst/>
          </a:prstGeom>
          <a:ln w="19050">
            <a:solidFill>
              <a:srgbClr val="617E8F"/>
            </a:solidFill>
            <a:tailEnd type="triangle" w="med" len="med"/>
          </a:ln>
        </p:spPr>
      </p:cxnSp>
      <p:cxnSp>
        <p:nvCxnSpPr>
          <p:cNvPr id="13" name="Straight Arrow Connector 12">
            <a:extLst>
              <a:ext uri="{FF2B5EF4-FFF2-40B4-BE49-F238E27FC236}">
                <a16:creationId xmlns:a16="http://schemas.microsoft.com/office/drawing/2014/main" id="{496A34A3-1874-410A-BC79-9AEF6DE15AD0}"/>
              </a:ext>
            </a:extLst>
          </p:cNvPr>
          <p:cNvCxnSpPr>
            <a:stCxn id="4" idx="3"/>
            <a:endCxn id="5" idx="1"/>
          </p:cNvCxnSpPr>
          <p:nvPr/>
        </p:nvCxnSpPr>
        <p:spPr>
          <a:xfrm>
            <a:off x="3390900" y="2057400"/>
            <a:ext cx="1314450" cy="0"/>
          </a:xfrm>
          <a:prstGeom prst="straightConnector1">
            <a:avLst/>
          </a:prstGeom>
          <a:ln w="19050">
            <a:solidFill>
              <a:srgbClr val="617E8F"/>
            </a:solidFill>
            <a:tailEnd type="triangle" w="med" len="med"/>
          </a:ln>
        </p:spPr>
      </p:cxnSp>
      <p:sp>
        <p:nvSpPr>
          <p:cNvPr id="27" name="Rectangle 26">
            <a:extLst>
              <a:ext uri="{FF2B5EF4-FFF2-40B4-BE49-F238E27FC236}">
                <a16:creationId xmlns:a16="http://schemas.microsoft.com/office/drawing/2014/main" id="{BBE8A622-58CC-4644-BDE9-8599233D33AB}"/>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4  ĐIỀU PHỐI VÀ ỨNG DỤNG</a:t>
            </a:r>
          </a:p>
        </p:txBody>
      </p:sp>
      <p:sp>
        <p:nvSpPr>
          <p:cNvPr id="2" name="Rectangle 1">
            <a:extLst>
              <a:ext uri="{FF2B5EF4-FFF2-40B4-BE49-F238E27FC236}">
                <a16:creationId xmlns:a16="http://schemas.microsoft.com/office/drawing/2014/main" id="{414E3072-1293-4AF4-B4FF-04365B7451A7}"/>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LangGraph kết nối bốn module</a:t>
            </a:r>
          </a:p>
        </p:txBody>
      </p:sp>
      <p:sp>
        <p:nvSpPr>
          <p:cNvPr id="3" name="Rectangle 2">
            <a:extLst>
              <a:ext uri="{FF2B5EF4-FFF2-40B4-BE49-F238E27FC236}">
                <a16:creationId xmlns:a16="http://schemas.microsoft.com/office/drawing/2014/main" id="{37FDD541-8E54-4CFE-ABE6-7BCAB700A17B}"/>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15</a:t>
            </a:r>
          </a:p>
        </p:txBody>
      </p:sp>
      <p:sp>
        <p:nvSpPr>
          <p:cNvPr id="4" name="Rectangle 3">
            <a:extLst>
              <a:ext uri="{FF2B5EF4-FFF2-40B4-BE49-F238E27FC236}">
                <a16:creationId xmlns:a16="http://schemas.microsoft.com/office/drawing/2014/main" id="{42CCCD53-8D23-47F1-82B0-5DCBFF6CA813}"/>
              </a:ext>
            </a:extLst>
          </p:cNvPr>
          <p:cNvSpPr>
            <a:spLocks noGrp="1"/>
          </p:cNvSpPr>
          <p:nvPr/>
        </p:nvSpPr>
        <p:spPr>
          <a:xfrm>
            <a:off x="609600" y="1581150"/>
            <a:ext cx="2781300" cy="9525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Analyze</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M1 đo ảnh</a:t>
            </a:r>
          </a:p>
        </p:txBody>
      </p:sp>
      <p:sp>
        <p:nvSpPr>
          <p:cNvPr id="5" name="Rectangle 4">
            <a:extLst>
              <a:ext uri="{FF2B5EF4-FFF2-40B4-BE49-F238E27FC236}">
                <a16:creationId xmlns:a16="http://schemas.microsoft.com/office/drawing/2014/main" id="{756CEB16-DBB3-41C8-A996-8AF37006320C}"/>
              </a:ext>
            </a:extLst>
          </p:cNvPr>
          <p:cNvSpPr>
            <a:spLocks noGrp="1"/>
          </p:cNvSpPr>
          <p:nvPr/>
        </p:nvSpPr>
        <p:spPr>
          <a:xfrm>
            <a:off x="4705350" y="1581150"/>
            <a:ext cx="2781300" cy="9525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Perceive</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VLM và fusion</a:t>
            </a:r>
          </a:p>
        </p:txBody>
      </p:sp>
      <p:sp>
        <p:nvSpPr>
          <p:cNvPr id="6" name="Rectangle 5">
            <a:extLst>
              <a:ext uri="{FF2B5EF4-FFF2-40B4-BE49-F238E27FC236}">
                <a16:creationId xmlns:a16="http://schemas.microsoft.com/office/drawing/2014/main" id="{F964A64A-6CD1-4A30-9A83-16F0BC300D71}"/>
              </a:ext>
            </a:extLst>
          </p:cNvPr>
          <p:cNvSpPr>
            <a:spLocks noGrp="1"/>
          </p:cNvSpPr>
          <p:nvPr/>
        </p:nvSpPr>
        <p:spPr>
          <a:xfrm>
            <a:off x="8801100" y="1581150"/>
            <a:ext cx="2781300" cy="9525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Clarify</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Ý định người dùng</a:t>
            </a:r>
          </a:p>
        </p:txBody>
      </p:sp>
      <p:sp>
        <p:nvSpPr>
          <p:cNvPr id="7" name="Rectangle 6">
            <a:extLst>
              <a:ext uri="{FF2B5EF4-FFF2-40B4-BE49-F238E27FC236}">
                <a16:creationId xmlns:a16="http://schemas.microsoft.com/office/drawing/2014/main" id="{1135936D-46A5-4828-AB54-DD19E9B4C28D}"/>
              </a:ext>
            </a:extLst>
          </p:cNvPr>
          <p:cNvSpPr>
            <a:spLocks noGrp="1"/>
          </p:cNvSpPr>
          <p:nvPr/>
        </p:nvSpPr>
        <p:spPr>
          <a:xfrm>
            <a:off x="8801100" y="3295650"/>
            <a:ext cx="2781300" cy="9525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Diagnose and Plan</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Phác đồ có kiểm tra</a:t>
            </a:r>
          </a:p>
        </p:txBody>
      </p:sp>
      <p:sp>
        <p:nvSpPr>
          <p:cNvPr id="8" name="Rectangle 7">
            <a:extLst>
              <a:ext uri="{FF2B5EF4-FFF2-40B4-BE49-F238E27FC236}">
                <a16:creationId xmlns:a16="http://schemas.microsoft.com/office/drawing/2014/main" id="{79D110BB-6086-4E3C-BC30-5E6EACAFC036}"/>
              </a:ext>
            </a:extLst>
          </p:cNvPr>
          <p:cNvSpPr>
            <a:spLocks noGrp="1"/>
          </p:cNvSpPr>
          <p:nvPr/>
        </p:nvSpPr>
        <p:spPr>
          <a:xfrm>
            <a:off x="4705350" y="3295650"/>
            <a:ext cx="2781300" cy="952500"/>
          </a:xfrm>
          <a:prstGeom prst="rect">
            <a:avLst/>
          </a:prstGeom>
          <a:solidFill>
            <a:srgbClr val="E3F1F0"/>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Process</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M2 tạo mask, M3 xử lý</a:t>
            </a:r>
          </a:p>
        </p:txBody>
      </p:sp>
      <p:sp>
        <p:nvSpPr>
          <p:cNvPr id="9" name="Rectangle 8">
            <a:extLst>
              <a:ext uri="{FF2B5EF4-FFF2-40B4-BE49-F238E27FC236}">
                <a16:creationId xmlns:a16="http://schemas.microsoft.com/office/drawing/2014/main" id="{3BB011B7-2402-4851-A456-119952763F8D}"/>
              </a:ext>
            </a:extLst>
          </p:cNvPr>
          <p:cNvSpPr>
            <a:spLocks noGrp="1"/>
          </p:cNvSpPr>
          <p:nvPr/>
        </p:nvSpPr>
        <p:spPr>
          <a:xfrm>
            <a:off x="609600" y="3295650"/>
            <a:ext cx="2781300" cy="9525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Evaluate</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M1 đánh giá ứng viên</a:t>
            </a:r>
          </a:p>
        </p:txBody>
      </p:sp>
      <p:sp>
        <p:nvSpPr>
          <p:cNvPr id="10" name="Rectangle 9">
            <a:extLst>
              <a:ext uri="{FF2B5EF4-FFF2-40B4-BE49-F238E27FC236}">
                <a16:creationId xmlns:a16="http://schemas.microsoft.com/office/drawing/2014/main" id="{D6049CE0-E29B-4E8C-85DD-C04C954B1EC2}"/>
              </a:ext>
            </a:extLst>
          </p:cNvPr>
          <p:cNvSpPr>
            <a:spLocks noGrp="1"/>
          </p:cNvSpPr>
          <p:nvPr/>
        </p:nvSpPr>
        <p:spPr>
          <a:xfrm>
            <a:off x="609600" y="5010150"/>
            <a:ext cx="2781300" cy="952500"/>
          </a:xfrm>
          <a:prstGeom prst="rect">
            <a:avLst/>
          </a:prstGeom>
          <a:solidFill>
            <a:srgbClr val="F9EFDF"/>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Decide</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Tiếp tục hoặc dừng</a:t>
            </a:r>
          </a:p>
        </p:txBody>
      </p:sp>
      <p:sp>
        <p:nvSpPr>
          <p:cNvPr id="11" name="Rectangle 10">
            <a:extLst>
              <a:ext uri="{FF2B5EF4-FFF2-40B4-BE49-F238E27FC236}">
                <a16:creationId xmlns:a16="http://schemas.microsoft.com/office/drawing/2014/main" id="{729ADB22-B354-4796-8317-E5ED35F29C50}"/>
              </a:ext>
            </a:extLst>
          </p:cNvPr>
          <p:cNvSpPr>
            <a:spLocks noGrp="1"/>
          </p:cNvSpPr>
          <p:nvPr/>
        </p:nvSpPr>
        <p:spPr>
          <a:xfrm>
            <a:off x="4705350" y="5010150"/>
            <a:ext cx="2781300" cy="9525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Review</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Duyệt đúng ảnh trả</a:t>
            </a:r>
          </a:p>
        </p:txBody>
      </p:sp>
      <p:sp>
        <p:nvSpPr>
          <p:cNvPr id="12" name="Rectangle 11">
            <a:extLst>
              <a:ext uri="{FF2B5EF4-FFF2-40B4-BE49-F238E27FC236}">
                <a16:creationId xmlns:a16="http://schemas.microsoft.com/office/drawing/2014/main" id="{8FC62DB4-C256-49A7-A748-747A03BB3F21}"/>
              </a:ext>
            </a:extLst>
          </p:cNvPr>
          <p:cNvSpPr>
            <a:spLocks noGrp="1"/>
          </p:cNvSpPr>
          <p:nvPr/>
        </p:nvSpPr>
        <p:spPr>
          <a:xfrm>
            <a:off x="8801100" y="5010150"/>
            <a:ext cx="2781300" cy="9525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Finalize</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Kết cục cuối</a:t>
            </a:r>
          </a:p>
        </p:txBody>
      </p:sp>
      <p:cxnSp>
        <p:nvCxnSpPr>
          <p:cNvPr id="21" name="Straight Arrow Connector 20">
            <a:extLst>
              <a:ext uri="{FF2B5EF4-FFF2-40B4-BE49-F238E27FC236}">
                <a16:creationId xmlns:a16="http://schemas.microsoft.com/office/drawing/2014/main" id="{F06A10B8-3A99-4D55-B060-3D8F669BA41B}"/>
              </a:ext>
            </a:extLst>
          </p:cNvPr>
          <p:cNvCxnSpPr/>
          <p:nvPr/>
        </p:nvCxnSpPr>
        <p:spPr>
          <a:xfrm>
            <a:off x="285750" y="5486400"/>
            <a:ext cx="323850" cy="0"/>
          </a:xfrm>
          <a:prstGeom prst="straightConnector1">
            <a:avLst/>
          </a:prstGeom>
          <a:ln w="19050">
            <a:solidFill>
              <a:srgbClr val="617E8F"/>
            </a:solidFill>
          </a:ln>
        </p:spPr>
      </p:cxnSp>
      <p:cxnSp>
        <p:nvCxnSpPr>
          <p:cNvPr id="22" name="Straight Arrow Connector 21">
            <a:extLst>
              <a:ext uri="{FF2B5EF4-FFF2-40B4-BE49-F238E27FC236}">
                <a16:creationId xmlns:a16="http://schemas.microsoft.com/office/drawing/2014/main" id="{142A8C1D-D68D-47EA-B547-22EA783DA556}"/>
              </a:ext>
            </a:extLst>
          </p:cNvPr>
          <p:cNvCxnSpPr/>
          <p:nvPr/>
        </p:nvCxnSpPr>
        <p:spPr>
          <a:xfrm>
            <a:off x="285750" y="2057400"/>
            <a:ext cx="0" cy="3429000"/>
          </a:xfrm>
          <a:prstGeom prst="straightConnector1">
            <a:avLst/>
          </a:prstGeom>
          <a:ln w="19050">
            <a:solidFill>
              <a:srgbClr val="617E8F"/>
            </a:solidFill>
          </a:ln>
        </p:spPr>
      </p:cxnSp>
      <p:cxnSp>
        <p:nvCxnSpPr>
          <p:cNvPr id="23" name="Straight Arrow Connector 22">
            <a:extLst>
              <a:ext uri="{FF2B5EF4-FFF2-40B4-BE49-F238E27FC236}">
                <a16:creationId xmlns:a16="http://schemas.microsoft.com/office/drawing/2014/main" id="{2991D31C-EA59-4ADF-8E8C-DB16D4C6C829}"/>
              </a:ext>
            </a:extLst>
          </p:cNvPr>
          <p:cNvCxnSpPr/>
          <p:nvPr/>
        </p:nvCxnSpPr>
        <p:spPr>
          <a:xfrm>
            <a:off x="285750" y="2057400"/>
            <a:ext cx="323850" cy="0"/>
          </a:xfrm>
          <a:prstGeom prst="straightConnector1">
            <a:avLst/>
          </a:prstGeom>
          <a:ln w="19050">
            <a:solidFill>
              <a:srgbClr val="617E8F"/>
            </a:solidFill>
            <a:tailEnd type="triangle" w="med" len="med"/>
          </a:ln>
        </p:spPr>
      </p:cxnSp>
      <p:sp>
        <p:nvSpPr>
          <p:cNvPr id="24" name="Rectangle 23">
            <a:extLst>
              <a:ext uri="{FF2B5EF4-FFF2-40B4-BE49-F238E27FC236}">
                <a16:creationId xmlns:a16="http://schemas.microsoft.com/office/drawing/2014/main" id="{37587C72-12DF-4F9F-9F37-703B510DE7BA}"/>
              </a:ext>
            </a:extLst>
          </p:cNvPr>
          <p:cNvSpPr>
            <a:spLocks noGrp="1"/>
          </p:cNvSpPr>
          <p:nvPr/>
        </p:nvSpPr>
        <p:spPr>
          <a:xfrm>
            <a:off x="3781425" y="5181600"/>
            <a:ext cx="762000" cy="285750"/>
          </a:xfrm>
          <a:prstGeom prst="rect">
            <a:avLst/>
          </a:prstGeom>
          <a:noFill/>
          <a:ln w="0">
            <a:noFill/>
          </a:ln>
        </p:spPr>
        <p:txBody>
          <a:bodyPr wrap="square" lIns="0" tIns="0" rIns="0" bIns="0" anchor="t">
            <a:noAutofit/>
          </a:bodyPr>
          <a:lstStyle>
            <a:defPPr algn="l">
              <a:defRPr sz="1500" b="0">
                <a:solidFill>
                  <a:srgbClr val="526779"/>
                </a:solidFill>
                <a:latin typeface="Arial"/>
                <a:ea typeface="Arial"/>
                <a:cs typeface="Arial"/>
              </a:defRPr>
            </a:defPPr>
            <a:lvl1pPr algn="l">
              <a:defRPr sz="1500" b="0">
                <a:solidFill>
                  <a:srgbClr val="526779"/>
                </a:solidFill>
                <a:latin typeface="Arial"/>
                <a:ea typeface="Arial"/>
                <a:cs typeface="Arial"/>
              </a:defRPr>
            </a:lvl1pPr>
            <a:lvl2pPr algn="l">
              <a:defRPr sz="1500" b="0">
                <a:solidFill>
                  <a:srgbClr val="526779"/>
                </a:solidFill>
                <a:latin typeface="Arial"/>
                <a:ea typeface="Arial"/>
                <a:cs typeface="Arial"/>
              </a:defRPr>
            </a:lvl2pPr>
            <a:lvl3pPr algn="l">
              <a:defRPr sz="1500" b="0">
                <a:solidFill>
                  <a:srgbClr val="526779"/>
                </a:solidFill>
                <a:latin typeface="Arial"/>
                <a:ea typeface="Arial"/>
                <a:cs typeface="Arial"/>
              </a:defRPr>
            </a:lvl3pPr>
            <a:lvl4pPr algn="l">
              <a:defRPr sz="1500" b="0">
                <a:solidFill>
                  <a:srgbClr val="526779"/>
                </a:solidFill>
                <a:latin typeface="Arial"/>
                <a:ea typeface="Arial"/>
                <a:cs typeface="Arial"/>
              </a:defRPr>
            </a:lvl4pPr>
            <a:lvl5pPr algn="l">
              <a:defRPr sz="1500" b="0">
                <a:solidFill>
                  <a:srgbClr val="526779"/>
                </a:solidFill>
                <a:latin typeface="Arial"/>
                <a:ea typeface="Arial"/>
                <a:cs typeface="Arial"/>
              </a:defRPr>
            </a:lvl5pPr>
            <a:lvl6pPr algn="l">
              <a:defRPr sz="1500" b="0">
                <a:solidFill>
                  <a:srgbClr val="526779"/>
                </a:solidFill>
                <a:latin typeface="Arial"/>
                <a:ea typeface="Arial"/>
                <a:cs typeface="Arial"/>
              </a:defRPr>
            </a:lvl6pPr>
            <a:lvl7pPr algn="l">
              <a:defRPr sz="1500" b="0">
                <a:solidFill>
                  <a:srgbClr val="526779"/>
                </a:solidFill>
                <a:latin typeface="Arial"/>
                <a:ea typeface="Arial"/>
                <a:cs typeface="Arial"/>
              </a:defRPr>
            </a:lvl7pPr>
            <a:lvl8pPr algn="l">
              <a:defRPr sz="1500" b="0">
                <a:solidFill>
                  <a:srgbClr val="526779"/>
                </a:solidFill>
                <a:latin typeface="Arial"/>
                <a:ea typeface="Arial"/>
                <a:cs typeface="Arial"/>
              </a:defRPr>
            </a:lvl8pPr>
            <a:lvl9pPr algn="l">
              <a:defRPr sz="1500" b="0">
                <a:solidFill>
                  <a:srgbClr val="526779"/>
                </a:solidFill>
                <a:latin typeface="Arial"/>
                <a:ea typeface="Arial"/>
                <a:cs typeface="Arial"/>
              </a:defRPr>
            </a:lvl9pPr>
          </a:lstStyle>
          <a:p>
            <a:pPr algn="l">
              <a:lnSpc>
                <a:spcPct val="107000"/>
              </a:lnSpc>
              <a:buNone/>
              <a:defRPr sz="1500" b="0">
                <a:solidFill>
                  <a:srgbClr val="526779"/>
                </a:solidFill>
                <a:latin typeface="Arial"/>
                <a:ea typeface="Arial"/>
                <a:cs typeface="Arial"/>
              </a:defRPr>
            </a:pPr>
            <a:r>
              <a:rPr sz="1500" b="0">
                <a:solidFill>
                  <a:srgbClr val="526779"/>
                </a:solidFill>
                <a:latin typeface="Arial"/>
                <a:ea typeface="Arial"/>
                <a:cs typeface="Arial"/>
              </a:rPr>
              <a:t>Dừng</a:t>
            </a:r>
          </a:p>
        </p:txBody>
      </p:sp>
      <p:sp>
        <p:nvSpPr>
          <p:cNvPr id="25" name="Rectangle 24">
            <a:extLst>
              <a:ext uri="{FF2B5EF4-FFF2-40B4-BE49-F238E27FC236}">
                <a16:creationId xmlns:a16="http://schemas.microsoft.com/office/drawing/2014/main" id="{33840CAE-D4DD-4234-99C5-38B34E294E15}"/>
              </a:ext>
            </a:extLst>
          </p:cNvPr>
          <p:cNvSpPr>
            <a:spLocks noGrp="1"/>
          </p:cNvSpPr>
          <p:nvPr/>
        </p:nvSpPr>
        <p:spPr>
          <a:xfrm>
            <a:off x="609600" y="6019800"/>
            <a:ext cx="3714750" cy="247650"/>
          </a:xfrm>
          <a:prstGeom prst="rect">
            <a:avLst/>
          </a:prstGeom>
          <a:noFill/>
          <a:ln w="0">
            <a:noFill/>
          </a:ln>
        </p:spPr>
        <p:txBody>
          <a:bodyPr wrap="square" lIns="0" tIns="0" rIns="0" bIns="0" anchor="t">
            <a:noAutofit/>
          </a:bodyPr>
          <a:lstStyle>
            <a:defPPr algn="l">
              <a:defRPr sz="1500" b="0">
                <a:solidFill>
                  <a:srgbClr val="267C83"/>
                </a:solidFill>
                <a:latin typeface="Arial"/>
                <a:ea typeface="Arial"/>
                <a:cs typeface="Arial"/>
              </a:defRPr>
            </a:defPPr>
            <a:lvl1pPr algn="l">
              <a:defRPr sz="1500" b="0">
                <a:solidFill>
                  <a:srgbClr val="267C83"/>
                </a:solidFill>
                <a:latin typeface="Arial"/>
                <a:ea typeface="Arial"/>
                <a:cs typeface="Arial"/>
              </a:defRPr>
            </a:lvl1pPr>
            <a:lvl2pPr algn="l">
              <a:defRPr sz="1500" b="0">
                <a:solidFill>
                  <a:srgbClr val="267C83"/>
                </a:solidFill>
                <a:latin typeface="Arial"/>
                <a:ea typeface="Arial"/>
                <a:cs typeface="Arial"/>
              </a:defRPr>
            </a:lvl2pPr>
            <a:lvl3pPr algn="l">
              <a:defRPr sz="1500" b="0">
                <a:solidFill>
                  <a:srgbClr val="267C83"/>
                </a:solidFill>
                <a:latin typeface="Arial"/>
                <a:ea typeface="Arial"/>
                <a:cs typeface="Arial"/>
              </a:defRPr>
            </a:lvl3pPr>
            <a:lvl4pPr algn="l">
              <a:defRPr sz="1500" b="0">
                <a:solidFill>
                  <a:srgbClr val="267C83"/>
                </a:solidFill>
                <a:latin typeface="Arial"/>
                <a:ea typeface="Arial"/>
                <a:cs typeface="Arial"/>
              </a:defRPr>
            </a:lvl4pPr>
            <a:lvl5pPr algn="l">
              <a:defRPr sz="1500" b="0">
                <a:solidFill>
                  <a:srgbClr val="267C83"/>
                </a:solidFill>
                <a:latin typeface="Arial"/>
                <a:ea typeface="Arial"/>
                <a:cs typeface="Arial"/>
              </a:defRPr>
            </a:lvl5pPr>
            <a:lvl6pPr algn="l">
              <a:defRPr sz="1500" b="0">
                <a:solidFill>
                  <a:srgbClr val="267C83"/>
                </a:solidFill>
                <a:latin typeface="Arial"/>
                <a:ea typeface="Arial"/>
                <a:cs typeface="Arial"/>
              </a:defRPr>
            </a:lvl6pPr>
            <a:lvl7pPr algn="l">
              <a:defRPr sz="1500" b="0">
                <a:solidFill>
                  <a:srgbClr val="267C83"/>
                </a:solidFill>
                <a:latin typeface="Arial"/>
                <a:ea typeface="Arial"/>
                <a:cs typeface="Arial"/>
              </a:defRPr>
            </a:lvl7pPr>
            <a:lvl8pPr algn="l">
              <a:defRPr sz="1500" b="0">
                <a:solidFill>
                  <a:srgbClr val="267C83"/>
                </a:solidFill>
                <a:latin typeface="Arial"/>
                <a:ea typeface="Arial"/>
                <a:cs typeface="Arial"/>
              </a:defRPr>
            </a:lvl8pPr>
            <a:lvl9pPr algn="l">
              <a:defRPr sz="1500" b="0">
                <a:solidFill>
                  <a:srgbClr val="267C83"/>
                </a:solidFill>
                <a:latin typeface="Arial"/>
                <a:ea typeface="Arial"/>
                <a:cs typeface="Arial"/>
              </a:defRPr>
            </a:lvl9pPr>
          </a:lstStyle>
          <a:p>
            <a:pPr algn="l">
              <a:lnSpc>
                <a:spcPct val="107000"/>
              </a:lnSpc>
              <a:buNone/>
              <a:defRPr sz="1500" b="0">
                <a:solidFill>
                  <a:srgbClr val="267C83"/>
                </a:solidFill>
                <a:latin typeface="Arial"/>
                <a:ea typeface="Arial"/>
                <a:cs typeface="Arial"/>
              </a:defRPr>
            </a:pPr>
            <a:r>
              <a:rPr sz="1500" b="0">
                <a:solidFill>
                  <a:srgbClr val="267C83"/>
                </a:solidFill>
                <a:latin typeface="Arial"/>
                <a:ea typeface="Arial"/>
                <a:cs typeface="Arial"/>
              </a:rPr>
              <a:t>RE_PROCESS về Analyze</a:t>
            </a:r>
          </a:p>
        </p:txBody>
      </p:sp>
      <p:sp>
        <p:nvSpPr>
          <p:cNvPr id="26" name="Rectangle 25">
            <a:extLst>
              <a:ext uri="{FF2B5EF4-FFF2-40B4-BE49-F238E27FC236}">
                <a16:creationId xmlns:a16="http://schemas.microsoft.com/office/drawing/2014/main" id="{EB272A87-C5AF-4CA0-9848-C469B4426BE0}"/>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DoctorState giữ ảnh gốc, ảnh hiện tại, ảnh trước vòng và lịch sử.</a:t>
            </a:r>
          </a:p>
        </p:txBody>
      </p:sp>
    </p:spTree>
    <p:extLst>
      <p:ext uri="{BB962C8B-B14F-4D97-AF65-F5344CB8AC3E}">
        <p14:creationId xmlns:p14="http://schemas.microsoft.com/office/powerpoint/2010/main" val="686113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cxnSp>
        <p:nvCxnSpPr>
          <p:cNvPr id="8" name="Straight Arrow Connector 7">
            <a:extLst>
              <a:ext uri="{FF2B5EF4-FFF2-40B4-BE49-F238E27FC236}">
                <a16:creationId xmlns:a16="http://schemas.microsoft.com/office/drawing/2014/main" id="{5CBA417F-717D-4D3F-954D-6B8BEC0A4FBB}"/>
              </a:ext>
            </a:extLst>
          </p:cNvPr>
          <p:cNvCxnSpPr>
            <a:stCxn id="5" idx="3"/>
            <a:endCxn id="6" idx="1"/>
          </p:cNvCxnSpPr>
          <p:nvPr/>
        </p:nvCxnSpPr>
        <p:spPr>
          <a:xfrm>
            <a:off x="7620000" y="2562225"/>
            <a:ext cx="914400" cy="0"/>
          </a:xfrm>
          <a:prstGeom prst="straightConnector1">
            <a:avLst/>
          </a:prstGeom>
          <a:ln w="19050">
            <a:solidFill>
              <a:srgbClr val="617E8F"/>
            </a:solidFill>
            <a:tailEnd type="triangle" w="med" len="med"/>
          </a:ln>
        </p:spPr>
      </p:cxnSp>
      <p:cxnSp>
        <p:nvCxnSpPr>
          <p:cNvPr id="7" name="Straight Arrow Connector 6">
            <a:extLst>
              <a:ext uri="{FF2B5EF4-FFF2-40B4-BE49-F238E27FC236}">
                <a16:creationId xmlns:a16="http://schemas.microsoft.com/office/drawing/2014/main" id="{CE7B62FE-88C6-4E33-9294-C0D95CA31346}"/>
              </a:ext>
            </a:extLst>
          </p:cNvPr>
          <p:cNvCxnSpPr>
            <a:stCxn id="4" idx="3"/>
            <a:endCxn id="5" idx="1"/>
          </p:cNvCxnSpPr>
          <p:nvPr/>
        </p:nvCxnSpPr>
        <p:spPr>
          <a:xfrm>
            <a:off x="3657600" y="2562225"/>
            <a:ext cx="914400" cy="0"/>
          </a:xfrm>
          <a:prstGeom prst="straightConnector1">
            <a:avLst/>
          </a:prstGeom>
          <a:ln w="19050">
            <a:solidFill>
              <a:srgbClr val="617E8F"/>
            </a:solidFill>
            <a:tailEnd type="triangle" w="med" len="med"/>
          </a:ln>
        </p:spPr>
      </p:cxnSp>
      <p:sp>
        <p:nvSpPr>
          <p:cNvPr id="13" name="Rectangle 12">
            <a:extLst>
              <a:ext uri="{FF2B5EF4-FFF2-40B4-BE49-F238E27FC236}">
                <a16:creationId xmlns:a16="http://schemas.microsoft.com/office/drawing/2014/main" id="{163B4C4E-4EF7-42BD-BFEE-106C235847FF}"/>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4  ĐIỀU PHỐI VÀ ỨNG DỤNG</a:t>
            </a:r>
          </a:p>
        </p:txBody>
      </p:sp>
      <p:sp>
        <p:nvSpPr>
          <p:cNvPr id="2" name="Rectangle 1">
            <a:extLst>
              <a:ext uri="{FF2B5EF4-FFF2-40B4-BE49-F238E27FC236}">
                <a16:creationId xmlns:a16="http://schemas.microsoft.com/office/drawing/2014/main" id="{C119697A-A4D3-407B-A169-3CDAA33B06BA}"/>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Gemini đề xuất, chương trình kiểm tra</a:t>
            </a:r>
          </a:p>
        </p:txBody>
      </p:sp>
      <p:sp>
        <p:nvSpPr>
          <p:cNvPr id="3" name="Rectangle 2">
            <a:extLst>
              <a:ext uri="{FF2B5EF4-FFF2-40B4-BE49-F238E27FC236}">
                <a16:creationId xmlns:a16="http://schemas.microsoft.com/office/drawing/2014/main" id="{35E598A3-C732-4F11-8C38-20698068CCEE}"/>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16</a:t>
            </a:r>
          </a:p>
        </p:txBody>
      </p:sp>
      <p:sp>
        <p:nvSpPr>
          <p:cNvPr id="4" name="Rectangle 3">
            <a:extLst>
              <a:ext uri="{FF2B5EF4-FFF2-40B4-BE49-F238E27FC236}">
                <a16:creationId xmlns:a16="http://schemas.microsoft.com/office/drawing/2014/main" id="{9CFF4204-116E-466B-9295-B8ADF64364AC}"/>
              </a:ext>
            </a:extLst>
          </p:cNvPr>
          <p:cNvSpPr>
            <a:spLocks noGrp="1"/>
          </p:cNvSpPr>
          <p:nvPr/>
        </p:nvSpPr>
        <p:spPr>
          <a:xfrm>
            <a:off x="609600" y="1819275"/>
            <a:ext cx="3048000" cy="14859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Perceive và Fusion</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Ảnh, số đo và crop</a:t>
            </a:r>
            <a:br>
              <a:rPr sz="1800">
                <a:solidFill>
                  <a:srgbClr val="192F43"/>
                </a:solidFill>
                <a:latin typeface="Arial"/>
                <a:ea typeface="Arial"/>
                <a:cs typeface="Arial"/>
              </a:rPr>
            </a:br>
            <a:r>
              <a:rPr sz="1800">
                <a:solidFill>
                  <a:srgbClr val="192F43"/>
                </a:solidFill>
                <a:latin typeface="Arial"/>
                <a:ea typeface="Arial"/>
                <a:cs typeface="Arial"/>
              </a:rPr>
              <a:t>Lỗi theo vùng, preserve</a:t>
            </a:r>
          </a:p>
        </p:txBody>
      </p:sp>
      <p:sp>
        <p:nvSpPr>
          <p:cNvPr id="5" name="Rectangle 4">
            <a:extLst>
              <a:ext uri="{FF2B5EF4-FFF2-40B4-BE49-F238E27FC236}">
                <a16:creationId xmlns:a16="http://schemas.microsoft.com/office/drawing/2014/main" id="{78DC79CF-5752-4C85-BB4F-3523A1CD56AD}"/>
              </a:ext>
            </a:extLst>
          </p:cNvPr>
          <p:cNvSpPr>
            <a:spLocks noGrp="1"/>
          </p:cNvSpPr>
          <p:nvPr/>
        </p:nvSpPr>
        <p:spPr>
          <a:xfrm>
            <a:off x="4572000" y="1819275"/>
            <a:ext cx="3048000" cy="14859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Plan JSON</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Ý định và playbook</a:t>
            </a:r>
            <a:br>
              <a:rPr sz="1800">
                <a:solidFill>
                  <a:srgbClr val="192F43"/>
                </a:solidFill>
                <a:latin typeface="Arial"/>
                <a:ea typeface="Arial"/>
                <a:cs typeface="Arial"/>
              </a:rPr>
            </a:br>
            <a:r>
              <a:rPr sz="1800">
                <a:solidFill>
                  <a:srgbClr val="192F43"/>
                </a:solidFill>
                <a:latin typeface="Arial"/>
                <a:ea typeface="Arial"/>
                <a:cs typeface="Arial"/>
              </a:rPr>
              <a:t>Công cụ, vùng, tham số</a:t>
            </a:r>
          </a:p>
        </p:txBody>
      </p:sp>
      <p:sp>
        <p:nvSpPr>
          <p:cNvPr id="6" name="Rectangle 5">
            <a:extLst>
              <a:ext uri="{FF2B5EF4-FFF2-40B4-BE49-F238E27FC236}">
                <a16:creationId xmlns:a16="http://schemas.microsoft.com/office/drawing/2014/main" id="{CF6A595C-497A-428F-ABC0-A9DEB93A26DB}"/>
              </a:ext>
            </a:extLst>
          </p:cNvPr>
          <p:cNvSpPr>
            <a:spLocks noGrp="1"/>
          </p:cNvSpPr>
          <p:nvPr/>
        </p:nvSpPr>
        <p:spPr>
          <a:xfrm>
            <a:off x="8534400" y="1819275"/>
            <a:ext cx="3048000" cy="1485900"/>
          </a:xfrm>
          <a:prstGeom prst="rect">
            <a:avLst/>
          </a:prstGeom>
          <a:solidFill>
            <a:srgbClr val="F9EFDF"/>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Validator</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Kẹp tham số</a:t>
            </a:r>
            <a:br>
              <a:rPr sz="1800">
                <a:solidFill>
                  <a:srgbClr val="192F43"/>
                </a:solidFill>
                <a:latin typeface="Arial"/>
                <a:ea typeface="Arial"/>
                <a:cs typeface="Arial"/>
              </a:rPr>
            </a:br>
            <a:r>
              <a:rPr sz="1800">
                <a:solidFill>
                  <a:srgbClr val="192F43"/>
                </a:solidFill>
                <a:latin typeface="Arial"/>
                <a:ea typeface="Arial"/>
                <a:cs typeface="Arial"/>
              </a:rPr>
              <a:t>Giữ phong cách và thứ tự</a:t>
            </a:r>
          </a:p>
        </p:txBody>
      </p:sp>
      <p:sp>
        <p:nvSpPr>
          <p:cNvPr id="9" name="Rectangle 8">
            <a:extLst>
              <a:ext uri="{FF2B5EF4-FFF2-40B4-BE49-F238E27FC236}">
                <a16:creationId xmlns:a16="http://schemas.microsoft.com/office/drawing/2014/main" id="{6EA66A9F-1D27-453C-B18C-ED6970A07A74}"/>
              </a:ext>
            </a:extLst>
          </p:cNvPr>
          <p:cNvSpPr>
            <a:spLocks noGrp="1"/>
          </p:cNvSpPr>
          <p:nvPr/>
        </p:nvSpPr>
        <p:spPr>
          <a:xfrm>
            <a:off x="609600" y="4019550"/>
            <a:ext cx="10858500" cy="400050"/>
          </a:xfrm>
          <a:prstGeom prst="rect">
            <a:avLst/>
          </a:prstGeom>
          <a:noFill/>
          <a:ln w="0">
            <a:noFill/>
          </a:ln>
        </p:spPr>
        <p:txBody>
          <a:bodyPr wrap="square" lIns="0" tIns="0" rIns="0" bIns="0" anchor="t">
            <a:noAutofit/>
          </a:bodyPr>
          <a:lstStyle>
            <a:defPPr algn="l">
              <a:defRPr sz="2175" b="1">
                <a:solidFill>
                  <a:srgbClr val="192F43"/>
                </a:solidFill>
                <a:latin typeface="Arial"/>
                <a:ea typeface="Arial"/>
                <a:cs typeface="Arial"/>
              </a:defRPr>
            </a:defPPr>
            <a:lvl1pPr algn="l">
              <a:defRPr sz="2175" b="1">
                <a:solidFill>
                  <a:srgbClr val="192F43"/>
                </a:solidFill>
                <a:latin typeface="Arial"/>
                <a:ea typeface="Arial"/>
                <a:cs typeface="Arial"/>
              </a:defRPr>
            </a:lvl1pPr>
            <a:lvl2pPr algn="l">
              <a:defRPr sz="2175" b="1">
                <a:solidFill>
                  <a:srgbClr val="192F43"/>
                </a:solidFill>
                <a:latin typeface="Arial"/>
                <a:ea typeface="Arial"/>
                <a:cs typeface="Arial"/>
              </a:defRPr>
            </a:lvl2pPr>
            <a:lvl3pPr algn="l">
              <a:defRPr sz="2175" b="1">
                <a:solidFill>
                  <a:srgbClr val="192F43"/>
                </a:solidFill>
                <a:latin typeface="Arial"/>
                <a:ea typeface="Arial"/>
                <a:cs typeface="Arial"/>
              </a:defRPr>
            </a:lvl3pPr>
            <a:lvl4pPr algn="l">
              <a:defRPr sz="2175" b="1">
                <a:solidFill>
                  <a:srgbClr val="192F43"/>
                </a:solidFill>
                <a:latin typeface="Arial"/>
                <a:ea typeface="Arial"/>
                <a:cs typeface="Arial"/>
              </a:defRPr>
            </a:lvl4pPr>
            <a:lvl5pPr algn="l">
              <a:defRPr sz="2175" b="1">
                <a:solidFill>
                  <a:srgbClr val="192F43"/>
                </a:solidFill>
                <a:latin typeface="Arial"/>
                <a:ea typeface="Arial"/>
                <a:cs typeface="Arial"/>
              </a:defRPr>
            </a:lvl5pPr>
            <a:lvl6pPr algn="l">
              <a:defRPr sz="2175" b="1">
                <a:solidFill>
                  <a:srgbClr val="192F43"/>
                </a:solidFill>
                <a:latin typeface="Arial"/>
                <a:ea typeface="Arial"/>
                <a:cs typeface="Arial"/>
              </a:defRPr>
            </a:lvl6pPr>
            <a:lvl7pPr algn="l">
              <a:defRPr sz="2175" b="1">
                <a:solidFill>
                  <a:srgbClr val="192F43"/>
                </a:solidFill>
                <a:latin typeface="Arial"/>
                <a:ea typeface="Arial"/>
                <a:cs typeface="Arial"/>
              </a:defRPr>
            </a:lvl7pPr>
            <a:lvl8pPr algn="l">
              <a:defRPr sz="2175" b="1">
                <a:solidFill>
                  <a:srgbClr val="192F43"/>
                </a:solidFill>
                <a:latin typeface="Arial"/>
                <a:ea typeface="Arial"/>
                <a:cs typeface="Arial"/>
              </a:defRPr>
            </a:lvl8pPr>
            <a:lvl9pPr algn="l">
              <a:defRPr sz="2175" b="1">
                <a:solidFill>
                  <a:srgbClr val="192F43"/>
                </a:solidFill>
                <a:latin typeface="Arial"/>
                <a:ea typeface="Arial"/>
                <a:cs typeface="Arial"/>
              </a:defRPr>
            </a:lvl9pPr>
          </a:lstStyle>
          <a:p>
            <a:pPr algn="l">
              <a:lnSpc>
                <a:spcPct val="107000"/>
              </a:lnSpc>
              <a:buNone/>
              <a:defRPr sz="2175" b="1">
                <a:solidFill>
                  <a:srgbClr val="192F43"/>
                </a:solidFill>
                <a:latin typeface="Arial"/>
                <a:ea typeface="Arial"/>
                <a:cs typeface="Arial"/>
              </a:defRPr>
            </a:pPr>
            <a:r>
              <a:rPr sz="2175" b="1">
                <a:solidFill>
                  <a:srgbClr val="192F43"/>
                </a:solidFill>
                <a:latin typeface="Arial"/>
                <a:ea typeface="Arial"/>
                <a:cs typeface="Arial"/>
              </a:rPr>
              <a:t>Vòng sau nhìn lại kết quả</a:t>
            </a:r>
          </a:p>
        </p:txBody>
      </p:sp>
      <p:sp>
        <p:nvSpPr>
          <p:cNvPr id="10" name="Rectangle 9">
            <a:extLst>
              <a:ext uri="{FF2B5EF4-FFF2-40B4-BE49-F238E27FC236}">
                <a16:creationId xmlns:a16="http://schemas.microsoft.com/office/drawing/2014/main" id="{3FC1704C-DF36-4099-A517-DE3EF9B5649C}"/>
              </a:ext>
            </a:extLst>
          </p:cNvPr>
          <p:cNvSpPr>
            <a:spLocks noGrp="1"/>
          </p:cNvSpPr>
          <p:nvPr/>
        </p:nvSpPr>
        <p:spPr>
          <a:xfrm>
            <a:off x="609600" y="4457700"/>
            <a:ext cx="10858500" cy="952500"/>
          </a:xfrm>
          <a:prstGeom prst="rect">
            <a:avLst/>
          </a:prstGeom>
          <a:noFill/>
          <a:ln w="0">
            <a:noFill/>
          </a:ln>
        </p:spPr>
        <p:txBody>
          <a:bodyPr wrap="square" lIns="0" tIns="0" rIns="0" bIns="0" anchor="t">
            <a:noAutofit/>
          </a:bodyPr>
          <a:lstStyle>
            <a:defPPr algn="l">
              <a:defRPr sz="2025" b="0">
                <a:solidFill>
                  <a:srgbClr val="526779"/>
                </a:solidFill>
                <a:latin typeface="Arial"/>
                <a:ea typeface="Arial"/>
                <a:cs typeface="Arial"/>
              </a:defRPr>
            </a:defPPr>
            <a:lvl1pPr algn="l">
              <a:defRPr sz="2025" b="0">
                <a:solidFill>
                  <a:srgbClr val="526779"/>
                </a:solidFill>
                <a:latin typeface="Arial"/>
                <a:ea typeface="Arial"/>
                <a:cs typeface="Arial"/>
              </a:defRPr>
            </a:lvl1pPr>
            <a:lvl2pPr algn="l">
              <a:defRPr sz="2025" b="0">
                <a:solidFill>
                  <a:srgbClr val="526779"/>
                </a:solidFill>
                <a:latin typeface="Arial"/>
                <a:ea typeface="Arial"/>
                <a:cs typeface="Arial"/>
              </a:defRPr>
            </a:lvl2pPr>
            <a:lvl3pPr algn="l">
              <a:defRPr sz="2025" b="0">
                <a:solidFill>
                  <a:srgbClr val="526779"/>
                </a:solidFill>
                <a:latin typeface="Arial"/>
                <a:ea typeface="Arial"/>
                <a:cs typeface="Arial"/>
              </a:defRPr>
            </a:lvl3pPr>
            <a:lvl4pPr algn="l">
              <a:defRPr sz="2025" b="0">
                <a:solidFill>
                  <a:srgbClr val="526779"/>
                </a:solidFill>
                <a:latin typeface="Arial"/>
                <a:ea typeface="Arial"/>
                <a:cs typeface="Arial"/>
              </a:defRPr>
            </a:lvl4pPr>
            <a:lvl5pPr algn="l">
              <a:defRPr sz="2025" b="0">
                <a:solidFill>
                  <a:srgbClr val="526779"/>
                </a:solidFill>
                <a:latin typeface="Arial"/>
                <a:ea typeface="Arial"/>
                <a:cs typeface="Arial"/>
              </a:defRPr>
            </a:lvl5pPr>
            <a:lvl6pPr algn="l">
              <a:defRPr sz="2025" b="0">
                <a:solidFill>
                  <a:srgbClr val="526779"/>
                </a:solidFill>
                <a:latin typeface="Arial"/>
                <a:ea typeface="Arial"/>
                <a:cs typeface="Arial"/>
              </a:defRPr>
            </a:lvl6pPr>
            <a:lvl7pPr algn="l">
              <a:defRPr sz="2025" b="0">
                <a:solidFill>
                  <a:srgbClr val="526779"/>
                </a:solidFill>
                <a:latin typeface="Arial"/>
                <a:ea typeface="Arial"/>
                <a:cs typeface="Arial"/>
              </a:defRPr>
            </a:lvl7pPr>
            <a:lvl8pPr algn="l">
              <a:defRPr sz="2025" b="0">
                <a:solidFill>
                  <a:srgbClr val="526779"/>
                </a:solidFill>
                <a:latin typeface="Arial"/>
                <a:ea typeface="Arial"/>
                <a:cs typeface="Arial"/>
              </a:defRPr>
            </a:lvl8pPr>
            <a:lvl9pPr algn="l">
              <a:defRPr sz="2025" b="0">
                <a:solidFill>
                  <a:srgbClr val="526779"/>
                </a:solidFill>
                <a:latin typeface="Arial"/>
                <a:ea typeface="Arial"/>
                <a:cs typeface="Arial"/>
              </a:defRPr>
            </a:lvl9pPr>
          </a:lstStyle>
          <a:p>
            <a:pPr algn="l">
              <a:lnSpc>
                <a:spcPct val="107000"/>
              </a:lnSpc>
              <a:buNone/>
              <a:defRPr sz="2025" b="0">
                <a:solidFill>
                  <a:srgbClr val="526779"/>
                </a:solidFill>
                <a:latin typeface="Arial"/>
                <a:ea typeface="Arial"/>
                <a:cs typeface="Arial"/>
              </a:defRPr>
            </a:pPr>
            <a:r>
              <a:rPr sz="2025" b="0">
                <a:solidFill>
                  <a:srgbClr val="526779"/>
                </a:solidFill>
                <a:latin typeface="Arial"/>
                <a:ea typeface="Arial"/>
                <a:cs typeface="Arial"/>
              </a:rPr>
              <a:t>Ưu tiên đo lại, chỉ hỏi VLM thêm khi cần</a:t>
            </a:r>
          </a:p>
        </p:txBody>
      </p:sp>
      <p:sp>
        <p:nvSpPr>
          <p:cNvPr id="11" name="Rectangle 10">
            <a:extLst>
              <a:ext uri="{FF2B5EF4-FFF2-40B4-BE49-F238E27FC236}">
                <a16:creationId xmlns:a16="http://schemas.microsoft.com/office/drawing/2014/main" id="{33E6E045-3D02-4CE5-B972-59F0CB8F920B}"/>
              </a:ext>
            </a:extLst>
          </p:cNvPr>
          <p:cNvSpPr>
            <a:spLocks noGrp="1"/>
          </p:cNvSpPr>
          <p:nvPr/>
        </p:nvSpPr>
        <p:spPr>
          <a:xfrm>
            <a:off x="609600" y="5381625"/>
            <a:ext cx="10858500" cy="533400"/>
          </a:xfrm>
          <a:prstGeom prst="rect">
            <a:avLst/>
          </a:prstGeom>
          <a:noFill/>
          <a:ln w="0">
            <a:noFill/>
          </a:ln>
        </p:spPr>
        <p:txBody>
          <a:bodyPr wrap="square" lIns="0" tIns="0" rIns="0" bIns="0" anchor="t">
            <a:noAutofit/>
          </a:bodyPr>
          <a:lstStyle>
            <a:defPPr algn="l">
              <a:defRPr sz="2175" b="1">
                <a:solidFill>
                  <a:srgbClr val="267C83"/>
                </a:solidFill>
                <a:latin typeface="Arial"/>
                <a:ea typeface="Arial"/>
                <a:cs typeface="Arial"/>
              </a:defRPr>
            </a:defPPr>
            <a:lvl1pPr algn="l">
              <a:defRPr sz="2175" b="1">
                <a:solidFill>
                  <a:srgbClr val="267C83"/>
                </a:solidFill>
                <a:latin typeface="Arial"/>
                <a:ea typeface="Arial"/>
                <a:cs typeface="Arial"/>
              </a:defRPr>
            </a:lvl1pPr>
            <a:lvl2pPr algn="l">
              <a:defRPr sz="2175" b="1">
                <a:solidFill>
                  <a:srgbClr val="267C83"/>
                </a:solidFill>
                <a:latin typeface="Arial"/>
                <a:ea typeface="Arial"/>
                <a:cs typeface="Arial"/>
              </a:defRPr>
            </a:lvl2pPr>
            <a:lvl3pPr algn="l">
              <a:defRPr sz="2175" b="1">
                <a:solidFill>
                  <a:srgbClr val="267C83"/>
                </a:solidFill>
                <a:latin typeface="Arial"/>
                <a:ea typeface="Arial"/>
                <a:cs typeface="Arial"/>
              </a:defRPr>
            </a:lvl3pPr>
            <a:lvl4pPr algn="l">
              <a:defRPr sz="2175" b="1">
                <a:solidFill>
                  <a:srgbClr val="267C83"/>
                </a:solidFill>
                <a:latin typeface="Arial"/>
                <a:ea typeface="Arial"/>
                <a:cs typeface="Arial"/>
              </a:defRPr>
            </a:lvl4pPr>
            <a:lvl5pPr algn="l">
              <a:defRPr sz="2175" b="1">
                <a:solidFill>
                  <a:srgbClr val="267C83"/>
                </a:solidFill>
                <a:latin typeface="Arial"/>
                <a:ea typeface="Arial"/>
                <a:cs typeface="Arial"/>
              </a:defRPr>
            </a:lvl5pPr>
            <a:lvl6pPr algn="l">
              <a:defRPr sz="2175" b="1">
                <a:solidFill>
                  <a:srgbClr val="267C83"/>
                </a:solidFill>
                <a:latin typeface="Arial"/>
                <a:ea typeface="Arial"/>
                <a:cs typeface="Arial"/>
              </a:defRPr>
            </a:lvl6pPr>
            <a:lvl7pPr algn="l">
              <a:defRPr sz="2175" b="1">
                <a:solidFill>
                  <a:srgbClr val="267C83"/>
                </a:solidFill>
                <a:latin typeface="Arial"/>
                <a:ea typeface="Arial"/>
                <a:cs typeface="Arial"/>
              </a:defRPr>
            </a:lvl7pPr>
            <a:lvl8pPr algn="l">
              <a:defRPr sz="2175" b="1">
                <a:solidFill>
                  <a:srgbClr val="267C83"/>
                </a:solidFill>
                <a:latin typeface="Arial"/>
                <a:ea typeface="Arial"/>
                <a:cs typeface="Arial"/>
              </a:defRPr>
            </a:lvl8pPr>
            <a:lvl9pPr algn="l">
              <a:defRPr sz="2175" b="1">
                <a:solidFill>
                  <a:srgbClr val="267C83"/>
                </a:solidFill>
                <a:latin typeface="Arial"/>
                <a:ea typeface="Arial"/>
                <a:cs typeface="Arial"/>
              </a:defRPr>
            </a:lvl9pPr>
          </a:lstStyle>
          <a:p>
            <a:pPr algn="l">
              <a:lnSpc>
                <a:spcPct val="107000"/>
              </a:lnSpc>
              <a:buNone/>
              <a:defRPr sz="2175" b="1">
                <a:solidFill>
                  <a:srgbClr val="267C83"/>
                </a:solidFill>
                <a:latin typeface="Arial"/>
                <a:ea typeface="Arial"/>
                <a:cs typeface="Arial"/>
              </a:defRPr>
            </a:pPr>
            <a:r>
              <a:rPr sz="2175" b="1">
                <a:solidFill>
                  <a:srgbClr val="267C83"/>
                </a:solidFill>
                <a:latin typeface="Arial"/>
                <a:ea typeface="Arial"/>
                <a:cs typeface="Arial"/>
              </a:rPr>
              <a:t>Không có khóa hoặc gọi lỗi: dùng luật và ghi nguồn</a:t>
            </a:r>
          </a:p>
        </p:txBody>
      </p:sp>
      <p:sp>
        <p:nvSpPr>
          <p:cNvPr id="12" name="Rectangle 11">
            <a:extLst>
              <a:ext uri="{FF2B5EF4-FFF2-40B4-BE49-F238E27FC236}">
                <a16:creationId xmlns:a16="http://schemas.microsoft.com/office/drawing/2014/main" id="{41879206-310A-4550-934C-A219E84C2585}"/>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Structured JSON là dữ liệu kế hoạch. Python mới là thành phần gọi hàm xử lý.</a:t>
            </a:r>
          </a:p>
        </p:txBody>
      </p:sp>
    </p:spTree>
    <p:extLst>
      <p:ext uri="{BB962C8B-B14F-4D97-AF65-F5344CB8AC3E}">
        <p14:creationId xmlns:p14="http://schemas.microsoft.com/office/powerpoint/2010/main" val="533504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C64735F-7C57-4414-B7EB-5E3C543A7A1B}"/>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4  ĐIỀU PHỐI VÀ ỨNG DỤNG</a:t>
            </a:r>
          </a:p>
        </p:txBody>
      </p:sp>
      <p:sp>
        <p:nvSpPr>
          <p:cNvPr id="2" name="Rectangle 1">
            <a:extLst>
              <a:ext uri="{FF2B5EF4-FFF2-40B4-BE49-F238E27FC236}">
                <a16:creationId xmlns:a16="http://schemas.microsoft.com/office/drawing/2014/main" id="{6F87B779-74C6-4616-A81E-C6CB238C0E35}"/>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Kiểm soát dừng và hoàn tác</a:t>
            </a:r>
          </a:p>
        </p:txBody>
      </p:sp>
      <p:sp>
        <p:nvSpPr>
          <p:cNvPr id="3" name="Rectangle 2">
            <a:extLst>
              <a:ext uri="{FF2B5EF4-FFF2-40B4-BE49-F238E27FC236}">
                <a16:creationId xmlns:a16="http://schemas.microsoft.com/office/drawing/2014/main" id="{E572C0AA-D26E-4B1B-A0FD-271544B3BF0D}"/>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17</a:t>
            </a:r>
          </a:p>
        </p:txBody>
      </p:sp>
      <p:sp>
        <p:nvSpPr>
          <p:cNvPr id="4" name="Rectangle 3">
            <a:extLst>
              <a:ext uri="{FF2B5EF4-FFF2-40B4-BE49-F238E27FC236}">
                <a16:creationId xmlns:a16="http://schemas.microsoft.com/office/drawing/2014/main" id="{AD1B6855-2ABC-4100-9AF9-CC4854C748A4}"/>
              </a:ext>
            </a:extLst>
          </p:cNvPr>
          <p:cNvSpPr>
            <a:spLocks noGrp="1"/>
          </p:cNvSpPr>
          <p:nvPr/>
        </p:nvSpPr>
        <p:spPr>
          <a:xfrm>
            <a:off x="4095750" y="1514475"/>
            <a:ext cx="4000500" cy="95250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Đánh giá ứng viên</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Mục tiêu và tác dụng phụ</a:t>
            </a:r>
          </a:p>
        </p:txBody>
      </p:sp>
      <p:sp>
        <p:nvSpPr>
          <p:cNvPr id="5" name="Rectangle 4">
            <a:extLst>
              <a:ext uri="{FF2B5EF4-FFF2-40B4-BE49-F238E27FC236}">
                <a16:creationId xmlns:a16="http://schemas.microsoft.com/office/drawing/2014/main" id="{ADE9EB2A-AE22-4459-981F-CCF3F0EB84D5}"/>
              </a:ext>
            </a:extLst>
          </p:cNvPr>
          <p:cNvSpPr>
            <a:spLocks noGrp="1"/>
          </p:cNvSpPr>
          <p:nvPr/>
        </p:nvSpPr>
        <p:spPr>
          <a:xfrm>
            <a:off x="609600" y="3228975"/>
            <a:ext cx="3048000" cy="1333500"/>
          </a:xfrm>
          <a:prstGeom prst="rect">
            <a:avLst/>
          </a:prstGeom>
          <a:solidFill>
            <a:srgbClr val="F7E9E6"/>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Rollback</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Suy thoái hoặc REJECT</a:t>
            </a:r>
            <a:br>
              <a:rPr sz="1800">
                <a:solidFill>
                  <a:srgbClr val="192F43"/>
                </a:solidFill>
                <a:latin typeface="Arial"/>
                <a:ea typeface="Arial"/>
                <a:cs typeface="Arial"/>
              </a:rPr>
            </a:br>
            <a:r>
              <a:rPr sz="1800">
                <a:solidFill>
                  <a:srgbClr val="192F43"/>
                </a:solidFill>
                <a:latin typeface="Arial"/>
                <a:ea typeface="Arial"/>
                <a:cs typeface="Arial"/>
              </a:rPr>
              <a:t>Trả ảnh trước vòng</a:t>
            </a:r>
          </a:p>
        </p:txBody>
      </p:sp>
      <p:sp>
        <p:nvSpPr>
          <p:cNvPr id="6" name="Rectangle 5">
            <a:extLst>
              <a:ext uri="{FF2B5EF4-FFF2-40B4-BE49-F238E27FC236}">
                <a16:creationId xmlns:a16="http://schemas.microsoft.com/office/drawing/2014/main" id="{187FA8F3-90F7-4727-8287-FEFFA1FE8437}"/>
              </a:ext>
            </a:extLst>
          </p:cNvPr>
          <p:cNvSpPr>
            <a:spLocks noGrp="1"/>
          </p:cNvSpPr>
          <p:nvPr/>
        </p:nvSpPr>
        <p:spPr>
          <a:xfrm>
            <a:off x="4572000" y="3228975"/>
            <a:ext cx="3048000" cy="1333500"/>
          </a:xfrm>
          <a:prstGeom prst="rect">
            <a:avLst/>
          </a:prstGeom>
          <a:solidFill>
            <a:srgbClr val="E3F1F0"/>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Xử lý tiếp</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Còn lỗi có tiến triển</a:t>
            </a:r>
            <a:br>
              <a:rPr sz="1800">
                <a:solidFill>
                  <a:srgbClr val="192F43"/>
                </a:solidFill>
                <a:latin typeface="Arial"/>
                <a:ea typeface="Arial"/>
                <a:cs typeface="Arial"/>
              </a:rPr>
            </a:br>
            <a:r>
              <a:rPr sz="1800">
                <a:solidFill>
                  <a:srgbClr val="192F43"/>
                </a:solidFill>
                <a:latin typeface="Arial"/>
                <a:ea typeface="Arial"/>
                <a:cs typeface="Arial"/>
              </a:rPr>
              <a:t>Và còn lượt</a:t>
            </a:r>
          </a:p>
        </p:txBody>
      </p:sp>
      <p:sp>
        <p:nvSpPr>
          <p:cNvPr id="7" name="Rectangle 6">
            <a:extLst>
              <a:ext uri="{FF2B5EF4-FFF2-40B4-BE49-F238E27FC236}">
                <a16:creationId xmlns:a16="http://schemas.microsoft.com/office/drawing/2014/main" id="{07E227C2-BAD0-41DD-A72F-AD4CA16E4D82}"/>
              </a:ext>
            </a:extLst>
          </p:cNvPr>
          <p:cNvSpPr>
            <a:spLocks noGrp="1"/>
          </p:cNvSpPr>
          <p:nvPr/>
        </p:nvSpPr>
        <p:spPr>
          <a:xfrm>
            <a:off x="8534400" y="3228975"/>
            <a:ext cx="3048000" cy="1333500"/>
          </a:xfrm>
          <a:prstGeom prst="rect">
            <a:avLst/>
          </a:prstGeom>
          <a:solidFill>
            <a:srgbClr val="F9EFDF"/>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Dừng</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Đủ điều kiện</a:t>
            </a:r>
            <a:br>
              <a:rPr sz="1800">
                <a:solidFill>
                  <a:srgbClr val="192F43"/>
                </a:solidFill>
                <a:latin typeface="Arial"/>
                <a:ea typeface="Arial"/>
                <a:cs typeface="Arial"/>
              </a:rPr>
            </a:br>
            <a:r>
              <a:rPr sz="1800">
                <a:solidFill>
                  <a:srgbClr val="192F43"/>
                </a:solidFill>
                <a:latin typeface="Arial"/>
                <a:ea typeface="Arial"/>
                <a:cs typeface="Arial"/>
              </a:rPr>
              <a:t>Hoặc hết lượt</a:t>
            </a:r>
          </a:p>
        </p:txBody>
      </p:sp>
      <p:cxnSp>
        <p:nvCxnSpPr>
          <p:cNvPr id="8" name="Straight Arrow Connector 7">
            <a:extLst>
              <a:ext uri="{FF2B5EF4-FFF2-40B4-BE49-F238E27FC236}">
                <a16:creationId xmlns:a16="http://schemas.microsoft.com/office/drawing/2014/main" id="{7B514517-0652-41B3-AEC1-7F37DAA33F26}"/>
              </a:ext>
            </a:extLst>
          </p:cNvPr>
          <p:cNvCxnSpPr/>
          <p:nvPr/>
        </p:nvCxnSpPr>
        <p:spPr>
          <a:xfrm>
            <a:off x="6096000" y="2466975"/>
            <a:ext cx="0" cy="381000"/>
          </a:xfrm>
          <a:prstGeom prst="straightConnector1">
            <a:avLst/>
          </a:prstGeom>
          <a:ln w="19050">
            <a:solidFill>
              <a:srgbClr val="617E8F"/>
            </a:solidFill>
          </a:ln>
        </p:spPr>
      </p:cxnSp>
      <p:cxnSp>
        <p:nvCxnSpPr>
          <p:cNvPr id="9" name="Straight Arrow Connector 8">
            <a:extLst>
              <a:ext uri="{FF2B5EF4-FFF2-40B4-BE49-F238E27FC236}">
                <a16:creationId xmlns:a16="http://schemas.microsoft.com/office/drawing/2014/main" id="{EE6B79DB-44EC-4A07-8000-6AB4174D1754}"/>
              </a:ext>
            </a:extLst>
          </p:cNvPr>
          <p:cNvCxnSpPr/>
          <p:nvPr/>
        </p:nvCxnSpPr>
        <p:spPr>
          <a:xfrm>
            <a:off x="2133600" y="2847975"/>
            <a:ext cx="7924800" cy="0"/>
          </a:xfrm>
          <a:prstGeom prst="straightConnector1">
            <a:avLst/>
          </a:prstGeom>
          <a:ln w="19050">
            <a:solidFill>
              <a:srgbClr val="617E8F"/>
            </a:solidFill>
          </a:ln>
        </p:spPr>
      </p:cxnSp>
      <p:cxnSp>
        <p:nvCxnSpPr>
          <p:cNvPr id="10" name="Straight Arrow Connector 9">
            <a:extLst>
              <a:ext uri="{FF2B5EF4-FFF2-40B4-BE49-F238E27FC236}">
                <a16:creationId xmlns:a16="http://schemas.microsoft.com/office/drawing/2014/main" id="{A92E6A2A-C790-4132-AFA2-70D8D6BF7861}"/>
              </a:ext>
            </a:extLst>
          </p:cNvPr>
          <p:cNvCxnSpPr/>
          <p:nvPr/>
        </p:nvCxnSpPr>
        <p:spPr>
          <a:xfrm>
            <a:off x="2133600" y="2847975"/>
            <a:ext cx="0" cy="381000"/>
          </a:xfrm>
          <a:prstGeom prst="straightConnector1">
            <a:avLst/>
          </a:prstGeom>
          <a:ln w="19050">
            <a:solidFill>
              <a:srgbClr val="617E8F"/>
            </a:solidFill>
            <a:tailEnd type="triangle" w="med" len="med"/>
          </a:ln>
        </p:spPr>
      </p:cxnSp>
      <p:cxnSp>
        <p:nvCxnSpPr>
          <p:cNvPr id="11" name="Straight Arrow Connector 10">
            <a:extLst>
              <a:ext uri="{FF2B5EF4-FFF2-40B4-BE49-F238E27FC236}">
                <a16:creationId xmlns:a16="http://schemas.microsoft.com/office/drawing/2014/main" id="{D99DB27D-9CBF-46E3-B0FC-6C1E6C9F6983}"/>
              </a:ext>
            </a:extLst>
          </p:cNvPr>
          <p:cNvCxnSpPr/>
          <p:nvPr/>
        </p:nvCxnSpPr>
        <p:spPr>
          <a:xfrm>
            <a:off x="6096000" y="2847975"/>
            <a:ext cx="0" cy="381000"/>
          </a:xfrm>
          <a:prstGeom prst="straightConnector1">
            <a:avLst/>
          </a:prstGeom>
          <a:ln w="19050">
            <a:solidFill>
              <a:srgbClr val="617E8F"/>
            </a:solidFill>
            <a:tailEnd type="triangle" w="med" len="med"/>
          </a:ln>
        </p:spPr>
      </p:cxnSp>
      <p:cxnSp>
        <p:nvCxnSpPr>
          <p:cNvPr id="12" name="Straight Arrow Connector 11">
            <a:extLst>
              <a:ext uri="{FF2B5EF4-FFF2-40B4-BE49-F238E27FC236}">
                <a16:creationId xmlns:a16="http://schemas.microsoft.com/office/drawing/2014/main" id="{731256C7-CDD5-42BE-92D2-4A60D3B27CFF}"/>
              </a:ext>
            </a:extLst>
          </p:cNvPr>
          <p:cNvCxnSpPr/>
          <p:nvPr/>
        </p:nvCxnSpPr>
        <p:spPr>
          <a:xfrm>
            <a:off x="10058400" y="2847975"/>
            <a:ext cx="0" cy="381000"/>
          </a:xfrm>
          <a:prstGeom prst="straightConnector1">
            <a:avLst/>
          </a:prstGeom>
          <a:ln w="19050">
            <a:solidFill>
              <a:srgbClr val="617E8F"/>
            </a:solidFill>
            <a:tailEnd type="triangle" w="med" len="med"/>
          </a:ln>
        </p:spPr>
      </p:cxnSp>
      <p:sp>
        <p:nvSpPr>
          <p:cNvPr id="13" name="Rectangle 12">
            <a:extLst>
              <a:ext uri="{FF2B5EF4-FFF2-40B4-BE49-F238E27FC236}">
                <a16:creationId xmlns:a16="http://schemas.microsoft.com/office/drawing/2014/main" id="{64EFA8FC-548D-4BCF-9F4C-A7DC404747A2}"/>
              </a:ext>
            </a:extLst>
          </p:cNvPr>
          <p:cNvSpPr>
            <a:spLocks noGrp="1"/>
          </p:cNvSpPr>
          <p:nvPr/>
        </p:nvSpPr>
        <p:spPr>
          <a:xfrm>
            <a:off x="609600" y="4895850"/>
            <a:ext cx="10668000" cy="476250"/>
          </a:xfrm>
          <a:prstGeom prst="rect">
            <a:avLst/>
          </a:prstGeom>
          <a:noFill/>
          <a:ln w="0">
            <a:noFill/>
          </a:ln>
        </p:spPr>
        <p:txBody>
          <a:bodyPr wrap="square" lIns="0" tIns="0" rIns="0" bIns="0" anchor="t">
            <a:noAutofit/>
          </a:bodyPr>
          <a:lstStyle>
            <a:defPPr algn="l">
              <a:defRPr sz="2550" b="1">
                <a:solidFill>
                  <a:srgbClr val="267C83"/>
                </a:solidFill>
                <a:latin typeface="Arial"/>
                <a:ea typeface="Arial"/>
                <a:cs typeface="Arial"/>
              </a:defRPr>
            </a:defPPr>
            <a:lvl1pPr algn="l">
              <a:defRPr sz="2550" b="1">
                <a:solidFill>
                  <a:srgbClr val="267C83"/>
                </a:solidFill>
                <a:latin typeface="Arial"/>
                <a:ea typeface="Arial"/>
                <a:cs typeface="Arial"/>
              </a:defRPr>
            </a:lvl1pPr>
            <a:lvl2pPr algn="l">
              <a:defRPr sz="2550" b="1">
                <a:solidFill>
                  <a:srgbClr val="267C83"/>
                </a:solidFill>
                <a:latin typeface="Arial"/>
                <a:ea typeface="Arial"/>
                <a:cs typeface="Arial"/>
              </a:defRPr>
            </a:lvl2pPr>
            <a:lvl3pPr algn="l">
              <a:defRPr sz="2550" b="1">
                <a:solidFill>
                  <a:srgbClr val="267C83"/>
                </a:solidFill>
                <a:latin typeface="Arial"/>
                <a:ea typeface="Arial"/>
                <a:cs typeface="Arial"/>
              </a:defRPr>
            </a:lvl3pPr>
            <a:lvl4pPr algn="l">
              <a:defRPr sz="2550" b="1">
                <a:solidFill>
                  <a:srgbClr val="267C83"/>
                </a:solidFill>
                <a:latin typeface="Arial"/>
                <a:ea typeface="Arial"/>
                <a:cs typeface="Arial"/>
              </a:defRPr>
            </a:lvl4pPr>
            <a:lvl5pPr algn="l">
              <a:defRPr sz="2550" b="1">
                <a:solidFill>
                  <a:srgbClr val="267C83"/>
                </a:solidFill>
                <a:latin typeface="Arial"/>
                <a:ea typeface="Arial"/>
                <a:cs typeface="Arial"/>
              </a:defRPr>
            </a:lvl5pPr>
            <a:lvl6pPr algn="l">
              <a:defRPr sz="2550" b="1">
                <a:solidFill>
                  <a:srgbClr val="267C83"/>
                </a:solidFill>
                <a:latin typeface="Arial"/>
                <a:ea typeface="Arial"/>
                <a:cs typeface="Arial"/>
              </a:defRPr>
            </a:lvl6pPr>
            <a:lvl7pPr algn="l">
              <a:defRPr sz="2550" b="1">
                <a:solidFill>
                  <a:srgbClr val="267C83"/>
                </a:solidFill>
                <a:latin typeface="Arial"/>
                <a:ea typeface="Arial"/>
                <a:cs typeface="Arial"/>
              </a:defRPr>
            </a:lvl7pPr>
            <a:lvl8pPr algn="l">
              <a:defRPr sz="2550" b="1">
                <a:solidFill>
                  <a:srgbClr val="267C83"/>
                </a:solidFill>
                <a:latin typeface="Arial"/>
                <a:ea typeface="Arial"/>
                <a:cs typeface="Arial"/>
              </a:defRPr>
            </a:lvl8pPr>
            <a:lvl9pPr algn="l">
              <a:defRPr sz="2550" b="1">
                <a:solidFill>
                  <a:srgbClr val="267C83"/>
                </a:solidFill>
                <a:latin typeface="Arial"/>
                <a:ea typeface="Arial"/>
                <a:cs typeface="Arial"/>
              </a:defRPr>
            </a:lvl9pPr>
          </a:lstStyle>
          <a:p>
            <a:pPr algn="l">
              <a:lnSpc>
                <a:spcPct val="107000"/>
              </a:lnSpc>
              <a:buNone/>
              <a:defRPr sz="2550" b="1">
                <a:solidFill>
                  <a:srgbClr val="267C83"/>
                </a:solidFill>
                <a:latin typeface="Arial"/>
                <a:ea typeface="Arial"/>
                <a:cs typeface="Arial"/>
              </a:defRPr>
            </a:pPr>
            <a:r>
              <a:rPr sz="2550" b="1">
                <a:solidFill>
                  <a:srgbClr val="267C83"/>
                </a:solidFill>
                <a:latin typeface="Arial"/>
                <a:ea typeface="Arial"/>
                <a:cs typeface="Arial"/>
              </a:rPr>
              <a:t>max_iterations mặc định 3</a:t>
            </a:r>
          </a:p>
        </p:txBody>
      </p:sp>
      <p:sp>
        <p:nvSpPr>
          <p:cNvPr id="14" name="Rectangle 13">
            <a:extLst>
              <a:ext uri="{FF2B5EF4-FFF2-40B4-BE49-F238E27FC236}">
                <a16:creationId xmlns:a16="http://schemas.microsoft.com/office/drawing/2014/main" id="{5D069BF4-3208-4D94-864E-3A971D116FF9}"/>
              </a:ext>
            </a:extLst>
          </p:cNvPr>
          <p:cNvSpPr>
            <a:spLocks noGrp="1"/>
          </p:cNvSpPr>
          <p:nvPr/>
        </p:nvSpPr>
        <p:spPr>
          <a:xfrm>
            <a:off x="609600" y="5505450"/>
            <a:ext cx="10858500" cy="723900"/>
          </a:xfrm>
          <a:prstGeom prst="rect">
            <a:avLst/>
          </a:prstGeom>
          <a:noFill/>
          <a:ln w="0">
            <a:noFill/>
          </a:ln>
        </p:spPr>
        <p:txBody>
          <a:bodyPr wrap="square" lIns="0" tIns="0" rIns="0" bIns="0" anchor="t">
            <a:noAutofit/>
          </a:bodyPr>
          <a:lstStyle>
            <a:defPPr algn="l">
              <a:defRPr sz="2100" b="0">
                <a:solidFill>
                  <a:srgbClr val="192F43"/>
                </a:solidFill>
                <a:latin typeface="Arial"/>
                <a:ea typeface="Arial"/>
                <a:cs typeface="Arial"/>
              </a:defRPr>
            </a:defPPr>
            <a:lvl1pPr algn="l">
              <a:defRPr sz="2100" b="0">
                <a:solidFill>
                  <a:srgbClr val="192F43"/>
                </a:solidFill>
                <a:latin typeface="Arial"/>
                <a:ea typeface="Arial"/>
                <a:cs typeface="Arial"/>
              </a:defRPr>
            </a:lvl1pPr>
            <a:lvl2pPr algn="l">
              <a:defRPr sz="2100" b="0">
                <a:solidFill>
                  <a:srgbClr val="192F43"/>
                </a:solidFill>
                <a:latin typeface="Arial"/>
                <a:ea typeface="Arial"/>
                <a:cs typeface="Arial"/>
              </a:defRPr>
            </a:lvl2pPr>
            <a:lvl3pPr algn="l">
              <a:defRPr sz="2100" b="0">
                <a:solidFill>
                  <a:srgbClr val="192F43"/>
                </a:solidFill>
                <a:latin typeface="Arial"/>
                <a:ea typeface="Arial"/>
                <a:cs typeface="Arial"/>
              </a:defRPr>
            </a:lvl3pPr>
            <a:lvl4pPr algn="l">
              <a:defRPr sz="2100" b="0">
                <a:solidFill>
                  <a:srgbClr val="192F43"/>
                </a:solidFill>
                <a:latin typeface="Arial"/>
                <a:ea typeface="Arial"/>
                <a:cs typeface="Arial"/>
              </a:defRPr>
            </a:lvl4pPr>
            <a:lvl5pPr algn="l">
              <a:defRPr sz="2100" b="0">
                <a:solidFill>
                  <a:srgbClr val="192F43"/>
                </a:solidFill>
                <a:latin typeface="Arial"/>
                <a:ea typeface="Arial"/>
                <a:cs typeface="Arial"/>
              </a:defRPr>
            </a:lvl5pPr>
            <a:lvl6pPr algn="l">
              <a:defRPr sz="2100" b="0">
                <a:solidFill>
                  <a:srgbClr val="192F43"/>
                </a:solidFill>
                <a:latin typeface="Arial"/>
                <a:ea typeface="Arial"/>
                <a:cs typeface="Arial"/>
              </a:defRPr>
            </a:lvl6pPr>
            <a:lvl7pPr algn="l">
              <a:defRPr sz="2100" b="0">
                <a:solidFill>
                  <a:srgbClr val="192F43"/>
                </a:solidFill>
                <a:latin typeface="Arial"/>
                <a:ea typeface="Arial"/>
                <a:cs typeface="Arial"/>
              </a:defRPr>
            </a:lvl7pPr>
            <a:lvl8pPr algn="l">
              <a:defRPr sz="2100" b="0">
                <a:solidFill>
                  <a:srgbClr val="192F43"/>
                </a:solidFill>
                <a:latin typeface="Arial"/>
                <a:ea typeface="Arial"/>
                <a:cs typeface="Arial"/>
              </a:defRPr>
            </a:lvl8pPr>
            <a:lvl9pPr algn="l">
              <a:defRPr sz="2100" b="0">
                <a:solidFill>
                  <a:srgbClr val="192F43"/>
                </a:solidFill>
                <a:latin typeface="Arial"/>
                <a:ea typeface="Arial"/>
                <a:cs typeface="Arial"/>
              </a:defRPr>
            </a:lvl9pPr>
          </a:lstStyle>
          <a:p>
            <a:pPr algn="l">
              <a:lnSpc>
                <a:spcPct val="107000"/>
              </a:lnSpc>
              <a:buNone/>
              <a:defRPr sz="2100" b="0">
                <a:solidFill>
                  <a:srgbClr val="192F43"/>
                </a:solidFill>
                <a:latin typeface="Arial"/>
                <a:ea typeface="Arial"/>
                <a:cs typeface="Arial"/>
              </a:defRPr>
            </a:pPr>
            <a:r>
              <a:rPr sz="2100" b="0">
                <a:solidFill>
                  <a:srgbClr val="192F43"/>
                </a:solidFill>
                <a:latin typeface="Arial"/>
                <a:ea typeface="Arial"/>
                <a:cs typeface="Arial"/>
              </a:rPr>
              <a:t>Ảnh thật cần review đúng ảnh trả để có ACCEPTED</a:t>
            </a:r>
          </a:p>
          <a:p>
            <a:pPr algn="l">
              <a:lnSpc>
                <a:spcPct val="107000"/>
              </a:lnSpc>
              <a:buNone/>
              <a:defRPr sz="2100" b="0">
                <a:solidFill>
                  <a:srgbClr val="192F43"/>
                </a:solidFill>
                <a:latin typeface="Arial"/>
                <a:ea typeface="Arial"/>
                <a:cs typeface="Arial"/>
              </a:defRPr>
            </a:pPr>
            <a:r>
              <a:rPr sz="2100" b="0">
                <a:solidFill>
                  <a:srgbClr val="192F43"/>
                </a:solidFill>
                <a:latin typeface="Arial"/>
                <a:ea typeface="Arial"/>
                <a:cs typeface="Arial"/>
              </a:rPr>
              <a:t>Thiếu review hợp lệ: UNVERIFIED</a:t>
            </a:r>
          </a:p>
        </p:txBody>
      </p:sp>
      <p:sp>
        <p:nvSpPr>
          <p:cNvPr id="15" name="Rectangle 14">
            <a:extLst>
              <a:ext uri="{FF2B5EF4-FFF2-40B4-BE49-F238E27FC236}">
                <a16:creationId xmlns:a16="http://schemas.microsoft.com/office/drawing/2014/main" id="{9E200273-282C-4AFB-97F9-6C27800007AF}"/>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Dừng xử lý chưa tự đồng nghĩa phục hồi thành công.</a:t>
            </a:r>
          </a:p>
        </p:txBody>
      </p:sp>
    </p:spTree>
    <p:extLst>
      <p:ext uri="{BB962C8B-B14F-4D97-AF65-F5344CB8AC3E}">
        <p14:creationId xmlns:p14="http://schemas.microsoft.com/office/powerpoint/2010/main" val="7016583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cxnSp>
        <p:nvCxnSpPr>
          <p:cNvPr id="14" name="Straight Arrow Connector 13">
            <a:extLst>
              <a:ext uri="{FF2B5EF4-FFF2-40B4-BE49-F238E27FC236}">
                <a16:creationId xmlns:a16="http://schemas.microsoft.com/office/drawing/2014/main" id="{F0FAE540-DCEE-4A4D-BE46-EF809DE9676F}"/>
              </a:ext>
            </a:extLst>
          </p:cNvPr>
          <p:cNvCxnSpPr>
            <a:stCxn id="10" idx="1"/>
            <a:endCxn id="11" idx="3"/>
          </p:cNvCxnSpPr>
          <p:nvPr/>
        </p:nvCxnSpPr>
        <p:spPr>
          <a:xfrm flipH="1">
            <a:off x="3657600" y="4772025"/>
            <a:ext cx="914400" cy="0"/>
          </a:xfrm>
          <a:prstGeom prst="straightConnector1">
            <a:avLst/>
          </a:prstGeom>
          <a:ln w="19050">
            <a:solidFill>
              <a:srgbClr val="617E8F"/>
            </a:solidFill>
            <a:tailEnd type="triangle" w="med" len="med"/>
          </a:ln>
        </p:spPr>
      </p:cxnSp>
      <p:cxnSp>
        <p:nvCxnSpPr>
          <p:cNvPr id="13" name="Straight Arrow Connector 12">
            <a:extLst>
              <a:ext uri="{FF2B5EF4-FFF2-40B4-BE49-F238E27FC236}">
                <a16:creationId xmlns:a16="http://schemas.microsoft.com/office/drawing/2014/main" id="{7E02A205-096C-4C81-B2C3-6FE4759D7650}"/>
              </a:ext>
            </a:extLst>
          </p:cNvPr>
          <p:cNvCxnSpPr>
            <a:stCxn id="9" idx="1"/>
            <a:endCxn id="10" idx="3"/>
          </p:cNvCxnSpPr>
          <p:nvPr/>
        </p:nvCxnSpPr>
        <p:spPr>
          <a:xfrm flipH="1">
            <a:off x="7620000" y="4772025"/>
            <a:ext cx="914400" cy="0"/>
          </a:xfrm>
          <a:prstGeom prst="straightConnector1">
            <a:avLst/>
          </a:prstGeom>
          <a:ln w="19050">
            <a:solidFill>
              <a:srgbClr val="617E8F"/>
            </a:solidFill>
            <a:tailEnd type="triangle" w="med" len="med"/>
          </a:ln>
        </p:spPr>
      </p:cxnSp>
      <p:cxnSp>
        <p:nvCxnSpPr>
          <p:cNvPr id="12" name="Straight Arrow Connector 11">
            <a:extLst>
              <a:ext uri="{FF2B5EF4-FFF2-40B4-BE49-F238E27FC236}">
                <a16:creationId xmlns:a16="http://schemas.microsoft.com/office/drawing/2014/main" id="{F68CA8FE-909F-4AAC-95C5-C09DEA35AE6E}"/>
              </a:ext>
            </a:extLst>
          </p:cNvPr>
          <p:cNvCxnSpPr>
            <a:stCxn id="6" idx="2"/>
            <a:endCxn id="9" idx="0"/>
          </p:cNvCxnSpPr>
          <p:nvPr/>
        </p:nvCxnSpPr>
        <p:spPr>
          <a:xfrm>
            <a:off x="10058400" y="2952750"/>
            <a:ext cx="0" cy="1219200"/>
          </a:xfrm>
          <a:prstGeom prst="straightConnector1">
            <a:avLst/>
          </a:prstGeom>
          <a:ln w="19050">
            <a:solidFill>
              <a:srgbClr val="617E8F"/>
            </a:solidFill>
            <a:tailEnd type="triangle" w="med" len="med"/>
          </a:ln>
        </p:spPr>
      </p:cxnSp>
      <p:cxnSp>
        <p:nvCxnSpPr>
          <p:cNvPr id="8" name="Straight Arrow Connector 7">
            <a:extLst>
              <a:ext uri="{FF2B5EF4-FFF2-40B4-BE49-F238E27FC236}">
                <a16:creationId xmlns:a16="http://schemas.microsoft.com/office/drawing/2014/main" id="{AB29FB26-86C6-48C6-B1A9-AABF71BB6FC5}"/>
              </a:ext>
            </a:extLst>
          </p:cNvPr>
          <p:cNvCxnSpPr>
            <a:stCxn id="5" idx="3"/>
            <a:endCxn id="6" idx="1"/>
          </p:cNvCxnSpPr>
          <p:nvPr/>
        </p:nvCxnSpPr>
        <p:spPr>
          <a:xfrm>
            <a:off x="7620000" y="2352675"/>
            <a:ext cx="914400" cy="0"/>
          </a:xfrm>
          <a:prstGeom prst="straightConnector1">
            <a:avLst/>
          </a:prstGeom>
          <a:ln w="19050">
            <a:solidFill>
              <a:srgbClr val="617E8F"/>
            </a:solidFill>
            <a:tailEnd type="triangle" w="med" len="med"/>
          </a:ln>
        </p:spPr>
      </p:cxnSp>
      <p:cxnSp>
        <p:nvCxnSpPr>
          <p:cNvPr id="7" name="Straight Arrow Connector 6">
            <a:extLst>
              <a:ext uri="{FF2B5EF4-FFF2-40B4-BE49-F238E27FC236}">
                <a16:creationId xmlns:a16="http://schemas.microsoft.com/office/drawing/2014/main" id="{C18C9F03-104A-4A55-BDF5-9F8E0198D0B6}"/>
              </a:ext>
            </a:extLst>
          </p:cNvPr>
          <p:cNvCxnSpPr>
            <a:stCxn id="4" idx="3"/>
            <a:endCxn id="5" idx="1"/>
          </p:cNvCxnSpPr>
          <p:nvPr/>
        </p:nvCxnSpPr>
        <p:spPr>
          <a:xfrm>
            <a:off x="3657600" y="2352675"/>
            <a:ext cx="914400" cy="0"/>
          </a:xfrm>
          <a:prstGeom prst="straightConnector1">
            <a:avLst/>
          </a:prstGeom>
          <a:ln w="19050">
            <a:solidFill>
              <a:srgbClr val="617E8F"/>
            </a:solidFill>
            <a:tailEnd type="triangle" w="med" len="med"/>
          </a:ln>
        </p:spPr>
      </p:cxnSp>
      <p:sp>
        <p:nvSpPr>
          <p:cNvPr id="16" name="Rectangle 15">
            <a:extLst>
              <a:ext uri="{FF2B5EF4-FFF2-40B4-BE49-F238E27FC236}">
                <a16:creationId xmlns:a16="http://schemas.microsoft.com/office/drawing/2014/main" id="{1BDDA359-D35B-4B3F-A42B-2406EA64AAC4}"/>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4  ĐIỀU PHỐI VÀ ỨNG DỤNG</a:t>
            </a:r>
          </a:p>
        </p:txBody>
      </p:sp>
      <p:sp>
        <p:nvSpPr>
          <p:cNvPr id="2" name="Rectangle 1">
            <a:extLst>
              <a:ext uri="{FF2B5EF4-FFF2-40B4-BE49-F238E27FC236}">
                <a16:creationId xmlns:a16="http://schemas.microsoft.com/office/drawing/2014/main" id="{7C70B611-C9DB-4C0F-9DEC-823587D631D7}"/>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Ứng dụng và góp ý sau kết quả</a:t>
            </a:r>
          </a:p>
        </p:txBody>
      </p:sp>
      <p:sp>
        <p:nvSpPr>
          <p:cNvPr id="3" name="Rectangle 2">
            <a:extLst>
              <a:ext uri="{FF2B5EF4-FFF2-40B4-BE49-F238E27FC236}">
                <a16:creationId xmlns:a16="http://schemas.microsoft.com/office/drawing/2014/main" id="{EA7B538A-3B32-4653-BFDE-0E490B49F99A}"/>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18</a:t>
            </a:r>
          </a:p>
        </p:txBody>
      </p:sp>
      <p:sp>
        <p:nvSpPr>
          <p:cNvPr id="4" name="Rectangle 3">
            <a:extLst>
              <a:ext uri="{FF2B5EF4-FFF2-40B4-BE49-F238E27FC236}">
                <a16:creationId xmlns:a16="http://schemas.microsoft.com/office/drawing/2014/main" id="{436EB13F-52DC-4498-B0A7-E2F58AF24448}"/>
              </a:ext>
            </a:extLst>
          </p:cNvPr>
          <p:cNvSpPr>
            <a:spLocks noGrp="1"/>
          </p:cNvSpPr>
          <p:nvPr/>
        </p:nvSpPr>
        <p:spPr>
          <a:xfrm>
            <a:off x="609600" y="1752600"/>
            <a:ext cx="3048000" cy="120015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Web / Gradio</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Tải ảnh và xem chẩn đoán</a:t>
            </a:r>
          </a:p>
        </p:txBody>
      </p:sp>
      <p:sp>
        <p:nvSpPr>
          <p:cNvPr id="5" name="Rectangle 4">
            <a:extLst>
              <a:ext uri="{FF2B5EF4-FFF2-40B4-BE49-F238E27FC236}">
                <a16:creationId xmlns:a16="http://schemas.microsoft.com/office/drawing/2014/main" id="{766F912B-6FDE-4FF2-868A-9793CBAD6C7E}"/>
              </a:ext>
            </a:extLst>
          </p:cNvPr>
          <p:cNvSpPr>
            <a:spLocks noGrp="1"/>
          </p:cNvSpPr>
          <p:nvPr/>
        </p:nvSpPr>
        <p:spPr>
          <a:xfrm>
            <a:off x="4572000" y="1752600"/>
            <a:ext cx="3048000" cy="1200150"/>
          </a:xfrm>
          <a:prstGeom prst="rect">
            <a:avLst/>
          </a:prstGeom>
          <a:solidFill>
            <a:srgbClr val="F9EFDF"/>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Ý định người dùng</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Chọn điều sửa và điều giữ</a:t>
            </a:r>
          </a:p>
        </p:txBody>
      </p:sp>
      <p:sp>
        <p:nvSpPr>
          <p:cNvPr id="6" name="Rectangle 5">
            <a:extLst>
              <a:ext uri="{FF2B5EF4-FFF2-40B4-BE49-F238E27FC236}">
                <a16:creationId xmlns:a16="http://schemas.microsoft.com/office/drawing/2014/main" id="{75E60E7E-90FB-4735-902C-E3A21A90AF16}"/>
              </a:ext>
            </a:extLst>
          </p:cNvPr>
          <p:cNvSpPr>
            <a:spLocks noGrp="1"/>
          </p:cNvSpPr>
          <p:nvPr/>
        </p:nvSpPr>
        <p:spPr>
          <a:xfrm>
            <a:off x="8534400" y="1752600"/>
            <a:ext cx="3048000" cy="1200150"/>
          </a:xfrm>
          <a:prstGeom prst="rect">
            <a:avLst/>
          </a:prstGeom>
          <a:solidFill>
            <a:srgbClr val="E3F1F0"/>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Chạy pipeline</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Lưu kết quả và lịch sử</a:t>
            </a:r>
          </a:p>
        </p:txBody>
      </p:sp>
      <p:sp>
        <p:nvSpPr>
          <p:cNvPr id="9" name="Rectangle 8">
            <a:extLst>
              <a:ext uri="{FF2B5EF4-FFF2-40B4-BE49-F238E27FC236}">
                <a16:creationId xmlns:a16="http://schemas.microsoft.com/office/drawing/2014/main" id="{C1734BE3-C568-43E8-A306-155D4B602F99}"/>
              </a:ext>
            </a:extLst>
          </p:cNvPr>
          <p:cNvSpPr>
            <a:spLocks noGrp="1"/>
          </p:cNvSpPr>
          <p:nvPr/>
        </p:nvSpPr>
        <p:spPr>
          <a:xfrm>
            <a:off x="8534400" y="4171950"/>
            <a:ext cx="3048000" cy="1200150"/>
          </a:xfrm>
          <a:prstGeom prst="rect">
            <a:avLst/>
          </a:prstGeom>
          <a:solidFill>
            <a:srgbClr val="F9EFDF"/>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Góp ý</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Ví dụ còn tối</a:t>
            </a:r>
          </a:p>
        </p:txBody>
      </p:sp>
      <p:sp>
        <p:nvSpPr>
          <p:cNvPr id="10" name="Rectangle 9">
            <a:extLst>
              <a:ext uri="{FF2B5EF4-FFF2-40B4-BE49-F238E27FC236}">
                <a16:creationId xmlns:a16="http://schemas.microsoft.com/office/drawing/2014/main" id="{443BD898-596D-4A2F-A433-AA7FD8A2EB86}"/>
              </a:ext>
            </a:extLst>
          </p:cNvPr>
          <p:cNvSpPr>
            <a:spLocks noGrp="1"/>
          </p:cNvSpPr>
          <p:nvPr/>
        </p:nvSpPr>
        <p:spPr>
          <a:xfrm>
            <a:off x="4572000" y="4171950"/>
            <a:ext cx="3048000" cy="1200150"/>
          </a:xfrm>
          <a:prstGeom prst="rect">
            <a:avLst/>
          </a:prstGeom>
          <a:solidFill>
            <a:srgbClr val="E7EDF5"/>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Refine</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Điều chỉnh phác đồ</a:t>
            </a:r>
          </a:p>
        </p:txBody>
      </p:sp>
      <p:sp>
        <p:nvSpPr>
          <p:cNvPr id="11" name="Rectangle 10">
            <a:extLst>
              <a:ext uri="{FF2B5EF4-FFF2-40B4-BE49-F238E27FC236}">
                <a16:creationId xmlns:a16="http://schemas.microsoft.com/office/drawing/2014/main" id="{D0A6099F-E961-44F9-8225-F52C3505161B}"/>
              </a:ext>
            </a:extLst>
          </p:cNvPr>
          <p:cNvSpPr>
            <a:spLocks noGrp="1"/>
          </p:cNvSpPr>
          <p:nvPr/>
        </p:nvSpPr>
        <p:spPr>
          <a:xfrm>
            <a:off x="609600" y="4171950"/>
            <a:ext cx="3048000" cy="1200150"/>
          </a:xfrm>
          <a:prstGeom prst="rect">
            <a:avLst/>
          </a:prstGeom>
          <a:solidFill>
            <a:srgbClr val="E3F1F0"/>
          </a:solidFill>
          <a:ln w="11430">
            <a:solidFill>
              <a:srgbClr val="91A2AF"/>
            </a:solidFill>
          </a:ln>
        </p:spPr>
        <p:txBody>
          <a:bodyPr wrap="square" lIns="114300" tIns="114300" rIns="114300" bIns="114300" anchor="ctr">
            <a:noAutofit/>
          </a:bodyPr>
          <a:lstStyle>
            <a:defPPr algn="ctr">
              <a:defRPr sz="1800">
                <a:solidFill>
                  <a:srgbClr val="192F43"/>
                </a:solidFill>
                <a:latin typeface="Arial"/>
                <a:ea typeface="Arial"/>
                <a:cs typeface="Arial"/>
              </a:defRPr>
            </a:defPPr>
            <a:lvl1pPr algn="ctr">
              <a:defRPr sz="1800">
                <a:solidFill>
                  <a:srgbClr val="192F43"/>
                </a:solidFill>
                <a:latin typeface="Arial"/>
                <a:ea typeface="Arial"/>
                <a:cs typeface="Arial"/>
              </a:defRPr>
            </a:lvl1pPr>
            <a:lvl2pPr algn="ctr">
              <a:defRPr sz="1800">
                <a:solidFill>
                  <a:srgbClr val="192F43"/>
                </a:solidFill>
                <a:latin typeface="Arial"/>
                <a:ea typeface="Arial"/>
                <a:cs typeface="Arial"/>
              </a:defRPr>
            </a:lvl2pPr>
            <a:lvl3pPr algn="ctr">
              <a:defRPr sz="1800">
                <a:solidFill>
                  <a:srgbClr val="192F43"/>
                </a:solidFill>
                <a:latin typeface="Arial"/>
                <a:ea typeface="Arial"/>
                <a:cs typeface="Arial"/>
              </a:defRPr>
            </a:lvl3pPr>
            <a:lvl4pPr algn="ctr">
              <a:defRPr sz="1800">
                <a:solidFill>
                  <a:srgbClr val="192F43"/>
                </a:solidFill>
                <a:latin typeface="Arial"/>
                <a:ea typeface="Arial"/>
                <a:cs typeface="Arial"/>
              </a:defRPr>
            </a:lvl4pPr>
            <a:lvl5pPr algn="ctr">
              <a:defRPr sz="1800">
                <a:solidFill>
                  <a:srgbClr val="192F43"/>
                </a:solidFill>
                <a:latin typeface="Arial"/>
                <a:ea typeface="Arial"/>
                <a:cs typeface="Arial"/>
              </a:defRPr>
            </a:lvl5pPr>
            <a:lvl6pPr algn="ctr">
              <a:defRPr sz="1800">
                <a:solidFill>
                  <a:srgbClr val="192F43"/>
                </a:solidFill>
                <a:latin typeface="Arial"/>
                <a:ea typeface="Arial"/>
                <a:cs typeface="Arial"/>
              </a:defRPr>
            </a:lvl6pPr>
            <a:lvl7pPr algn="ctr">
              <a:defRPr sz="1800">
                <a:solidFill>
                  <a:srgbClr val="192F43"/>
                </a:solidFill>
                <a:latin typeface="Arial"/>
                <a:ea typeface="Arial"/>
                <a:cs typeface="Arial"/>
              </a:defRPr>
            </a:lvl7pPr>
            <a:lvl8pPr algn="ctr">
              <a:defRPr sz="1800">
                <a:solidFill>
                  <a:srgbClr val="192F43"/>
                </a:solidFill>
                <a:latin typeface="Arial"/>
                <a:ea typeface="Arial"/>
                <a:cs typeface="Arial"/>
              </a:defRPr>
            </a:lvl8pPr>
            <a:lvl9pPr algn="ctr">
              <a:defRPr sz="1800">
                <a:solidFill>
                  <a:srgbClr val="192F43"/>
                </a:solidFill>
                <a:latin typeface="Arial"/>
                <a:ea typeface="Arial"/>
                <a:cs typeface="Arial"/>
              </a:defRPr>
            </a:lvl9pPr>
          </a:lstStyle>
          <a:p>
            <a:pPr algn="ctr">
              <a:lnSpc>
                <a:spcPct val="100000"/>
              </a:lnSpc>
              <a:spcAft>
                <a:spcPts val="600"/>
              </a:spcAft>
              <a:buNone/>
              <a:defRPr sz="1800">
                <a:solidFill>
                  <a:srgbClr val="192F43"/>
                </a:solidFill>
                <a:latin typeface="Arial"/>
                <a:ea typeface="Arial"/>
                <a:cs typeface="Arial"/>
              </a:defRPr>
            </a:pPr>
            <a:r>
              <a:rPr sz="1800" b="1">
                <a:solidFill>
                  <a:srgbClr val="192F43"/>
                </a:solidFill>
                <a:latin typeface="Arial"/>
                <a:ea typeface="Arial"/>
                <a:cs typeface="Arial"/>
              </a:rPr>
              <a:t>Render từ ảnh gốc</a:t>
            </a:r>
          </a:p>
          <a:p>
            <a:pPr algn="ctr">
              <a:lnSpc>
                <a:spcPct val="100000"/>
              </a:lnSpc>
              <a:buNone/>
              <a:defRPr sz="1800">
                <a:solidFill>
                  <a:srgbClr val="192F43"/>
                </a:solidFill>
                <a:latin typeface="Arial"/>
                <a:ea typeface="Arial"/>
                <a:cs typeface="Arial"/>
              </a:defRPr>
            </a:pPr>
            <a:r>
              <a:rPr sz="1800">
                <a:solidFill>
                  <a:srgbClr val="192F43"/>
                </a:solidFill>
                <a:latin typeface="Arial"/>
                <a:ea typeface="Arial"/>
                <a:cs typeface="Arial"/>
              </a:rPr>
              <a:t>Tránh chồng bộ lọc</a:t>
            </a:r>
          </a:p>
        </p:txBody>
      </p:sp>
      <p:sp>
        <p:nvSpPr>
          <p:cNvPr id="15" name="Rectangle 14">
            <a:extLst>
              <a:ext uri="{FF2B5EF4-FFF2-40B4-BE49-F238E27FC236}">
                <a16:creationId xmlns:a16="http://schemas.microsoft.com/office/drawing/2014/main" id="{05E0CF58-10CC-48E0-BDB2-51F7CF3C2C06}"/>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React + FastAPI lưu phiên. Case memory lưu kinh nghiệm, không lưu ảnh hoặc huấn luyện lại Gemini.</a:t>
            </a:r>
          </a:p>
        </p:txBody>
      </p:sp>
    </p:spTree>
    <p:extLst>
      <p:ext uri="{BB962C8B-B14F-4D97-AF65-F5344CB8AC3E}">
        <p14:creationId xmlns:p14="http://schemas.microsoft.com/office/powerpoint/2010/main" val="9725791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09DFEB8-70A7-41D9-B410-E2755CB80CFA}"/>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4  ĐIỀU PHỐI VÀ ỨNG DỤNG</a:t>
            </a:r>
          </a:p>
        </p:txBody>
      </p:sp>
      <p:sp>
        <p:nvSpPr>
          <p:cNvPr id="2" name="Rectangle 1">
            <a:extLst>
              <a:ext uri="{FF2B5EF4-FFF2-40B4-BE49-F238E27FC236}">
                <a16:creationId xmlns:a16="http://schemas.microsoft.com/office/drawing/2014/main" id="{30B0FC51-05A2-4F2C-BC9E-E99886541A31}"/>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Pilot toàn pipeline trên ảnh thật</a:t>
            </a:r>
          </a:p>
        </p:txBody>
      </p:sp>
      <p:sp>
        <p:nvSpPr>
          <p:cNvPr id="3" name="Rectangle 2">
            <a:extLst>
              <a:ext uri="{FF2B5EF4-FFF2-40B4-BE49-F238E27FC236}">
                <a16:creationId xmlns:a16="http://schemas.microsoft.com/office/drawing/2014/main" id="{2DD5D4B7-6FE3-47FB-A85A-5627191B0C5E}"/>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19</a:t>
            </a:r>
          </a:p>
        </p:txBody>
      </p:sp>
      <p:graphicFrame>
        <p:nvGraphicFramePr>
          <p:cNvPr id="4" name="Chart">
            <a:extLst>
              <a:ext uri="{FF2B5EF4-FFF2-40B4-BE49-F238E27FC236}">
                <a16:creationId xmlns:a16="http://schemas.microsoft.com/office/drawing/2014/main" id="{754785A5-4A37-4067-A9C3-2DF9B4DAFDA1}"/>
              </a:ext>
            </a:extLst>
          </p:cNvPr>
          <p:cNvGraphicFramePr/>
          <p:nvPr/>
        </p:nvGraphicFramePr>
        <p:xfrm>
          <a:off x="609600" y="1752600"/>
          <a:ext cx="7524750" cy="3971925"/>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F8B3DA2E-C1A1-4118-928B-4B0796AC6733}"/>
              </a:ext>
            </a:extLst>
          </p:cNvPr>
          <p:cNvSpPr>
            <a:spLocks noGrp="1"/>
          </p:cNvSpPr>
          <p:nvPr/>
        </p:nvSpPr>
        <p:spPr>
          <a:xfrm>
            <a:off x="8763000" y="1971675"/>
            <a:ext cx="2762250" cy="571500"/>
          </a:xfrm>
          <a:prstGeom prst="rect">
            <a:avLst/>
          </a:prstGeom>
          <a:noFill/>
          <a:ln w="0">
            <a:noFill/>
          </a:ln>
        </p:spPr>
        <p:txBody>
          <a:bodyPr wrap="square" lIns="0" tIns="0" rIns="0" bIns="0" anchor="t">
            <a:noAutofit/>
          </a:bodyPr>
          <a:lstStyle>
            <a:defPPr algn="l">
              <a:defRPr sz="3000" b="1">
                <a:solidFill>
                  <a:srgbClr val="267C83"/>
                </a:solidFill>
                <a:latin typeface="Arial"/>
                <a:ea typeface="Arial"/>
                <a:cs typeface="Arial"/>
              </a:defRPr>
            </a:defPPr>
            <a:lvl1pPr algn="l">
              <a:defRPr sz="3000" b="1">
                <a:solidFill>
                  <a:srgbClr val="267C83"/>
                </a:solidFill>
                <a:latin typeface="Arial"/>
                <a:ea typeface="Arial"/>
                <a:cs typeface="Arial"/>
              </a:defRPr>
            </a:lvl1pPr>
            <a:lvl2pPr algn="l">
              <a:defRPr sz="3000" b="1">
                <a:solidFill>
                  <a:srgbClr val="267C83"/>
                </a:solidFill>
                <a:latin typeface="Arial"/>
                <a:ea typeface="Arial"/>
                <a:cs typeface="Arial"/>
              </a:defRPr>
            </a:lvl2pPr>
            <a:lvl3pPr algn="l">
              <a:defRPr sz="3000" b="1">
                <a:solidFill>
                  <a:srgbClr val="267C83"/>
                </a:solidFill>
                <a:latin typeface="Arial"/>
                <a:ea typeface="Arial"/>
                <a:cs typeface="Arial"/>
              </a:defRPr>
            </a:lvl3pPr>
            <a:lvl4pPr algn="l">
              <a:defRPr sz="3000" b="1">
                <a:solidFill>
                  <a:srgbClr val="267C83"/>
                </a:solidFill>
                <a:latin typeface="Arial"/>
                <a:ea typeface="Arial"/>
                <a:cs typeface="Arial"/>
              </a:defRPr>
            </a:lvl4pPr>
            <a:lvl5pPr algn="l">
              <a:defRPr sz="3000" b="1">
                <a:solidFill>
                  <a:srgbClr val="267C83"/>
                </a:solidFill>
                <a:latin typeface="Arial"/>
                <a:ea typeface="Arial"/>
                <a:cs typeface="Arial"/>
              </a:defRPr>
            </a:lvl5pPr>
            <a:lvl6pPr algn="l">
              <a:defRPr sz="3000" b="1">
                <a:solidFill>
                  <a:srgbClr val="267C83"/>
                </a:solidFill>
                <a:latin typeface="Arial"/>
                <a:ea typeface="Arial"/>
                <a:cs typeface="Arial"/>
              </a:defRPr>
            </a:lvl6pPr>
            <a:lvl7pPr algn="l">
              <a:defRPr sz="3000" b="1">
                <a:solidFill>
                  <a:srgbClr val="267C83"/>
                </a:solidFill>
                <a:latin typeface="Arial"/>
                <a:ea typeface="Arial"/>
                <a:cs typeface="Arial"/>
              </a:defRPr>
            </a:lvl7pPr>
            <a:lvl8pPr algn="l">
              <a:defRPr sz="3000" b="1">
                <a:solidFill>
                  <a:srgbClr val="267C83"/>
                </a:solidFill>
                <a:latin typeface="Arial"/>
                <a:ea typeface="Arial"/>
                <a:cs typeface="Arial"/>
              </a:defRPr>
            </a:lvl8pPr>
            <a:lvl9pPr algn="l">
              <a:defRPr sz="3000" b="1">
                <a:solidFill>
                  <a:srgbClr val="267C83"/>
                </a:solidFill>
                <a:latin typeface="Arial"/>
                <a:ea typeface="Arial"/>
                <a:cs typeface="Arial"/>
              </a:defRPr>
            </a:lvl9pPr>
          </a:lstStyle>
          <a:p>
            <a:pPr algn="l">
              <a:lnSpc>
                <a:spcPct val="107000"/>
              </a:lnSpc>
              <a:buNone/>
              <a:defRPr sz="3000" b="1">
                <a:solidFill>
                  <a:srgbClr val="267C83"/>
                </a:solidFill>
                <a:latin typeface="Arial"/>
                <a:ea typeface="Arial"/>
                <a:cs typeface="Arial"/>
              </a:defRPr>
            </a:pPr>
            <a:r>
              <a:rPr sz="3000" b="1">
                <a:solidFill>
                  <a:srgbClr val="267C83"/>
                </a:solidFill>
                <a:latin typeface="Arial"/>
                <a:ea typeface="Arial"/>
                <a:cs typeface="Arial"/>
              </a:rPr>
              <a:t>24 lượt</a:t>
            </a:r>
          </a:p>
        </p:txBody>
      </p:sp>
      <p:sp>
        <p:nvSpPr>
          <p:cNvPr id="6" name="Rectangle 5">
            <a:extLst>
              <a:ext uri="{FF2B5EF4-FFF2-40B4-BE49-F238E27FC236}">
                <a16:creationId xmlns:a16="http://schemas.microsoft.com/office/drawing/2014/main" id="{363BC40A-89D7-4E12-A716-9C0A10CFC5C5}"/>
              </a:ext>
            </a:extLst>
          </p:cNvPr>
          <p:cNvSpPr>
            <a:spLocks noGrp="1"/>
          </p:cNvSpPr>
          <p:nvPr/>
        </p:nvSpPr>
        <p:spPr>
          <a:xfrm>
            <a:off x="8763000" y="2714625"/>
            <a:ext cx="2762250" cy="990600"/>
          </a:xfrm>
          <a:prstGeom prst="rect">
            <a:avLst/>
          </a:prstGeom>
          <a:noFill/>
          <a:ln w="0">
            <a:noFill/>
          </a:ln>
        </p:spPr>
        <p:txBody>
          <a:bodyPr wrap="square" lIns="0" tIns="0" rIns="0" bIns="0" anchor="t">
            <a:noAutofit/>
          </a:bodyPr>
          <a:lstStyle>
            <a:defPPr algn="l">
              <a:defRPr sz="2025" b="0">
                <a:solidFill>
                  <a:srgbClr val="192F43"/>
                </a:solidFill>
                <a:latin typeface="Arial"/>
                <a:ea typeface="Arial"/>
                <a:cs typeface="Arial"/>
              </a:defRPr>
            </a:defPPr>
            <a:lvl1pPr algn="l">
              <a:defRPr sz="2025" b="0">
                <a:solidFill>
                  <a:srgbClr val="192F43"/>
                </a:solidFill>
                <a:latin typeface="Arial"/>
                <a:ea typeface="Arial"/>
                <a:cs typeface="Arial"/>
              </a:defRPr>
            </a:lvl1pPr>
            <a:lvl2pPr algn="l">
              <a:defRPr sz="2025" b="0">
                <a:solidFill>
                  <a:srgbClr val="192F43"/>
                </a:solidFill>
                <a:latin typeface="Arial"/>
                <a:ea typeface="Arial"/>
                <a:cs typeface="Arial"/>
              </a:defRPr>
            </a:lvl2pPr>
            <a:lvl3pPr algn="l">
              <a:defRPr sz="2025" b="0">
                <a:solidFill>
                  <a:srgbClr val="192F43"/>
                </a:solidFill>
                <a:latin typeface="Arial"/>
                <a:ea typeface="Arial"/>
                <a:cs typeface="Arial"/>
              </a:defRPr>
            </a:lvl3pPr>
            <a:lvl4pPr algn="l">
              <a:defRPr sz="2025" b="0">
                <a:solidFill>
                  <a:srgbClr val="192F43"/>
                </a:solidFill>
                <a:latin typeface="Arial"/>
                <a:ea typeface="Arial"/>
                <a:cs typeface="Arial"/>
              </a:defRPr>
            </a:lvl4pPr>
            <a:lvl5pPr algn="l">
              <a:defRPr sz="2025" b="0">
                <a:solidFill>
                  <a:srgbClr val="192F43"/>
                </a:solidFill>
                <a:latin typeface="Arial"/>
                <a:ea typeface="Arial"/>
                <a:cs typeface="Arial"/>
              </a:defRPr>
            </a:lvl5pPr>
            <a:lvl6pPr algn="l">
              <a:defRPr sz="2025" b="0">
                <a:solidFill>
                  <a:srgbClr val="192F43"/>
                </a:solidFill>
                <a:latin typeface="Arial"/>
                <a:ea typeface="Arial"/>
                <a:cs typeface="Arial"/>
              </a:defRPr>
            </a:lvl6pPr>
            <a:lvl7pPr algn="l">
              <a:defRPr sz="2025" b="0">
                <a:solidFill>
                  <a:srgbClr val="192F43"/>
                </a:solidFill>
                <a:latin typeface="Arial"/>
                <a:ea typeface="Arial"/>
                <a:cs typeface="Arial"/>
              </a:defRPr>
            </a:lvl7pPr>
            <a:lvl8pPr algn="l">
              <a:defRPr sz="2025" b="0">
                <a:solidFill>
                  <a:srgbClr val="192F43"/>
                </a:solidFill>
                <a:latin typeface="Arial"/>
                <a:ea typeface="Arial"/>
                <a:cs typeface="Arial"/>
              </a:defRPr>
            </a:lvl8pPr>
            <a:lvl9pPr algn="l">
              <a:defRPr sz="2025" b="0">
                <a:solidFill>
                  <a:srgbClr val="192F43"/>
                </a:solidFill>
                <a:latin typeface="Arial"/>
                <a:ea typeface="Arial"/>
                <a:cs typeface="Arial"/>
              </a:defRPr>
            </a:lvl9pPr>
          </a:lstStyle>
          <a:p>
            <a:pPr algn="l">
              <a:lnSpc>
                <a:spcPct val="107000"/>
              </a:lnSpc>
              <a:buNone/>
              <a:defRPr sz="2025" b="0">
                <a:solidFill>
                  <a:srgbClr val="192F43"/>
                </a:solidFill>
                <a:latin typeface="Arial"/>
                <a:ea typeface="Arial"/>
                <a:cs typeface="Arial"/>
              </a:defRPr>
            </a:pPr>
            <a:r>
              <a:rPr sz="2025" b="0">
                <a:solidFill>
                  <a:srgbClr val="192F43"/>
                </a:solidFill>
                <a:latin typeface="Arial"/>
                <a:ea typeface="Arial"/>
                <a:cs typeface="Arial"/>
              </a:rPr>
              <a:t>4 ảnh × 3 lần</a:t>
            </a:r>
          </a:p>
          <a:p>
            <a:pPr algn="l">
              <a:lnSpc>
                <a:spcPct val="107000"/>
              </a:lnSpc>
              <a:buNone/>
              <a:defRPr sz="2025" b="0">
                <a:solidFill>
                  <a:srgbClr val="192F43"/>
                </a:solidFill>
                <a:latin typeface="Arial"/>
                <a:ea typeface="Arial"/>
                <a:cs typeface="Arial"/>
              </a:defRPr>
            </a:pPr>
            <a:r>
              <a:rPr sz="2025" b="0">
                <a:solidFill>
                  <a:srgbClr val="192F43"/>
                </a:solidFill>
                <a:latin typeface="Arial"/>
                <a:ea typeface="Arial"/>
                <a:cs typeface="Arial"/>
              </a:rPr>
              <a:t>× 2 phiên bản</a:t>
            </a:r>
          </a:p>
        </p:txBody>
      </p:sp>
      <p:sp>
        <p:nvSpPr>
          <p:cNvPr id="7" name="Rectangle 6">
            <a:extLst>
              <a:ext uri="{FF2B5EF4-FFF2-40B4-BE49-F238E27FC236}">
                <a16:creationId xmlns:a16="http://schemas.microsoft.com/office/drawing/2014/main" id="{B9B9C500-483D-45FC-906D-A18F7A69344B}"/>
              </a:ext>
            </a:extLst>
          </p:cNvPr>
          <p:cNvSpPr>
            <a:spLocks noGrp="1"/>
          </p:cNvSpPr>
          <p:nvPr/>
        </p:nvSpPr>
        <p:spPr>
          <a:xfrm>
            <a:off x="8763000" y="4333875"/>
            <a:ext cx="2667000" cy="952500"/>
          </a:xfrm>
          <a:prstGeom prst="rect">
            <a:avLst/>
          </a:prstGeom>
          <a:noFill/>
          <a:ln w="0">
            <a:noFill/>
          </a:ln>
        </p:spPr>
        <p:txBody>
          <a:bodyPr wrap="square" lIns="0" tIns="0" rIns="0" bIns="0" anchor="t">
            <a:noAutofit/>
          </a:bodyPr>
          <a:lstStyle>
            <a:defPPr algn="l">
              <a:defRPr sz="2325" b="1">
                <a:solidFill>
                  <a:srgbClr val="192F43"/>
                </a:solidFill>
                <a:latin typeface="Arial"/>
                <a:ea typeface="Arial"/>
                <a:cs typeface="Arial"/>
              </a:defRPr>
            </a:defPPr>
            <a:lvl1pPr algn="l">
              <a:defRPr sz="2325" b="1">
                <a:solidFill>
                  <a:srgbClr val="192F43"/>
                </a:solidFill>
                <a:latin typeface="Arial"/>
                <a:ea typeface="Arial"/>
                <a:cs typeface="Arial"/>
              </a:defRPr>
            </a:lvl1pPr>
            <a:lvl2pPr algn="l">
              <a:defRPr sz="2325" b="1">
                <a:solidFill>
                  <a:srgbClr val="192F43"/>
                </a:solidFill>
                <a:latin typeface="Arial"/>
                <a:ea typeface="Arial"/>
                <a:cs typeface="Arial"/>
              </a:defRPr>
            </a:lvl2pPr>
            <a:lvl3pPr algn="l">
              <a:defRPr sz="2325" b="1">
                <a:solidFill>
                  <a:srgbClr val="192F43"/>
                </a:solidFill>
                <a:latin typeface="Arial"/>
                <a:ea typeface="Arial"/>
                <a:cs typeface="Arial"/>
              </a:defRPr>
            </a:lvl3pPr>
            <a:lvl4pPr algn="l">
              <a:defRPr sz="2325" b="1">
                <a:solidFill>
                  <a:srgbClr val="192F43"/>
                </a:solidFill>
                <a:latin typeface="Arial"/>
                <a:ea typeface="Arial"/>
                <a:cs typeface="Arial"/>
              </a:defRPr>
            </a:lvl4pPr>
            <a:lvl5pPr algn="l">
              <a:defRPr sz="2325" b="1">
                <a:solidFill>
                  <a:srgbClr val="192F43"/>
                </a:solidFill>
                <a:latin typeface="Arial"/>
                <a:ea typeface="Arial"/>
                <a:cs typeface="Arial"/>
              </a:defRPr>
            </a:lvl5pPr>
            <a:lvl6pPr algn="l">
              <a:defRPr sz="2325" b="1">
                <a:solidFill>
                  <a:srgbClr val="192F43"/>
                </a:solidFill>
                <a:latin typeface="Arial"/>
                <a:ea typeface="Arial"/>
                <a:cs typeface="Arial"/>
              </a:defRPr>
            </a:lvl6pPr>
            <a:lvl7pPr algn="l">
              <a:defRPr sz="2325" b="1">
                <a:solidFill>
                  <a:srgbClr val="192F43"/>
                </a:solidFill>
                <a:latin typeface="Arial"/>
                <a:ea typeface="Arial"/>
                <a:cs typeface="Arial"/>
              </a:defRPr>
            </a:lvl7pPr>
            <a:lvl8pPr algn="l">
              <a:defRPr sz="2325" b="1">
                <a:solidFill>
                  <a:srgbClr val="192F43"/>
                </a:solidFill>
                <a:latin typeface="Arial"/>
                <a:ea typeface="Arial"/>
                <a:cs typeface="Arial"/>
              </a:defRPr>
            </a:lvl8pPr>
            <a:lvl9pPr algn="l">
              <a:defRPr sz="2325" b="1">
                <a:solidFill>
                  <a:srgbClr val="192F43"/>
                </a:solidFill>
                <a:latin typeface="Arial"/>
                <a:ea typeface="Arial"/>
                <a:cs typeface="Arial"/>
              </a:defRPr>
            </a:lvl9pPr>
          </a:lstStyle>
          <a:p>
            <a:pPr algn="l">
              <a:lnSpc>
                <a:spcPct val="107000"/>
              </a:lnSpc>
              <a:buNone/>
              <a:defRPr sz="2325" b="1">
                <a:solidFill>
                  <a:srgbClr val="192F43"/>
                </a:solidFill>
                <a:latin typeface="Arial"/>
                <a:ea typeface="Arial"/>
                <a:cs typeface="Arial"/>
              </a:defRPr>
            </a:pPr>
            <a:r>
              <a:rPr sz="2325" b="1">
                <a:solidFill>
                  <a:srgbClr val="192F43"/>
                </a:solidFill>
                <a:latin typeface="Arial"/>
                <a:ea typeface="Arial"/>
                <a:cs typeface="Arial"/>
              </a:rPr>
              <a:t>Chưa đủ để</a:t>
            </a:r>
          </a:p>
          <a:p>
            <a:pPr algn="l">
              <a:lnSpc>
                <a:spcPct val="107000"/>
              </a:lnSpc>
              <a:buNone/>
              <a:defRPr sz="2325" b="1">
                <a:solidFill>
                  <a:srgbClr val="192F43"/>
                </a:solidFill>
                <a:latin typeface="Arial"/>
                <a:ea typeface="Arial"/>
                <a:cs typeface="Arial"/>
              </a:defRPr>
            </a:pPr>
            <a:r>
              <a:rPr sz="2325" b="1">
                <a:solidFill>
                  <a:srgbClr val="192F43"/>
                </a:solidFill>
                <a:latin typeface="Arial"/>
                <a:ea typeface="Arial"/>
                <a:cs typeface="Arial"/>
              </a:rPr>
              <a:t>đổi mặc định</a:t>
            </a:r>
          </a:p>
        </p:txBody>
      </p:sp>
      <p:sp>
        <p:nvSpPr>
          <p:cNvPr id="8" name="Rectangle 7">
            <a:extLst>
              <a:ext uri="{FF2B5EF4-FFF2-40B4-BE49-F238E27FC236}">
                <a16:creationId xmlns:a16="http://schemas.microsoft.com/office/drawing/2014/main" id="{2B6B52EE-AF07-4E11-8C1A-B2751701D7FC}"/>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Có chỉnh chưa đồng nghĩa đạt mục tiêu. Cả hai chưa nâng được mặt tối. Chỉ có bốn ảnh độc lập.</a:t>
            </a:r>
          </a:p>
        </p:txBody>
      </p:sp>
    </p:spTree>
    <p:extLst>
      <p:ext uri="{BB962C8B-B14F-4D97-AF65-F5344CB8AC3E}">
        <p14:creationId xmlns:p14="http://schemas.microsoft.com/office/powerpoint/2010/main" val="1088273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556372D-2D6F-4366-B763-A6EF30E10CDF}"/>
              </a:ext>
            </a:extLst>
          </p:cNvPr>
          <p:cNvSpPr>
            <a:spLocks noGrp="1"/>
          </p:cNvSpPr>
          <p:nvPr/>
        </p:nvSpPr>
        <p:spPr>
          <a:xfrm>
            <a:off x="609600" y="209550"/>
            <a:ext cx="10382250" cy="276225"/>
          </a:xfrm>
          <a:prstGeom prst="rect">
            <a:avLst/>
          </a:prstGeom>
          <a:noFill/>
          <a:ln w="0">
            <a:noFill/>
          </a:ln>
        </p:spPr>
        <p:txBody>
          <a:bodyPr wrap="square" lIns="0" tIns="0" rIns="0" bIns="0" anchor="t">
            <a:noAutofit/>
          </a:bodyPr>
          <a:lstStyle>
            <a:defPPr algn="l">
              <a:defRPr sz="1350" b="1">
                <a:solidFill>
                  <a:srgbClr val="267C83"/>
                </a:solidFill>
                <a:latin typeface="Arial"/>
                <a:ea typeface="Arial"/>
                <a:cs typeface="Arial"/>
              </a:defRPr>
            </a:defPPr>
            <a:lvl1pPr algn="l">
              <a:defRPr sz="1350" b="1">
                <a:solidFill>
                  <a:srgbClr val="267C83"/>
                </a:solidFill>
                <a:latin typeface="Arial"/>
                <a:ea typeface="Arial"/>
                <a:cs typeface="Arial"/>
              </a:defRPr>
            </a:lvl1pPr>
            <a:lvl2pPr algn="l">
              <a:defRPr sz="1350" b="1">
                <a:solidFill>
                  <a:srgbClr val="267C83"/>
                </a:solidFill>
                <a:latin typeface="Arial"/>
                <a:ea typeface="Arial"/>
                <a:cs typeface="Arial"/>
              </a:defRPr>
            </a:lvl2pPr>
            <a:lvl3pPr algn="l">
              <a:defRPr sz="1350" b="1">
                <a:solidFill>
                  <a:srgbClr val="267C83"/>
                </a:solidFill>
                <a:latin typeface="Arial"/>
                <a:ea typeface="Arial"/>
                <a:cs typeface="Arial"/>
              </a:defRPr>
            </a:lvl3pPr>
            <a:lvl4pPr algn="l">
              <a:defRPr sz="1350" b="1">
                <a:solidFill>
                  <a:srgbClr val="267C83"/>
                </a:solidFill>
                <a:latin typeface="Arial"/>
                <a:ea typeface="Arial"/>
                <a:cs typeface="Arial"/>
              </a:defRPr>
            </a:lvl4pPr>
            <a:lvl5pPr algn="l">
              <a:defRPr sz="1350" b="1">
                <a:solidFill>
                  <a:srgbClr val="267C83"/>
                </a:solidFill>
                <a:latin typeface="Arial"/>
                <a:ea typeface="Arial"/>
                <a:cs typeface="Arial"/>
              </a:defRPr>
            </a:lvl5pPr>
            <a:lvl6pPr algn="l">
              <a:defRPr sz="1350" b="1">
                <a:solidFill>
                  <a:srgbClr val="267C83"/>
                </a:solidFill>
                <a:latin typeface="Arial"/>
                <a:ea typeface="Arial"/>
                <a:cs typeface="Arial"/>
              </a:defRPr>
            </a:lvl6pPr>
            <a:lvl7pPr algn="l">
              <a:defRPr sz="1350" b="1">
                <a:solidFill>
                  <a:srgbClr val="267C83"/>
                </a:solidFill>
                <a:latin typeface="Arial"/>
                <a:ea typeface="Arial"/>
                <a:cs typeface="Arial"/>
              </a:defRPr>
            </a:lvl7pPr>
            <a:lvl8pPr algn="l">
              <a:defRPr sz="1350" b="1">
                <a:solidFill>
                  <a:srgbClr val="267C83"/>
                </a:solidFill>
                <a:latin typeface="Arial"/>
                <a:ea typeface="Arial"/>
                <a:cs typeface="Arial"/>
              </a:defRPr>
            </a:lvl8pPr>
            <a:lvl9pPr algn="l">
              <a:defRPr sz="1350" b="1">
                <a:solidFill>
                  <a:srgbClr val="267C83"/>
                </a:solidFill>
                <a:latin typeface="Arial"/>
                <a:ea typeface="Arial"/>
                <a:cs typeface="Arial"/>
              </a:defRPr>
            </a:lvl9pPr>
          </a:lstStyle>
          <a:p>
            <a:pPr algn="l">
              <a:lnSpc>
                <a:spcPct val="107000"/>
              </a:lnSpc>
              <a:buNone/>
              <a:defRPr sz="1350" b="1">
                <a:solidFill>
                  <a:srgbClr val="267C83"/>
                </a:solidFill>
                <a:latin typeface="Arial"/>
                <a:ea typeface="Arial"/>
                <a:cs typeface="Arial"/>
              </a:defRPr>
            </a:pPr>
            <a:r>
              <a:rPr sz="1350" b="1">
                <a:solidFill>
                  <a:srgbClr val="267C83"/>
                </a:solidFill>
                <a:latin typeface="Arial"/>
                <a:ea typeface="Arial"/>
                <a:cs typeface="Arial"/>
              </a:rPr>
              <a:t>MODULE 4  ĐIỀU PHỐI VÀ ỨNG DỤNG</a:t>
            </a:r>
          </a:p>
        </p:txBody>
      </p:sp>
      <p:sp>
        <p:nvSpPr>
          <p:cNvPr id="2" name="Rectangle 1">
            <a:extLst>
              <a:ext uri="{FF2B5EF4-FFF2-40B4-BE49-F238E27FC236}">
                <a16:creationId xmlns:a16="http://schemas.microsoft.com/office/drawing/2014/main" id="{7BD8A2CF-F64D-4A7D-BE67-6CD7BCFBA3CB}"/>
              </a:ext>
            </a:extLst>
          </p:cNvPr>
          <p:cNvSpPr>
            <a:spLocks noGrp="1"/>
          </p:cNvSpPr>
          <p:nvPr/>
        </p:nvSpPr>
        <p:spPr>
          <a:xfrm>
            <a:off x="609600" y="609600"/>
            <a:ext cx="10382250" cy="628650"/>
          </a:xfrm>
          <a:prstGeom prst="rect">
            <a:avLst/>
          </a:prstGeom>
          <a:noFill/>
          <a:ln w="0">
            <a:noFill/>
          </a:ln>
        </p:spPr>
        <p:txBody>
          <a:bodyPr wrap="square" lIns="0" tIns="0" rIns="0" bIns="0" anchor="t">
            <a:noAutofit/>
          </a:bodyPr>
          <a:lstStyle>
            <a:defPPr algn="l">
              <a:defRPr sz="3000" b="1">
                <a:solidFill>
                  <a:srgbClr val="192F43"/>
                </a:solidFill>
                <a:latin typeface="Arial"/>
                <a:ea typeface="Arial"/>
                <a:cs typeface="Arial"/>
              </a:defRPr>
            </a:defPPr>
            <a:lvl1pPr algn="l">
              <a:defRPr sz="3000" b="1">
                <a:solidFill>
                  <a:srgbClr val="192F43"/>
                </a:solidFill>
                <a:latin typeface="Arial"/>
                <a:ea typeface="Arial"/>
                <a:cs typeface="Arial"/>
              </a:defRPr>
            </a:lvl1pPr>
            <a:lvl2pPr algn="l">
              <a:defRPr sz="3000" b="1">
                <a:solidFill>
                  <a:srgbClr val="192F43"/>
                </a:solidFill>
                <a:latin typeface="Arial"/>
                <a:ea typeface="Arial"/>
                <a:cs typeface="Arial"/>
              </a:defRPr>
            </a:lvl2pPr>
            <a:lvl3pPr algn="l">
              <a:defRPr sz="3000" b="1">
                <a:solidFill>
                  <a:srgbClr val="192F43"/>
                </a:solidFill>
                <a:latin typeface="Arial"/>
                <a:ea typeface="Arial"/>
                <a:cs typeface="Arial"/>
              </a:defRPr>
            </a:lvl3pPr>
            <a:lvl4pPr algn="l">
              <a:defRPr sz="3000" b="1">
                <a:solidFill>
                  <a:srgbClr val="192F43"/>
                </a:solidFill>
                <a:latin typeface="Arial"/>
                <a:ea typeface="Arial"/>
                <a:cs typeface="Arial"/>
              </a:defRPr>
            </a:lvl4pPr>
            <a:lvl5pPr algn="l">
              <a:defRPr sz="3000" b="1">
                <a:solidFill>
                  <a:srgbClr val="192F43"/>
                </a:solidFill>
                <a:latin typeface="Arial"/>
                <a:ea typeface="Arial"/>
                <a:cs typeface="Arial"/>
              </a:defRPr>
            </a:lvl5pPr>
            <a:lvl6pPr algn="l">
              <a:defRPr sz="3000" b="1">
                <a:solidFill>
                  <a:srgbClr val="192F43"/>
                </a:solidFill>
                <a:latin typeface="Arial"/>
                <a:ea typeface="Arial"/>
                <a:cs typeface="Arial"/>
              </a:defRPr>
            </a:lvl6pPr>
            <a:lvl7pPr algn="l">
              <a:defRPr sz="3000" b="1">
                <a:solidFill>
                  <a:srgbClr val="192F43"/>
                </a:solidFill>
                <a:latin typeface="Arial"/>
                <a:ea typeface="Arial"/>
                <a:cs typeface="Arial"/>
              </a:defRPr>
            </a:lvl7pPr>
            <a:lvl8pPr algn="l">
              <a:defRPr sz="3000" b="1">
                <a:solidFill>
                  <a:srgbClr val="192F43"/>
                </a:solidFill>
                <a:latin typeface="Arial"/>
                <a:ea typeface="Arial"/>
                <a:cs typeface="Arial"/>
              </a:defRPr>
            </a:lvl8pPr>
            <a:lvl9pPr algn="l">
              <a:defRPr sz="3000" b="1">
                <a:solidFill>
                  <a:srgbClr val="192F43"/>
                </a:solidFill>
                <a:latin typeface="Arial"/>
                <a:ea typeface="Arial"/>
                <a:cs typeface="Arial"/>
              </a:defRPr>
            </a:lvl9pPr>
          </a:lstStyle>
          <a:p>
            <a:pPr algn="l">
              <a:lnSpc>
                <a:spcPct val="107000"/>
              </a:lnSpc>
              <a:buNone/>
              <a:defRPr sz="3000" b="1">
                <a:solidFill>
                  <a:srgbClr val="192F43"/>
                </a:solidFill>
                <a:latin typeface="Arial"/>
                <a:ea typeface="Arial"/>
                <a:cs typeface="Arial"/>
              </a:defRPr>
            </a:pPr>
            <a:r>
              <a:rPr sz="3000" b="1">
                <a:solidFill>
                  <a:srgbClr val="192F43"/>
                </a:solidFill>
                <a:latin typeface="Arial"/>
                <a:ea typeface="Arial"/>
                <a:cs typeface="Arial"/>
              </a:rPr>
              <a:t>Kết nối bốn module và hướng tiếp theo</a:t>
            </a:r>
          </a:p>
        </p:txBody>
      </p:sp>
      <p:sp>
        <p:nvSpPr>
          <p:cNvPr id="3" name="Rectangle 2">
            <a:extLst>
              <a:ext uri="{FF2B5EF4-FFF2-40B4-BE49-F238E27FC236}">
                <a16:creationId xmlns:a16="http://schemas.microsoft.com/office/drawing/2014/main" id="{87720D53-CE84-4164-B87B-8E1ABCCA7ADA}"/>
              </a:ext>
            </a:extLst>
          </p:cNvPr>
          <p:cNvSpPr>
            <a:spLocks noGrp="1"/>
          </p:cNvSpPr>
          <p:nvPr/>
        </p:nvSpPr>
        <p:spPr>
          <a:xfrm>
            <a:off x="11068050" y="485775"/>
            <a:ext cx="514350" cy="285750"/>
          </a:xfrm>
          <a:prstGeom prst="rect">
            <a:avLst/>
          </a:prstGeom>
          <a:noFill/>
          <a:ln w="0">
            <a:noFill/>
          </a:ln>
        </p:spPr>
        <p:txBody>
          <a:bodyPr wrap="square" lIns="0" tIns="0" rIns="0" bIns="0" anchor="t">
            <a:noAutofit/>
          </a:bodyPr>
          <a:lstStyle>
            <a:defPPr algn="r">
              <a:defRPr sz="1425" b="0">
                <a:solidFill>
                  <a:srgbClr val="526779"/>
                </a:solidFill>
                <a:latin typeface="Arial"/>
                <a:ea typeface="Arial"/>
                <a:cs typeface="Arial"/>
              </a:defRPr>
            </a:defPPr>
            <a:lvl1pPr algn="r">
              <a:defRPr sz="1425" b="0">
                <a:solidFill>
                  <a:srgbClr val="526779"/>
                </a:solidFill>
                <a:latin typeface="Arial"/>
                <a:ea typeface="Arial"/>
                <a:cs typeface="Arial"/>
              </a:defRPr>
            </a:lvl1pPr>
            <a:lvl2pPr algn="r">
              <a:defRPr sz="1425" b="0">
                <a:solidFill>
                  <a:srgbClr val="526779"/>
                </a:solidFill>
                <a:latin typeface="Arial"/>
                <a:ea typeface="Arial"/>
                <a:cs typeface="Arial"/>
              </a:defRPr>
            </a:lvl2pPr>
            <a:lvl3pPr algn="r">
              <a:defRPr sz="1425" b="0">
                <a:solidFill>
                  <a:srgbClr val="526779"/>
                </a:solidFill>
                <a:latin typeface="Arial"/>
                <a:ea typeface="Arial"/>
                <a:cs typeface="Arial"/>
              </a:defRPr>
            </a:lvl3pPr>
            <a:lvl4pPr algn="r">
              <a:defRPr sz="1425" b="0">
                <a:solidFill>
                  <a:srgbClr val="526779"/>
                </a:solidFill>
                <a:latin typeface="Arial"/>
                <a:ea typeface="Arial"/>
                <a:cs typeface="Arial"/>
              </a:defRPr>
            </a:lvl4pPr>
            <a:lvl5pPr algn="r">
              <a:defRPr sz="1425" b="0">
                <a:solidFill>
                  <a:srgbClr val="526779"/>
                </a:solidFill>
                <a:latin typeface="Arial"/>
                <a:ea typeface="Arial"/>
                <a:cs typeface="Arial"/>
              </a:defRPr>
            </a:lvl5pPr>
            <a:lvl6pPr algn="r">
              <a:defRPr sz="1425" b="0">
                <a:solidFill>
                  <a:srgbClr val="526779"/>
                </a:solidFill>
                <a:latin typeface="Arial"/>
                <a:ea typeface="Arial"/>
                <a:cs typeface="Arial"/>
              </a:defRPr>
            </a:lvl6pPr>
            <a:lvl7pPr algn="r">
              <a:defRPr sz="1425" b="0">
                <a:solidFill>
                  <a:srgbClr val="526779"/>
                </a:solidFill>
                <a:latin typeface="Arial"/>
                <a:ea typeface="Arial"/>
                <a:cs typeface="Arial"/>
              </a:defRPr>
            </a:lvl7pPr>
            <a:lvl8pPr algn="r">
              <a:defRPr sz="1425" b="0">
                <a:solidFill>
                  <a:srgbClr val="526779"/>
                </a:solidFill>
                <a:latin typeface="Arial"/>
                <a:ea typeface="Arial"/>
                <a:cs typeface="Arial"/>
              </a:defRPr>
            </a:lvl8pPr>
            <a:lvl9pPr algn="r">
              <a:defRPr sz="1425" b="0">
                <a:solidFill>
                  <a:srgbClr val="526779"/>
                </a:solidFill>
                <a:latin typeface="Arial"/>
                <a:ea typeface="Arial"/>
                <a:cs typeface="Arial"/>
              </a:defRPr>
            </a:lvl9pPr>
          </a:lstStyle>
          <a:p>
            <a:pPr algn="r">
              <a:lnSpc>
                <a:spcPct val="107000"/>
              </a:lnSpc>
              <a:buNone/>
              <a:defRPr sz="1425" b="0">
                <a:solidFill>
                  <a:srgbClr val="526779"/>
                </a:solidFill>
                <a:latin typeface="Arial"/>
                <a:ea typeface="Arial"/>
                <a:cs typeface="Arial"/>
              </a:defRPr>
            </a:pPr>
            <a:r>
              <a:rPr sz="1425" b="0">
                <a:solidFill>
                  <a:srgbClr val="526779"/>
                </a:solidFill>
                <a:latin typeface="Arial"/>
                <a:ea typeface="Arial"/>
                <a:cs typeface="Arial"/>
              </a:rPr>
              <a:t>20</a:t>
            </a:r>
          </a:p>
        </p:txBody>
      </p:sp>
      <p:sp>
        <p:nvSpPr>
          <p:cNvPr id="4" name="Rectangle 3">
            <a:extLst>
              <a:ext uri="{FF2B5EF4-FFF2-40B4-BE49-F238E27FC236}">
                <a16:creationId xmlns:a16="http://schemas.microsoft.com/office/drawing/2014/main" id="{CEB00505-1938-4B2D-B053-AC7E53CE7750}"/>
              </a:ext>
            </a:extLst>
          </p:cNvPr>
          <p:cNvSpPr>
            <a:spLocks noGrp="1"/>
          </p:cNvSpPr>
          <p:nvPr/>
        </p:nvSpPr>
        <p:spPr>
          <a:xfrm>
            <a:off x="609600" y="1809750"/>
            <a:ext cx="10763250" cy="1238250"/>
          </a:xfrm>
          <a:prstGeom prst="rect">
            <a:avLst/>
          </a:prstGeom>
          <a:noFill/>
          <a:ln w="0">
            <a:noFill/>
          </a:ln>
        </p:spPr>
        <p:txBody>
          <a:bodyPr wrap="square" lIns="0" tIns="0" rIns="0" bIns="0" anchor="t">
            <a:noAutofit/>
          </a:bodyPr>
          <a:lstStyle>
            <a:defPPr algn="l">
              <a:defRPr sz="3000" b="1">
                <a:solidFill>
                  <a:srgbClr val="267C83"/>
                </a:solidFill>
                <a:latin typeface="Arial"/>
                <a:ea typeface="Arial"/>
                <a:cs typeface="Arial"/>
              </a:defRPr>
            </a:defPPr>
            <a:lvl1pPr algn="l">
              <a:defRPr sz="3000" b="1">
                <a:solidFill>
                  <a:srgbClr val="267C83"/>
                </a:solidFill>
                <a:latin typeface="Arial"/>
                <a:ea typeface="Arial"/>
                <a:cs typeface="Arial"/>
              </a:defRPr>
            </a:lvl1pPr>
            <a:lvl2pPr algn="l">
              <a:defRPr sz="3000" b="1">
                <a:solidFill>
                  <a:srgbClr val="267C83"/>
                </a:solidFill>
                <a:latin typeface="Arial"/>
                <a:ea typeface="Arial"/>
                <a:cs typeface="Arial"/>
              </a:defRPr>
            </a:lvl2pPr>
            <a:lvl3pPr algn="l">
              <a:defRPr sz="3000" b="1">
                <a:solidFill>
                  <a:srgbClr val="267C83"/>
                </a:solidFill>
                <a:latin typeface="Arial"/>
                <a:ea typeface="Arial"/>
                <a:cs typeface="Arial"/>
              </a:defRPr>
            </a:lvl3pPr>
            <a:lvl4pPr algn="l">
              <a:defRPr sz="3000" b="1">
                <a:solidFill>
                  <a:srgbClr val="267C83"/>
                </a:solidFill>
                <a:latin typeface="Arial"/>
                <a:ea typeface="Arial"/>
                <a:cs typeface="Arial"/>
              </a:defRPr>
            </a:lvl4pPr>
            <a:lvl5pPr algn="l">
              <a:defRPr sz="3000" b="1">
                <a:solidFill>
                  <a:srgbClr val="267C83"/>
                </a:solidFill>
                <a:latin typeface="Arial"/>
                <a:ea typeface="Arial"/>
                <a:cs typeface="Arial"/>
              </a:defRPr>
            </a:lvl5pPr>
            <a:lvl6pPr algn="l">
              <a:defRPr sz="3000" b="1">
                <a:solidFill>
                  <a:srgbClr val="267C83"/>
                </a:solidFill>
                <a:latin typeface="Arial"/>
                <a:ea typeface="Arial"/>
                <a:cs typeface="Arial"/>
              </a:defRPr>
            </a:lvl6pPr>
            <a:lvl7pPr algn="l">
              <a:defRPr sz="3000" b="1">
                <a:solidFill>
                  <a:srgbClr val="267C83"/>
                </a:solidFill>
                <a:latin typeface="Arial"/>
                <a:ea typeface="Arial"/>
                <a:cs typeface="Arial"/>
              </a:defRPr>
            </a:lvl7pPr>
            <a:lvl8pPr algn="l">
              <a:defRPr sz="3000" b="1">
                <a:solidFill>
                  <a:srgbClr val="267C83"/>
                </a:solidFill>
                <a:latin typeface="Arial"/>
                <a:ea typeface="Arial"/>
                <a:cs typeface="Arial"/>
              </a:defRPr>
            </a:lvl8pPr>
            <a:lvl9pPr algn="l">
              <a:defRPr sz="3000" b="1">
                <a:solidFill>
                  <a:srgbClr val="267C83"/>
                </a:solidFill>
                <a:latin typeface="Arial"/>
                <a:ea typeface="Arial"/>
                <a:cs typeface="Arial"/>
              </a:defRPr>
            </a:lvl9pPr>
          </a:lstStyle>
          <a:p>
            <a:pPr algn="l">
              <a:lnSpc>
                <a:spcPct val="107000"/>
              </a:lnSpc>
              <a:buNone/>
              <a:defRPr sz="3000" b="1">
                <a:solidFill>
                  <a:srgbClr val="267C83"/>
                </a:solidFill>
                <a:latin typeface="Arial"/>
                <a:ea typeface="Arial"/>
                <a:cs typeface="Arial"/>
              </a:defRPr>
            </a:pPr>
            <a:r>
              <a:rPr sz="3000" b="1">
                <a:solidFill>
                  <a:srgbClr val="267C83"/>
                </a:solidFill>
                <a:latin typeface="Arial"/>
                <a:ea typeface="Arial"/>
                <a:cs typeface="Arial"/>
              </a:rPr>
              <a:t>Đo được chất lượng, chọn đúng vùng,</a:t>
            </a:r>
          </a:p>
          <a:p>
            <a:pPr algn="l">
              <a:lnSpc>
                <a:spcPct val="107000"/>
              </a:lnSpc>
              <a:buNone/>
              <a:defRPr sz="3000" b="1">
                <a:solidFill>
                  <a:srgbClr val="267C83"/>
                </a:solidFill>
                <a:latin typeface="Arial"/>
                <a:ea typeface="Arial"/>
                <a:cs typeface="Arial"/>
              </a:defRPr>
            </a:pPr>
            <a:r>
              <a:rPr sz="3000" b="1">
                <a:solidFill>
                  <a:srgbClr val="267C83"/>
                </a:solidFill>
                <a:latin typeface="Arial"/>
                <a:ea typeface="Arial"/>
                <a:cs typeface="Arial"/>
              </a:rPr>
              <a:t>xử lý có kiểm soát và đánh giá lại</a:t>
            </a:r>
          </a:p>
        </p:txBody>
      </p:sp>
      <p:sp>
        <p:nvSpPr>
          <p:cNvPr id="5" name="Rectangle 4">
            <a:extLst>
              <a:ext uri="{FF2B5EF4-FFF2-40B4-BE49-F238E27FC236}">
                <a16:creationId xmlns:a16="http://schemas.microsoft.com/office/drawing/2014/main" id="{690AD5BE-980C-46F2-8B52-B98909A167E6}"/>
              </a:ext>
            </a:extLst>
          </p:cNvPr>
          <p:cNvSpPr>
            <a:spLocks noGrp="1"/>
          </p:cNvSpPr>
          <p:nvPr/>
        </p:nvSpPr>
        <p:spPr>
          <a:xfrm>
            <a:off x="609600" y="3609975"/>
            <a:ext cx="10763250" cy="1028700"/>
          </a:xfrm>
          <a:prstGeom prst="rect">
            <a:avLst/>
          </a:prstGeom>
          <a:noFill/>
          <a:ln w="0">
            <a:noFill/>
          </a:ln>
        </p:spPr>
        <p:txBody>
          <a:bodyPr wrap="square" lIns="0" tIns="0" rIns="0" bIns="0" anchor="t">
            <a:noAutofit/>
          </a:bodyPr>
          <a:lstStyle>
            <a:defPPr algn="l">
              <a:defRPr sz="2400" b="0">
                <a:solidFill>
                  <a:srgbClr val="192F43"/>
                </a:solidFill>
                <a:latin typeface="Arial"/>
                <a:ea typeface="Arial"/>
                <a:cs typeface="Arial"/>
              </a:defRPr>
            </a:defPPr>
            <a:lvl1pPr algn="l">
              <a:defRPr sz="2400" b="0">
                <a:solidFill>
                  <a:srgbClr val="192F43"/>
                </a:solidFill>
                <a:latin typeface="Arial"/>
                <a:ea typeface="Arial"/>
                <a:cs typeface="Arial"/>
              </a:defRPr>
            </a:lvl1pPr>
            <a:lvl2pPr algn="l">
              <a:defRPr sz="2400" b="0">
                <a:solidFill>
                  <a:srgbClr val="192F43"/>
                </a:solidFill>
                <a:latin typeface="Arial"/>
                <a:ea typeface="Arial"/>
                <a:cs typeface="Arial"/>
              </a:defRPr>
            </a:lvl2pPr>
            <a:lvl3pPr algn="l">
              <a:defRPr sz="2400" b="0">
                <a:solidFill>
                  <a:srgbClr val="192F43"/>
                </a:solidFill>
                <a:latin typeface="Arial"/>
                <a:ea typeface="Arial"/>
                <a:cs typeface="Arial"/>
              </a:defRPr>
            </a:lvl3pPr>
            <a:lvl4pPr algn="l">
              <a:defRPr sz="2400" b="0">
                <a:solidFill>
                  <a:srgbClr val="192F43"/>
                </a:solidFill>
                <a:latin typeface="Arial"/>
                <a:ea typeface="Arial"/>
                <a:cs typeface="Arial"/>
              </a:defRPr>
            </a:lvl4pPr>
            <a:lvl5pPr algn="l">
              <a:defRPr sz="2400" b="0">
                <a:solidFill>
                  <a:srgbClr val="192F43"/>
                </a:solidFill>
                <a:latin typeface="Arial"/>
                <a:ea typeface="Arial"/>
                <a:cs typeface="Arial"/>
              </a:defRPr>
            </a:lvl5pPr>
            <a:lvl6pPr algn="l">
              <a:defRPr sz="2400" b="0">
                <a:solidFill>
                  <a:srgbClr val="192F43"/>
                </a:solidFill>
                <a:latin typeface="Arial"/>
                <a:ea typeface="Arial"/>
                <a:cs typeface="Arial"/>
              </a:defRPr>
            </a:lvl6pPr>
            <a:lvl7pPr algn="l">
              <a:defRPr sz="2400" b="0">
                <a:solidFill>
                  <a:srgbClr val="192F43"/>
                </a:solidFill>
                <a:latin typeface="Arial"/>
                <a:ea typeface="Arial"/>
                <a:cs typeface="Arial"/>
              </a:defRPr>
            </a:lvl7pPr>
            <a:lvl8pPr algn="l">
              <a:defRPr sz="2400" b="0">
                <a:solidFill>
                  <a:srgbClr val="192F43"/>
                </a:solidFill>
                <a:latin typeface="Arial"/>
                <a:ea typeface="Arial"/>
                <a:cs typeface="Arial"/>
              </a:defRPr>
            </a:lvl8pPr>
            <a:lvl9pPr algn="l">
              <a:defRPr sz="2400" b="0">
                <a:solidFill>
                  <a:srgbClr val="192F43"/>
                </a:solidFill>
                <a:latin typeface="Arial"/>
                <a:ea typeface="Arial"/>
                <a:cs typeface="Arial"/>
              </a:defRPr>
            </a:lvl9pPr>
          </a:lstStyle>
          <a:p>
            <a:pPr algn="l">
              <a:lnSpc>
                <a:spcPct val="107000"/>
              </a:lnSpc>
              <a:buNone/>
              <a:defRPr sz="2400" b="0">
                <a:solidFill>
                  <a:srgbClr val="192F43"/>
                </a:solidFill>
                <a:latin typeface="Arial"/>
                <a:ea typeface="Arial"/>
                <a:cs typeface="Arial"/>
              </a:defRPr>
            </a:pPr>
            <a:r>
              <a:rPr sz="2400" b="0">
                <a:solidFill>
                  <a:srgbClr val="192F43"/>
                </a:solidFill>
                <a:latin typeface="Arial"/>
                <a:ea typeface="Arial"/>
                <a:cs typeface="Arial"/>
              </a:rPr>
              <a:t>Ưu tiên tiếp theo: holdout độc lập,</a:t>
            </a:r>
          </a:p>
          <a:p>
            <a:pPr algn="l">
              <a:lnSpc>
                <a:spcPct val="107000"/>
              </a:lnSpc>
              <a:buNone/>
              <a:defRPr sz="2400" b="0">
                <a:solidFill>
                  <a:srgbClr val="192F43"/>
                </a:solidFill>
                <a:latin typeface="Arial"/>
                <a:ea typeface="Arial"/>
                <a:cs typeface="Arial"/>
              </a:defRPr>
            </a:pPr>
            <a:r>
              <a:rPr sz="2400" b="0">
                <a:solidFill>
                  <a:srgbClr val="192F43"/>
                </a:solidFill>
                <a:latin typeface="Arial"/>
                <a:ea typeface="Arial"/>
                <a:cs typeface="Arial"/>
              </a:rPr>
              <a:t>hiệu chỉnh mask và kiểm tra tác dụng phụ</a:t>
            </a:r>
          </a:p>
        </p:txBody>
      </p:sp>
      <p:sp>
        <p:nvSpPr>
          <p:cNvPr id="6" name="Rectangle 5">
            <a:extLst>
              <a:ext uri="{FF2B5EF4-FFF2-40B4-BE49-F238E27FC236}">
                <a16:creationId xmlns:a16="http://schemas.microsoft.com/office/drawing/2014/main" id="{6D4E86A6-7F40-4242-BA53-FE9F673EED69}"/>
              </a:ext>
            </a:extLst>
          </p:cNvPr>
          <p:cNvSpPr>
            <a:spLocks noGrp="1"/>
          </p:cNvSpPr>
          <p:nvPr/>
        </p:nvSpPr>
        <p:spPr>
          <a:xfrm>
            <a:off x="609600" y="5400675"/>
            <a:ext cx="10668000" cy="523875"/>
          </a:xfrm>
          <a:prstGeom prst="rect">
            <a:avLst/>
          </a:prstGeom>
          <a:noFill/>
          <a:ln w="0">
            <a:noFill/>
          </a:ln>
        </p:spPr>
        <p:txBody>
          <a:bodyPr wrap="square" lIns="0" tIns="0" rIns="0" bIns="0" anchor="t">
            <a:noAutofit/>
          </a:bodyPr>
          <a:lstStyle>
            <a:defPPr algn="l">
              <a:defRPr sz="2400" b="1">
                <a:solidFill>
                  <a:srgbClr val="192F43"/>
                </a:solidFill>
                <a:latin typeface="Arial"/>
                <a:ea typeface="Arial"/>
                <a:cs typeface="Arial"/>
              </a:defRPr>
            </a:defPPr>
            <a:lvl1pPr algn="l">
              <a:defRPr sz="2400" b="1">
                <a:solidFill>
                  <a:srgbClr val="192F43"/>
                </a:solidFill>
                <a:latin typeface="Arial"/>
                <a:ea typeface="Arial"/>
                <a:cs typeface="Arial"/>
              </a:defRPr>
            </a:lvl1pPr>
            <a:lvl2pPr algn="l">
              <a:defRPr sz="2400" b="1">
                <a:solidFill>
                  <a:srgbClr val="192F43"/>
                </a:solidFill>
                <a:latin typeface="Arial"/>
                <a:ea typeface="Arial"/>
                <a:cs typeface="Arial"/>
              </a:defRPr>
            </a:lvl2pPr>
            <a:lvl3pPr algn="l">
              <a:defRPr sz="2400" b="1">
                <a:solidFill>
                  <a:srgbClr val="192F43"/>
                </a:solidFill>
                <a:latin typeface="Arial"/>
                <a:ea typeface="Arial"/>
                <a:cs typeface="Arial"/>
              </a:defRPr>
            </a:lvl3pPr>
            <a:lvl4pPr algn="l">
              <a:defRPr sz="2400" b="1">
                <a:solidFill>
                  <a:srgbClr val="192F43"/>
                </a:solidFill>
                <a:latin typeface="Arial"/>
                <a:ea typeface="Arial"/>
                <a:cs typeface="Arial"/>
              </a:defRPr>
            </a:lvl4pPr>
            <a:lvl5pPr algn="l">
              <a:defRPr sz="2400" b="1">
                <a:solidFill>
                  <a:srgbClr val="192F43"/>
                </a:solidFill>
                <a:latin typeface="Arial"/>
                <a:ea typeface="Arial"/>
                <a:cs typeface="Arial"/>
              </a:defRPr>
            </a:lvl5pPr>
            <a:lvl6pPr algn="l">
              <a:defRPr sz="2400" b="1">
                <a:solidFill>
                  <a:srgbClr val="192F43"/>
                </a:solidFill>
                <a:latin typeface="Arial"/>
                <a:ea typeface="Arial"/>
                <a:cs typeface="Arial"/>
              </a:defRPr>
            </a:lvl6pPr>
            <a:lvl7pPr algn="l">
              <a:defRPr sz="2400" b="1">
                <a:solidFill>
                  <a:srgbClr val="192F43"/>
                </a:solidFill>
                <a:latin typeface="Arial"/>
                <a:ea typeface="Arial"/>
                <a:cs typeface="Arial"/>
              </a:defRPr>
            </a:lvl7pPr>
            <a:lvl8pPr algn="l">
              <a:defRPr sz="2400" b="1">
                <a:solidFill>
                  <a:srgbClr val="192F43"/>
                </a:solidFill>
                <a:latin typeface="Arial"/>
                <a:ea typeface="Arial"/>
                <a:cs typeface="Arial"/>
              </a:defRPr>
            </a:lvl8pPr>
            <a:lvl9pPr algn="l">
              <a:defRPr sz="2400" b="1">
                <a:solidFill>
                  <a:srgbClr val="192F43"/>
                </a:solidFill>
                <a:latin typeface="Arial"/>
                <a:ea typeface="Arial"/>
                <a:cs typeface="Arial"/>
              </a:defRPr>
            </a:lvl9pPr>
          </a:lstStyle>
          <a:p>
            <a:pPr algn="l">
              <a:lnSpc>
                <a:spcPct val="107000"/>
              </a:lnSpc>
              <a:buNone/>
              <a:defRPr sz="2400" b="1">
                <a:solidFill>
                  <a:srgbClr val="192F43"/>
                </a:solidFill>
                <a:latin typeface="Arial"/>
                <a:ea typeface="Arial"/>
                <a:cs typeface="Arial"/>
              </a:defRPr>
            </a:pPr>
            <a:r>
              <a:rPr sz="2400" b="1">
                <a:solidFill>
                  <a:srgbClr val="192F43"/>
                </a:solidFill>
                <a:latin typeface="Arial"/>
                <a:ea typeface="Arial"/>
                <a:cs typeface="Arial"/>
              </a:rPr>
              <a:t>Trao đổi và câu hỏi</a:t>
            </a:r>
          </a:p>
        </p:txBody>
      </p:sp>
      <p:sp>
        <p:nvSpPr>
          <p:cNvPr id="7" name="Rectangle 6">
            <a:extLst>
              <a:ext uri="{FF2B5EF4-FFF2-40B4-BE49-F238E27FC236}">
                <a16:creationId xmlns:a16="http://schemas.microsoft.com/office/drawing/2014/main" id="{B57CE63A-3B01-4FBF-AAD7-3ABCB78E84D0}"/>
              </a:ext>
            </a:extLst>
          </p:cNvPr>
          <p:cNvSpPr>
            <a:spLocks noGrp="1"/>
          </p:cNvSpPr>
          <p:nvPr/>
        </p:nvSpPr>
        <p:spPr>
          <a:xfrm>
            <a:off x="609600" y="6334125"/>
            <a:ext cx="10972800" cy="381000"/>
          </a:xfrm>
          <a:prstGeom prst="rect">
            <a:avLst/>
          </a:prstGeom>
          <a:noFill/>
          <a:ln w="0">
            <a:noFill/>
          </a:ln>
        </p:spPr>
        <p:txBody>
          <a:bodyPr wrap="square" lIns="0" tIns="0" rIns="0" bIns="0" anchor="t">
            <a:noAutofit/>
          </a:bodyPr>
          <a:lstStyle>
            <a:defPPr algn="l">
              <a:defRPr sz="1275" b="0">
                <a:solidFill>
                  <a:srgbClr val="526779"/>
                </a:solidFill>
                <a:latin typeface="Arial"/>
                <a:ea typeface="Arial"/>
                <a:cs typeface="Arial"/>
              </a:defRPr>
            </a:defPPr>
            <a:lvl1pPr algn="l">
              <a:defRPr sz="1275" b="0">
                <a:solidFill>
                  <a:srgbClr val="526779"/>
                </a:solidFill>
                <a:latin typeface="Arial"/>
                <a:ea typeface="Arial"/>
                <a:cs typeface="Arial"/>
              </a:defRPr>
            </a:lvl1pPr>
            <a:lvl2pPr algn="l">
              <a:defRPr sz="1275" b="0">
                <a:solidFill>
                  <a:srgbClr val="526779"/>
                </a:solidFill>
                <a:latin typeface="Arial"/>
                <a:ea typeface="Arial"/>
                <a:cs typeface="Arial"/>
              </a:defRPr>
            </a:lvl2pPr>
            <a:lvl3pPr algn="l">
              <a:defRPr sz="1275" b="0">
                <a:solidFill>
                  <a:srgbClr val="526779"/>
                </a:solidFill>
                <a:latin typeface="Arial"/>
                <a:ea typeface="Arial"/>
                <a:cs typeface="Arial"/>
              </a:defRPr>
            </a:lvl3pPr>
            <a:lvl4pPr algn="l">
              <a:defRPr sz="1275" b="0">
                <a:solidFill>
                  <a:srgbClr val="526779"/>
                </a:solidFill>
                <a:latin typeface="Arial"/>
                <a:ea typeface="Arial"/>
                <a:cs typeface="Arial"/>
              </a:defRPr>
            </a:lvl4pPr>
            <a:lvl5pPr algn="l">
              <a:defRPr sz="1275" b="0">
                <a:solidFill>
                  <a:srgbClr val="526779"/>
                </a:solidFill>
                <a:latin typeface="Arial"/>
                <a:ea typeface="Arial"/>
                <a:cs typeface="Arial"/>
              </a:defRPr>
            </a:lvl5pPr>
            <a:lvl6pPr algn="l">
              <a:defRPr sz="1275" b="0">
                <a:solidFill>
                  <a:srgbClr val="526779"/>
                </a:solidFill>
                <a:latin typeface="Arial"/>
                <a:ea typeface="Arial"/>
                <a:cs typeface="Arial"/>
              </a:defRPr>
            </a:lvl6pPr>
            <a:lvl7pPr algn="l">
              <a:defRPr sz="1275" b="0">
                <a:solidFill>
                  <a:srgbClr val="526779"/>
                </a:solidFill>
                <a:latin typeface="Arial"/>
                <a:ea typeface="Arial"/>
                <a:cs typeface="Arial"/>
              </a:defRPr>
            </a:lvl7pPr>
            <a:lvl8pPr algn="l">
              <a:defRPr sz="1275" b="0">
                <a:solidFill>
                  <a:srgbClr val="526779"/>
                </a:solidFill>
                <a:latin typeface="Arial"/>
                <a:ea typeface="Arial"/>
                <a:cs typeface="Arial"/>
              </a:defRPr>
            </a:lvl8pPr>
            <a:lvl9pPr algn="l">
              <a:defRPr sz="1275" b="0">
                <a:solidFill>
                  <a:srgbClr val="526779"/>
                </a:solidFill>
                <a:latin typeface="Arial"/>
                <a:ea typeface="Arial"/>
                <a:cs typeface="Arial"/>
              </a:defRPr>
            </a:lvl9pPr>
          </a:lstStyle>
          <a:p>
            <a:pPr algn="l">
              <a:lnSpc>
                <a:spcPct val="107000"/>
              </a:lnSpc>
              <a:buNone/>
              <a:defRPr sz="1275" b="0">
                <a:solidFill>
                  <a:srgbClr val="526779"/>
                </a:solidFill>
                <a:latin typeface="Arial"/>
                <a:ea typeface="Arial"/>
                <a:cs typeface="Arial"/>
              </a:defRPr>
            </a:pPr>
            <a:r>
              <a:rPr sz="1275" b="0">
                <a:solidFill>
                  <a:srgbClr val="526779"/>
                </a:solidFill>
                <a:latin typeface="Arial"/>
                <a:ea typeface="Arial"/>
                <a:cs typeface="Arial"/>
              </a:rPr>
              <a:t>Kết thúc phần nói ở phút 14. Dành 1 phút cuối cho cả nhóm trả lời.</a:t>
            </a:r>
          </a:p>
        </p:txBody>
      </p:sp>
    </p:spTree>
    <p:extLst>
      <p:ext uri="{BB962C8B-B14F-4D97-AF65-F5344CB8AC3E}">
        <p14:creationId xmlns:p14="http://schemas.microsoft.com/office/powerpoint/2010/main" val="38040547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4684</Words>
  <Application>Microsoft Office PowerPoint</Application>
  <DocSecurity>0</DocSecurity>
  <PresentationFormat>Widescreen</PresentationFormat>
  <Paragraphs>370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Aptos</vt:lpstr>
      <vt:lpstr>Arial</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Quốc Ban Lê</cp:lastModifiedBy>
  <cp:revision>1</cp:revision>
  <dcterms:created xsi:type="dcterms:W3CDTF">2026-10-30T06:41:23Z</dcterms:created>
  <dcterms:modified xsi:type="dcterms:W3CDTF">2026-10-30T07:03:00Z</dcterms:modified>
</cp:coreProperties>
</file>